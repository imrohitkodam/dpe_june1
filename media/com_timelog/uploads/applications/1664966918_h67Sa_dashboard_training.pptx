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4"/>
  </p:sldMasterIdLst>
  <p:notesMasterIdLst>
    <p:notesMasterId r:id="rId16"/>
  </p:notesMasterIdLst>
  <p:sldIdLst>
    <p:sldId id="256" r:id="rId5"/>
    <p:sldId id="289" r:id="rId6"/>
    <p:sldId id="320" r:id="rId7"/>
    <p:sldId id="321" r:id="rId8"/>
    <p:sldId id="322" r:id="rId9"/>
    <p:sldId id="325" r:id="rId10"/>
    <p:sldId id="292" r:id="rId11"/>
    <p:sldId id="327" r:id="rId12"/>
    <p:sldId id="326" r:id="rId13"/>
    <p:sldId id="293" r:id="rId14"/>
    <p:sldId id="285" r:id="rId1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Trebuchet MS" panose="020B0603020202020204" pitchFamily="34" charset="0"/>
      <p:regular r:id="rId21"/>
      <p:bold r:id="rId22"/>
      <p:italic r:id="rId23"/>
      <p:boldItalic r:id="rId24"/>
    </p:embeddedFont>
    <p:embeddedFont>
      <p:font typeface="Wingdings 3" panose="05040102010807070707" pitchFamily="18" charset="2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877413-0A6A-44EB-BF4E-155E3BCF56B8}">
  <a:tblStyle styleId="{96877413-0A6A-44EB-BF4E-155E3BCF56B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8EBF5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/>
        <a:fill>
          <a:solidFill>
            <a:srgbClr val="E8EBF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78129" autoAdjust="0"/>
  </p:normalViewPr>
  <p:slideViewPr>
    <p:cSldViewPr snapToGrid="0">
      <p:cViewPr varScale="1">
        <p:scale>
          <a:sx n="118" d="100"/>
          <a:sy n="118" d="100"/>
        </p:scale>
        <p:origin x="14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– mute unless there's a question, feel free to unmute and interject.  DPE are working in partnership with </a:t>
            </a:r>
            <a:r>
              <a:rPr lang="en-GB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GDPRiS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they provide the platform (log breaches, </a:t>
            </a:r>
            <a:r>
              <a:rPr lang="en-GB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sars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3</a:t>
            </a:r>
            <a:r>
              <a:rPr lang="en-GB" sz="1200" b="0" i="0" u="none" strike="noStrike" cap="none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party suppliers, </a:t>
            </a:r>
            <a:r>
              <a:rPr lang="en-GB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RoP</a:t>
            </a:r>
            <a:r>
              <a:rPr lang="en-GB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access training) we provide the DPO service.</a:t>
            </a:r>
          </a:p>
          <a:p>
            <a:pPr marL="0" marR="0" lvl="0" indent="76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GB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Slides will be sent to Abbie for distribution following the session + answers to any questions.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Shape 8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so use the notes section and symbols i.e. raise your hands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482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6524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2941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000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7047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Needs to be driven at Trust level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8713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Needs to be driven at Trust level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3812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Needs to be driven at Trust level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86199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Calibri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9369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Questions? If not now, get in touch.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Shape 3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9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966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76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7111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3556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9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78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05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8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3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355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2489"/>
            </a:lvl1pPr>
            <a:lvl2pPr marL="812567" indent="0">
              <a:buNone/>
              <a:defRPr sz="2489"/>
            </a:lvl2pPr>
            <a:lvl3pPr marL="1625133" indent="0">
              <a:buNone/>
              <a:defRPr sz="2133"/>
            </a:lvl3pPr>
            <a:lvl4pPr marL="2437700" indent="0">
              <a:buNone/>
              <a:defRPr sz="1778"/>
            </a:lvl4pPr>
            <a:lvl5pPr marL="3250265" indent="0">
              <a:buNone/>
              <a:defRPr sz="1778"/>
            </a:lvl5pPr>
            <a:lvl6pPr marL="4062831" indent="0">
              <a:buNone/>
              <a:defRPr sz="1778"/>
            </a:lvl6pPr>
            <a:lvl7pPr marL="4875398" indent="0">
              <a:buNone/>
              <a:defRPr sz="1778"/>
            </a:lvl7pPr>
            <a:lvl8pPr marL="5687964" indent="0">
              <a:buNone/>
              <a:defRPr sz="1778"/>
            </a:lvl8pPr>
            <a:lvl9pPr marL="650053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23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4267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2133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299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7822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251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7822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84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812810" indent="0">
              <a:buFontTx/>
              <a:buNone/>
              <a:defRPr/>
            </a:lvl2pPr>
            <a:lvl3pPr marL="1625620" indent="0">
              <a:buFontTx/>
              <a:buNone/>
              <a:defRPr/>
            </a:lvl3pPr>
            <a:lvl4pPr marL="2438430" indent="0">
              <a:buFontTx/>
              <a:buNone/>
              <a:defRPr/>
            </a:lvl4pPr>
            <a:lvl5pPr marL="325124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/>
          <a:p>
            <a:pPr lvl="0"/>
            <a:r>
              <a:rPr lang="en-US" sz="14222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/>
          <a:p>
            <a:pPr lvl="0"/>
            <a:r>
              <a:rPr lang="en-US" sz="14222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2316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7822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71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7822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42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812810" indent="0">
              <a:buFontTx/>
              <a:buNone/>
              <a:defRPr/>
            </a:lvl2pPr>
            <a:lvl3pPr marL="1625620" indent="0">
              <a:buFontTx/>
              <a:buNone/>
              <a:defRPr/>
            </a:lvl3pPr>
            <a:lvl4pPr marL="2438430" indent="0">
              <a:buFontTx/>
              <a:buNone/>
              <a:defRPr/>
            </a:lvl4pPr>
            <a:lvl5pPr marL="325124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/>
          <a:p>
            <a:pPr lvl="0"/>
            <a:r>
              <a:rPr lang="en-US" sz="14222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/>
          <a:p>
            <a:pPr lvl="0"/>
            <a:r>
              <a:rPr lang="en-US" sz="14222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8036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7822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4267">
                <a:solidFill>
                  <a:schemeClr val="accent1"/>
                </a:solidFill>
              </a:defRPr>
            </a:lvl1pPr>
            <a:lvl2pPr marL="812810" indent="0">
              <a:buFontTx/>
              <a:buNone/>
              <a:defRPr/>
            </a:lvl2pPr>
            <a:lvl3pPr marL="1625620" indent="0">
              <a:buFontTx/>
              <a:buNone/>
              <a:defRPr/>
            </a:lvl3pPr>
            <a:lvl4pPr marL="2438430" indent="0">
              <a:buFontTx/>
              <a:buNone/>
              <a:defRPr/>
            </a:lvl4pPr>
            <a:lvl5pPr marL="325124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53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708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334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hape 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7139" y="0"/>
            <a:ext cx="915113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Shape 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4853" y="949238"/>
            <a:ext cx="6016733" cy="16225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83952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2_medel PG">
  <p:cSld name="62_medel PG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099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54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dpo@dataprotection.educatio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hyperlink" Target="mailto:DPO@dataprotection.educ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/>
          <p:nvPr/>
        </p:nvSpPr>
        <p:spPr>
          <a:xfrm>
            <a:off x="869089" y="1964398"/>
            <a:ext cx="7113300" cy="19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endParaRPr lang="en-US" sz="3200" b="1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3200" b="1" dirty="0">
                <a:latin typeface="Calibri"/>
                <a:ea typeface="Calibri"/>
                <a:cs typeface="Calibri"/>
                <a:sym typeface="Calibri"/>
              </a:rPr>
              <a:t>Data Protection Education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3200" b="1" dirty="0">
                <a:latin typeface="Calibri"/>
                <a:ea typeface="Calibri"/>
                <a:cs typeface="Calibri"/>
                <a:sym typeface="Calibri"/>
              </a:rPr>
              <a:t>Knowledge Bank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45554D-101E-03EF-7D15-C5A383232472}"/>
              </a:ext>
            </a:extLst>
          </p:cNvPr>
          <p:cNvSpPr txBox="1"/>
          <p:nvPr/>
        </p:nvSpPr>
        <p:spPr>
          <a:xfrm>
            <a:off x="508000" y="1359462"/>
            <a:ext cx="55270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</a:t>
            </a:r>
            <a:r>
              <a:rPr lang="en-US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record a ‘Data Rights Log’ (SAR), FOI and a Breach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log a ticket for support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Assigning ‘to-do’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Where to find resources/template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Best Practice Checklist</a:t>
            </a:r>
            <a:br>
              <a:rPr lang="en-GB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037B97-6667-2A1D-1EAF-44EE9376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Knowledge Bank Basics</a:t>
            </a:r>
          </a:p>
        </p:txBody>
      </p:sp>
    </p:spTree>
    <p:extLst>
      <p:ext uri="{BB962C8B-B14F-4D97-AF65-F5344CB8AC3E}">
        <p14:creationId xmlns:p14="http://schemas.microsoft.com/office/powerpoint/2010/main" val="1858613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E037B97-6667-2A1D-1EAF-44EE9376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Recording</a:t>
            </a:r>
            <a:r>
              <a:rPr lang="en-GB" dirty="0"/>
              <a:t> a SAR/FOI/Breach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200156-AEF4-65F2-8556-05C3D51F27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337" r="50797" b="3729"/>
          <a:stretch/>
        </p:blipFill>
        <p:spPr>
          <a:xfrm>
            <a:off x="780484" y="2004342"/>
            <a:ext cx="5454032" cy="28063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E3DEB7-BB0E-EDF4-821E-76F8518C60FA}"/>
              </a:ext>
            </a:extLst>
          </p:cNvPr>
          <p:cNvSpPr txBox="1"/>
          <p:nvPr/>
        </p:nvSpPr>
        <p:spPr>
          <a:xfrm>
            <a:off x="6506999" y="2202418"/>
            <a:ext cx="23460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Data Rights (used for Subject Access Requests) FOI Log &amp; Breach Log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D1DA7C-6ED0-7E67-243B-4D9680844553}"/>
              </a:ext>
            </a:extLst>
          </p:cNvPr>
          <p:cNvCxnSpPr/>
          <p:nvPr/>
        </p:nvCxnSpPr>
        <p:spPr>
          <a:xfrm flipH="1">
            <a:off x="3252998" y="2435703"/>
            <a:ext cx="3254001" cy="8179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479293-39D2-A3A8-AF9B-2F090A367A1A}"/>
              </a:ext>
            </a:extLst>
          </p:cNvPr>
          <p:cNvCxnSpPr>
            <a:cxnSpLocks/>
          </p:cNvCxnSpPr>
          <p:nvPr/>
        </p:nvCxnSpPr>
        <p:spPr>
          <a:xfrm flipH="1">
            <a:off x="4001143" y="2435703"/>
            <a:ext cx="2505856" cy="8145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826F85-B787-6150-C85D-EF9ABB228153}"/>
              </a:ext>
            </a:extLst>
          </p:cNvPr>
          <p:cNvCxnSpPr>
            <a:cxnSpLocks/>
          </p:cNvCxnSpPr>
          <p:nvPr/>
        </p:nvCxnSpPr>
        <p:spPr>
          <a:xfrm flipH="1">
            <a:off x="4607515" y="2435703"/>
            <a:ext cx="1899484" cy="8145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D45554D-101E-03EF-7D15-C5A383232472}"/>
              </a:ext>
            </a:extLst>
          </p:cNvPr>
          <p:cNvSpPr txBox="1"/>
          <p:nvPr/>
        </p:nvSpPr>
        <p:spPr>
          <a:xfrm>
            <a:off x="508001" y="1064352"/>
            <a:ext cx="79077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Once it has been identified that you are in receipt of a Subject Access Request/Freedom of Information Request or have been made aware of a data breach these must all be logged on the Knowledge Bank.</a:t>
            </a:r>
          </a:p>
          <a:p>
            <a:r>
              <a:rPr lang="en-GB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keeps a log of timescales and support requested/advice given and keeps a historical record of requests/breaches.</a:t>
            </a:r>
          </a:p>
        </p:txBody>
      </p:sp>
    </p:spTree>
    <p:extLst>
      <p:ext uri="{BB962C8B-B14F-4D97-AF65-F5344CB8AC3E}">
        <p14:creationId xmlns:p14="http://schemas.microsoft.com/office/powerpoint/2010/main" val="1508951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45554D-101E-03EF-7D15-C5A383232472}"/>
              </a:ext>
            </a:extLst>
          </p:cNvPr>
          <p:cNvSpPr txBox="1"/>
          <p:nvPr/>
        </p:nvSpPr>
        <p:spPr>
          <a:xfrm>
            <a:off x="508001" y="4636902"/>
            <a:ext cx="7907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Complete all necessary fields with as much information as you’ve been given. Then ‘Submit &amp; Exit’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037B97-6667-2A1D-1EAF-44EE9376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Recording a Data Rights Log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E3DEB7-BB0E-EDF4-821E-76F8518C60FA}"/>
              </a:ext>
            </a:extLst>
          </p:cNvPr>
          <p:cNvSpPr txBox="1"/>
          <p:nvPr/>
        </p:nvSpPr>
        <p:spPr>
          <a:xfrm>
            <a:off x="5554785" y="1210696"/>
            <a:ext cx="657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+ Add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3BE2AA-85A6-2785-4A19-E9ED9532AC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337" r="50619" b="50000"/>
          <a:stretch/>
        </p:blipFill>
        <p:spPr>
          <a:xfrm>
            <a:off x="508001" y="1241079"/>
            <a:ext cx="4515356" cy="112395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D1DA7C-6ED0-7E67-243B-4D9680844553}"/>
              </a:ext>
            </a:extLst>
          </p:cNvPr>
          <p:cNvCxnSpPr>
            <a:cxnSpLocks/>
          </p:cNvCxnSpPr>
          <p:nvPr/>
        </p:nvCxnSpPr>
        <p:spPr>
          <a:xfrm flipH="1">
            <a:off x="3948913" y="1428441"/>
            <a:ext cx="1605872" cy="4489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51AF3FA-846F-8329-4414-BC0C9BC9ED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585" t="11354" r="66283" b="4673"/>
          <a:stretch/>
        </p:blipFill>
        <p:spPr>
          <a:xfrm>
            <a:off x="508001" y="2654188"/>
            <a:ext cx="2008622" cy="18892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4C9CC2-C268-2383-7FDF-495E7EE94FE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584" t="10406" r="65841" b="4044"/>
          <a:stretch/>
        </p:blipFill>
        <p:spPr>
          <a:xfrm>
            <a:off x="2516623" y="2654187"/>
            <a:ext cx="1978236" cy="186283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068B45-477E-EA74-B87C-7ABB66B1F1E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761" t="10315" r="58496" b="10062"/>
          <a:stretch/>
        </p:blipFill>
        <p:spPr>
          <a:xfrm>
            <a:off x="4649143" y="2654187"/>
            <a:ext cx="2721267" cy="186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875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45554D-101E-03EF-7D15-C5A383232472}"/>
              </a:ext>
            </a:extLst>
          </p:cNvPr>
          <p:cNvSpPr txBox="1"/>
          <p:nvPr/>
        </p:nvSpPr>
        <p:spPr>
          <a:xfrm>
            <a:off x="508001" y="1140023"/>
            <a:ext cx="672407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the same method as shown on the previous slide – click on the relevant box from the dashboard and ‘+Add’.</a:t>
            </a:r>
          </a:p>
          <a:p>
            <a:endParaRPr lang="en-GB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Once a log has been recorded, a ticket is raised with our team and someone will be in touch to support you as required.</a:t>
            </a:r>
          </a:p>
          <a:p>
            <a:endParaRPr lang="en-GB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Any queries can be emailed to the team: </a:t>
            </a:r>
            <a:r>
              <a:rPr lang="en-GB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dpo@dataprotection.education</a:t>
            </a:r>
            <a:endParaRPr lang="en-GB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037B97-6667-2A1D-1EAF-44EE9376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Recording an FOI or Data Breach</a:t>
            </a:r>
          </a:p>
        </p:txBody>
      </p:sp>
    </p:spTree>
    <p:extLst>
      <p:ext uri="{BB962C8B-B14F-4D97-AF65-F5344CB8AC3E}">
        <p14:creationId xmlns:p14="http://schemas.microsoft.com/office/powerpoint/2010/main" val="95234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45554D-101E-03EF-7D15-C5A383232472}"/>
              </a:ext>
            </a:extLst>
          </p:cNvPr>
          <p:cNvSpPr txBox="1"/>
          <p:nvPr/>
        </p:nvSpPr>
        <p:spPr>
          <a:xfrm>
            <a:off x="508001" y="1140023"/>
            <a:ext cx="672407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To-do list can be assigned by anyone with admin rights or can be created by the user for themselves as a prompt to complete a task.</a:t>
            </a:r>
          </a:p>
          <a:p>
            <a:endParaRPr lang="en-GB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very simply a reminder aid and can only be marked off by the person assigned when they have completed the task.</a:t>
            </a:r>
          </a:p>
          <a:p>
            <a:endParaRPr lang="en-GB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add a ‘to-do’ click here on the main dashboard and complete the fields.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037B97-6667-2A1D-1EAF-44EE93764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303311"/>
            <a:ext cx="6447501" cy="990600"/>
          </a:xfrm>
        </p:spPr>
        <p:txBody>
          <a:bodyPr>
            <a:normAutofit/>
          </a:bodyPr>
          <a:lstStyle/>
          <a:p>
            <a:r>
              <a:rPr lang="en-GB" dirty="0"/>
              <a:t>Creating &amp; Assigning a ‘to-do’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40E23-733C-A07C-8399-F76088AB40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30" t="32864" r="50619" b="3729"/>
          <a:stretch/>
        </p:blipFill>
        <p:spPr>
          <a:xfrm>
            <a:off x="508001" y="2740461"/>
            <a:ext cx="3962889" cy="171896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50B9118-F23A-062B-C5D4-95D75BE94BB1}"/>
              </a:ext>
            </a:extLst>
          </p:cNvPr>
          <p:cNvSpPr/>
          <p:nvPr/>
        </p:nvSpPr>
        <p:spPr>
          <a:xfrm>
            <a:off x="4086478" y="4094570"/>
            <a:ext cx="384412" cy="2184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CB458F-A6C4-FA0C-36FE-24E05FED74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43" t="12831" r="56661" b="20390"/>
          <a:stretch/>
        </p:blipFill>
        <p:spPr>
          <a:xfrm>
            <a:off x="4572000" y="2740461"/>
            <a:ext cx="3465190" cy="171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02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90">
            <a:extLst>
              <a:ext uri="{FF2B5EF4-FFF2-40B4-BE49-F238E27FC236}">
                <a16:creationId xmlns:a16="http://schemas.microsoft.com/office/drawing/2014/main" id="{F2EE1B9F-7B32-405F-B7DE-5DFBFFB06A6C}"/>
              </a:ext>
            </a:extLst>
          </p:cNvPr>
          <p:cNvSpPr txBox="1"/>
          <p:nvPr/>
        </p:nvSpPr>
        <p:spPr>
          <a:xfrm>
            <a:off x="402912" y="1675882"/>
            <a:ext cx="7090313" cy="2212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</a:pPr>
            <a:r>
              <a:rPr lang="en-US" i="0" u="none" strike="noStrike" cap="none" dirty="0">
                <a:solidFill>
                  <a:schemeClr val="accent2"/>
                </a:solidFill>
                <a:latin typeface="Calibri"/>
                <a:ea typeface="Arial"/>
                <a:cs typeface="Calibri"/>
                <a:sym typeface="Calibri"/>
              </a:rPr>
              <a:t>The ‘Best Practice Library’ can be found on the main dashboard under ‘Best Practice’.  Here you can find model policies, privacy notices, retention schedules etc.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</a:pPr>
            <a:endParaRPr lang="en-US" dirty="0">
              <a:solidFill>
                <a:schemeClr val="accent2"/>
              </a:solidFill>
              <a:latin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</a:pPr>
            <a:r>
              <a:rPr lang="en-US" i="0" u="none" strike="noStrike" cap="none" dirty="0">
                <a:solidFill>
                  <a:schemeClr val="accent2"/>
                </a:solidFill>
                <a:latin typeface="Calibri"/>
                <a:ea typeface="Arial"/>
                <a:cs typeface="Calibri"/>
                <a:sym typeface="Calibri"/>
              </a:rPr>
              <a:t>Also, our ‘Resources’ section has plenty to offer such as guidance documents, drip-feed posters and forms.</a:t>
            </a:r>
          </a:p>
        </p:txBody>
      </p:sp>
      <p:sp>
        <p:nvSpPr>
          <p:cNvPr id="3" name="Shape 290">
            <a:extLst>
              <a:ext uri="{FF2B5EF4-FFF2-40B4-BE49-F238E27FC236}">
                <a16:creationId xmlns:a16="http://schemas.microsoft.com/office/drawing/2014/main" id="{045696EF-45B1-4FC9-BC48-5E9C835354CA}"/>
              </a:ext>
            </a:extLst>
          </p:cNvPr>
          <p:cNvSpPr txBox="1"/>
          <p:nvPr/>
        </p:nvSpPr>
        <p:spPr>
          <a:xfrm>
            <a:off x="402912" y="233295"/>
            <a:ext cx="7342594" cy="80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Resources &amp; Template Documents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C2B7EB-016D-12BA-B1AD-D383860D19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19" t="10514" r="58407" b="27936"/>
          <a:stretch/>
        </p:blipFill>
        <p:spPr>
          <a:xfrm>
            <a:off x="402912" y="3096110"/>
            <a:ext cx="3070005" cy="15843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3FD2EF-F4B5-4E8B-B15D-E76AEC8966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65" t="11078" r="56726" b="20705"/>
          <a:stretch/>
        </p:blipFill>
        <p:spPr>
          <a:xfrm>
            <a:off x="3633326" y="3154233"/>
            <a:ext cx="3228722" cy="175597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8926ACF-B287-82D4-9316-A748EC9B17B3}"/>
              </a:ext>
            </a:extLst>
          </p:cNvPr>
          <p:cNvSpPr/>
          <p:nvPr/>
        </p:nvSpPr>
        <p:spPr>
          <a:xfrm>
            <a:off x="1731696" y="3096110"/>
            <a:ext cx="873939" cy="53721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F41B844-C316-81EF-BA8B-B6CFD510B66B}"/>
              </a:ext>
            </a:extLst>
          </p:cNvPr>
          <p:cNvSpPr/>
          <p:nvPr/>
        </p:nvSpPr>
        <p:spPr>
          <a:xfrm>
            <a:off x="4954101" y="3096109"/>
            <a:ext cx="873939" cy="8932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9590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90">
            <a:extLst>
              <a:ext uri="{FF2B5EF4-FFF2-40B4-BE49-F238E27FC236}">
                <a16:creationId xmlns:a16="http://schemas.microsoft.com/office/drawing/2014/main" id="{F2EE1B9F-7B32-405F-B7DE-5DFBFFB06A6C}"/>
              </a:ext>
            </a:extLst>
          </p:cNvPr>
          <p:cNvSpPr txBox="1"/>
          <p:nvPr/>
        </p:nvSpPr>
        <p:spPr>
          <a:xfrm>
            <a:off x="402912" y="1154129"/>
            <a:ext cx="7090313" cy="1216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</a:pPr>
            <a:r>
              <a:rPr lang="en-US" i="0" u="none" strike="noStrike" cap="none" dirty="0">
                <a:solidFill>
                  <a:schemeClr val="accent2"/>
                </a:solidFill>
                <a:latin typeface="Calibri"/>
                <a:ea typeface="Arial"/>
                <a:cs typeface="Calibri"/>
                <a:sym typeface="Calibri"/>
              </a:rPr>
              <a:t>The ‘Best Practice Checklist’ allows you to have an overview of your journey to compliance with the GDPR. 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</a:pPr>
            <a:endParaRPr lang="en-US" dirty="0">
              <a:solidFill>
                <a:schemeClr val="accent2"/>
              </a:solidFill>
              <a:latin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</a:pPr>
            <a:r>
              <a:rPr lang="en-US" i="0" u="none" strike="noStrike" cap="none" dirty="0">
                <a:solidFill>
                  <a:schemeClr val="accent2"/>
                </a:solidFill>
                <a:latin typeface="Calibri"/>
                <a:ea typeface="Arial"/>
                <a:cs typeface="Calibri"/>
                <a:sym typeface="Calibri"/>
              </a:rPr>
              <a:t>This can be printed to report to Governors/Trust Board, and shows a clear picture of what has been achieved and the areas still being worked on.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</a:pPr>
            <a:endParaRPr lang="en-US" dirty="0">
              <a:solidFill>
                <a:schemeClr val="accent2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3" name="Shape 290">
            <a:extLst>
              <a:ext uri="{FF2B5EF4-FFF2-40B4-BE49-F238E27FC236}">
                <a16:creationId xmlns:a16="http://schemas.microsoft.com/office/drawing/2014/main" id="{045696EF-45B1-4FC9-BC48-5E9C835354CA}"/>
              </a:ext>
            </a:extLst>
          </p:cNvPr>
          <p:cNvSpPr txBox="1"/>
          <p:nvPr/>
        </p:nvSpPr>
        <p:spPr>
          <a:xfrm>
            <a:off x="402912" y="233295"/>
            <a:ext cx="7342594" cy="80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Best Practice Checklist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F6AB29-458B-6378-1C63-3A9392E720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10" t="6991" r="51948" b="3729"/>
          <a:stretch/>
        </p:blipFill>
        <p:spPr>
          <a:xfrm>
            <a:off x="3024589" y="2459980"/>
            <a:ext cx="3877917" cy="24099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671C24-10D6-DAF8-FC53-33E07CD2A84F}"/>
              </a:ext>
            </a:extLst>
          </p:cNvPr>
          <p:cNvSpPr txBox="1"/>
          <p:nvPr/>
        </p:nvSpPr>
        <p:spPr>
          <a:xfrm>
            <a:off x="402912" y="2459980"/>
            <a:ext cx="26216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0" u="none" strike="noStrike" cap="none" dirty="0">
                <a:solidFill>
                  <a:schemeClr val="accent2"/>
                </a:solidFill>
                <a:latin typeface="Calibri"/>
                <a:ea typeface="Arial"/>
                <a:cs typeface="Calibri"/>
                <a:sym typeface="Calibri"/>
              </a:rPr>
              <a:t>We can wor</a:t>
            </a:r>
            <a:r>
              <a:rPr lang="en-US" dirty="0">
                <a:solidFill>
                  <a:schemeClr val="accent2"/>
                </a:solidFill>
                <a:latin typeface="Calibri"/>
                <a:cs typeface="Calibri"/>
                <a:sym typeface="Calibri"/>
              </a:rPr>
              <a:t>k on this checklist during remote sessions and individual schools can update their own checklist as and when completed.</a:t>
            </a:r>
            <a:endParaRPr lang="en-US" i="0" u="none" strike="noStrike" cap="none" dirty="0">
              <a:solidFill>
                <a:schemeClr val="accent2"/>
              </a:solidFill>
              <a:latin typeface="Calibri"/>
              <a:ea typeface="Arial"/>
              <a:cs typeface="Calibri"/>
              <a:sym typeface="Calibri"/>
            </a:endParaRPr>
          </a:p>
          <a:p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84BCBC-A50E-F654-3D8F-A88DABC7997A}"/>
              </a:ext>
            </a:extLst>
          </p:cNvPr>
          <p:cNvSpPr/>
          <p:nvPr/>
        </p:nvSpPr>
        <p:spPr>
          <a:xfrm>
            <a:off x="4572000" y="2507013"/>
            <a:ext cx="428878" cy="3332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722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90">
            <a:extLst>
              <a:ext uri="{FF2B5EF4-FFF2-40B4-BE49-F238E27FC236}">
                <a16:creationId xmlns:a16="http://schemas.microsoft.com/office/drawing/2014/main" id="{F2EE1B9F-7B32-405F-B7DE-5DFBFFB06A6C}"/>
              </a:ext>
            </a:extLst>
          </p:cNvPr>
          <p:cNvSpPr txBox="1"/>
          <p:nvPr/>
        </p:nvSpPr>
        <p:spPr>
          <a:xfrm>
            <a:off x="875481" y="1042147"/>
            <a:ext cx="7705200" cy="3638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  <a:buFont typeface="Arial" panose="020B0604020202020204" pitchFamily="34" charset="0"/>
              <a:buChar char="•"/>
            </a:pPr>
            <a:endParaRPr lang="en-US" sz="1800" b="1" dirty="0">
              <a:latin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  <a:buFont typeface="Arial" panose="020B0604020202020204" pitchFamily="34" charset="0"/>
              <a:buChar char="•"/>
            </a:pPr>
            <a:endParaRPr lang="en-US" sz="1800" b="1" dirty="0">
              <a:latin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  <a:buFont typeface="Arial" panose="020B0604020202020204" pitchFamily="34" charset="0"/>
              <a:buChar char="•"/>
            </a:pPr>
            <a:endParaRPr lang="en-US" sz="1800" b="1" dirty="0">
              <a:latin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accent2"/>
                </a:solidFill>
                <a:latin typeface="Calibri"/>
                <a:cs typeface="Calibri"/>
                <a:sym typeface="Calibri"/>
              </a:rPr>
              <a:t>Complete e-learning training on </a:t>
            </a:r>
            <a:r>
              <a:rPr lang="en-US" sz="1800" b="1" dirty="0" err="1">
                <a:solidFill>
                  <a:schemeClr val="accent2"/>
                </a:solidFill>
                <a:latin typeface="Calibri"/>
                <a:cs typeface="Calibri"/>
                <a:sym typeface="Calibri"/>
              </a:rPr>
              <a:t>Smartlog</a:t>
            </a:r>
            <a:endParaRPr lang="en-US" sz="1800" b="1" dirty="0">
              <a:solidFill>
                <a:schemeClr val="accent2"/>
              </a:solidFill>
              <a:latin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accent2"/>
                </a:solidFill>
                <a:latin typeface="Calibri"/>
                <a:cs typeface="Calibri"/>
                <a:sym typeface="Calibri"/>
              </a:rPr>
              <a:t>Further ‘learning nuggets’ are available on the Knowledge Bank for key staff, such as administrators, on topics helping to identify Subject Access Requests, Data Breaches and Freedom of Information Requests.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Wingdings" panose="05000000000000000000" pitchFamily="2" charset="2"/>
              <a:buChar char="§"/>
            </a:pPr>
            <a:r>
              <a:rPr lang="en-US" sz="1800" b="1" i="0" u="none" strike="noStrike" cap="none" dirty="0" err="1">
                <a:solidFill>
                  <a:schemeClr val="accent2"/>
                </a:solidFill>
                <a:latin typeface="Calibri"/>
                <a:ea typeface="Arial"/>
                <a:cs typeface="Calibri"/>
                <a:sym typeface="Calibri"/>
              </a:rPr>
              <a:t>Familiarise</a:t>
            </a:r>
            <a:r>
              <a:rPr lang="en-US" sz="1800" b="1" i="0" u="none" strike="noStrike" cap="none" dirty="0">
                <a:solidFill>
                  <a:schemeClr val="accent2"/>
                </a:solidFill>
                <a:latin typeface="Calibri"/>
                <a:ea typeface="Arial"/>
                <a:cs typeface="Calibri"/>
                <a:sym typeface="Calibri"/>
              </a:rPr>
              <a:t> yourselves with using the Knowledge Bank reporting platform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accent2"/>
                </a:solidFill>
                <a:latin typeface="Calibri"/>
                <a:cs typeface="Calibri"/>
                <a:sym typeface="Calibri"/>
              </a:rPr>
              <a:t>Raising awareness in school and be advocates for data protection and best  practice in handling personal and sensitive data</a:t>
            </a:r>
            <a:endParaRPr lang="en-US" sz="1800" b="1" i="0" u="none" strike="noStrike" cap="none" dirty="0">
              <a:solidFill>
                <a:schemeClr val="accent2"/>
              </a:solidFill>
              <a:latin typeface="Calibri"/>
              <a:ea typeface="Arial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accent2"/>
                </a:solidFill>
                <a:latin typeface="Calibri"/>
                <a:cs typeface="Calibri"/>
                <a:sym typeface="Calibri"/>
              </a:rPr>
              <a:t>We are here to support you: </a:t>
            </a:r>
            <a:r>
              <a:rPr lang="en-US" sz="1800" b="1" dirty="0" err="1">
                <a:solidFill>
                  <a:schemeClr val="accent2"/>
                </a:solidFill>
                <a:latin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dpo@dataprotection.education</a:t>
            </a:r>
            <a:r>
              <a:rPr lang="en-US" sz="1800" b="1" dirty="0">
                <a:solidFill>
                  <a:schemeClr val="accent2"/>
                </a:solidFill>
                <a:latin typeface="Calibri"/>
                <a:cs typeface="Calibri"/>
                <a:sym typeface="Calibri"/>
              </a:rPr>
              <a:t>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</a:pPr>
            <a:endParaRPr lang="en-US" sz="1800" b="1" i="0" u="none" strike="noStrike" cap="none" dirty="0">
              <a:solidFill>
                <a:schemeClr val="accent2"/>
              </a:solidFill>
              <a:latin typeface="Calibri"/>
              <a:ea typeface="Arial"/>
              <a:cs typeface="Calibri"/>
              <a:sym typeface="Calibri"/>
            </a:endParaRPr>
          </a:p>
        </p:txBody>
      </p:sp>
      <p:sp>
        <p:nvSpPr>
          <p:cNvPr id="3" name="Shape 290">
            <a:extLst>
              <a:ext uri="{FF2B5EF4-FFF2-40B4-BE49-F238E27FC236}">
                <a16:creationId xmlns:a16="http://schemas.microsoft.com/office/drawing/2014/main" id="{045696EF-45B1-4FC9-BC48-5E9C835354CA}"/>
              </a:ext>
            </a:extLst>
          </p:cNvPr>
          <p:cNvSpPr txBox="1"/>
          <p:nvPr/>
        </p:nvSpPr>
        <p:spPr>
          <a:xfrm>
            <a:off x="402912" y="233295"/>
            <a:ext cx="7342594" cy="80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The role of core staff and champions – S</a:t>
            </a:r>
            <a:r>
              <a:rPr lang="en-US" sz="4000" b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tep 1</a:t>
            </a:r>
            <a:r>
              <a:rPr lang="en-US" sz="4000" b="1" i="0" u="none" strike="noStrike" cap="non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2473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6;p24">
            <a:extLst>
              <a:ext uri="{FF2B5EF4-FFF2-40B4-BE49-F238E27FC236}">
                <a16:creationId xmlns:a16="http://schemas.microsoft.com/office/drawing/2014/main" id="{F4452F52-1AD1-4F75-A90C-BAB3CCCAE633}"/>
              </a:ext>
            </a:extLst>
          </p:cNvPr>
          <p:cNvSpPr txBox="1">
            <a:spLocks/>
          </p:cNvSpPr>
          <p:nvPr/>
        </p:nvSpPr>
        <p:spPr>
          <a:xfrm>
            <a:off x="342403" y="376113"/>
            <a:ext cx="5867566" cy="99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Raising awareness across the Trust – step 2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275DA98-E20E-42FB-94CF-3FEF5D15B78D}"/>
              </a:ext>
            </a:extLst>
          </p:cNvPr>
          <p:cNvSpPr txBox="1">
            <a:spLocks/>
          </p:cNvSpPr>
          <p:nvPr/>
        </p:nvSpPr>
        <p:spPr>
          <a:xfrm>
            <a:off x="628650" y="1370013"/>
            <a:ext cx="6766064" cy="326231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protection training for all staff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Disseminate the data breach procedure to all staff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Disseminate the SAR procedure to key staff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staff briefings and communication tools to continue to raise awareness, especially when issues have been identified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 DPE posters in schools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Keep a record of data breaches and SAR requests in your school by logging these on the Knowledge Bank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in doubt email: </a:t>
            </a:r>
            <a:r>
              <a:rPr lang="en-US" sz="1600" dirty="0" err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dpo@dataprotection.education</a:t>
            </a: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Never ignore!</a:t>
            </a:r>
          </a:p>
          <a:p>
            <a:r>
              <a:rPr lang="en-US" dirty="0"/>
              <a:t> </a:t>
            </a:r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750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Shape 3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720739">
            <a:off x="5482341" y="571873"/>
            <a:ext cx="3985045" cy="423640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Shape 314"/>
          <p:cNvSpPr txBox="1"/>
          <p:nvPr/>
        </p:nvSpPr>
        <p:spPr>
          <a:xfrm>
            <a:off x="1004575" y="4212709"/>
            <a:ext cx="5528400" cy="5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Arial"/>
              <a:buNone/>
            </a:pPr>
            <a:endParaRPr sz="20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Shape 3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</a:p>
        </p:txBody>
      </p:sp>
      <p:sp>
        <p:nvSpPr>
          <p:cNvPr id="316" name="Shape 316"/>
          <p:cNvSpPr txBox="1">
            <a:spLocks noGrp="1"/>
          </p:cNvSpPr>
          <p:nvPr>
            <p:ph type="body" orient="vert" idx="1"/>
          </p:nvPr>
        </p:nvSpPr>
        <p:spPr>
          <a:xfrm rot="16200000">
            <a:off x="2280769" y="-971319"/>
            <a:ext cx="2031557" cy="488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lang="en-GB"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lang="en-GB"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GB" sz="2800" b="0" i="0" u="sng" strike="noStrike" cap="none" dirty="0" err="1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DPO@dataprotection.education</a:t>
            </a:r>
            <a:endParaRPr lang="en-GB"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Tel: 0800 0862018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FA22037F73794AB6500306DA8D6B3B" ma:contentTypeVersion="10" ma:contentTypeDescription="Create a new document." ma:contentTypeScope="" ma:versionID="8668992dded1fc18558f9b756639fc79">
  <xsd:schema xmlns:xsd="http://www.w3.org/2001/XMLSchema" xmlns:xs="http://www.w3.org/2001/XMLSchema" xmlns:p="http://schemas.microsoft.com/office/2006/metadata/properties" xmlns:ns3="b4925c23-3bd3-4966-a133-43795ac9129c" targetNamespace="http://schemas.microsoft.com/office/2006/metadata/properties" ma:root="true" ma:fieldsID="c7a216b5754af507604afad43f68ecd1" ns3:_="">
    <xsd:import namespace="b4925c23-3bd3-4966-a133-43795ac9129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925c23-3bd3-4966-a133-43795ac912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A2E3CB7-D696-4473-8BD6-D499D4C9A9D2}">
  <ds:schemaRefs>
    <ds:schemaRef ds:uri="b4925c23-3bd3-4966-a133-43795ac912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D7776AA-3301-4098-9B36-24998ACCC1B4}">
  <ds:schemaRefs>
    <ds:schemaRef ds:uri="b4925c23-3bd3-4966-a133-43795ac9129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2490200-7311-407E-B341-D36FAC78FC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2931</TotalTime>
  <Words>739</Words>
  <Application>Microsoft Office PowerPoint</Application>
  <PresentationFormat>On-screen Show (16:9)</PresentationFormat>
  <Paragraphs>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Wingdings 3</vt:lpstr>
      <vt:lpstr>Calibri</vt:lpstr>
      <vt:lpstr>Arial</vt:lpstr>
      <vt:lpstr>Wingdings</vt:lpstr>
      <vt:lpstr>Trebuchet MS</vt:lpstr>
      <vt:lpstr>Facet</vt:lpstr>
      <vt:lpstr>PowerPoint Presentation</vt:lpstr>
      <vt:lpstr>Knowledge Bank Basics</vt:lpstr>
      <vt:lpstr>Recording a SAR/FOI/Breach</vt:lpstr>
      <vt:lpstr>Recording a Data Rights Log</vt:lpstr>
      <vt:lpstr>Recording an FOI or Data Breach</vt:lpstr>
      <vt:lpstr>Creating &amp; Assigning a ‘to-do’</vt:lpstr>
      <vt:lpstr>PowerPoint Presentation</vt:lpstr>
      <vt:lpstr>PowerPoint Presentation</vt:lpstr>
      <vt:lpstr>PowerPoint Presentation</vt:lpstr>
      <vt:lpstr>PowerPoint Presentation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Stuart Lee</dc:creator>
  <cp:lastModifiedBy>Lindsey Smith</cp:lastModifiedBy>
  <cp:revision>42</cp:revision>
  <dcterms:modified xsi:type="dcterms:W3CDTF">2022-09-28T08:50:59Z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0x0101004DFA22037F73794AB6500306DA8D6B3B</vt:lpwstr>
  </property>
</Properties>
</file>