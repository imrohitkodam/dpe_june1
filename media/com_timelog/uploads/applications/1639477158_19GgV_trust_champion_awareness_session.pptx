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1" r:id="rId4"/>
  </p:sldMasterIdLst>
  <p:notesMasterIdLst>
    <p:notesMasterId r:id="rId30"/>
  </p:notesMasterIdLst>
  <p:sldIdLst>
    <p:sldId id="256" r:id="rId5"/>
    <p:sldId id="289" r:id="rId6"/>
    <p:sldId id="298" r:id="rId7"/>
    <p:sldId id="259" r:id="rId8"/>
    <p:sldId id="310" r:id="rId9"/>
    <p:sldId id="315" r:id="rId10"/>
    <p:sldId id="257" r:id="rId11"/>
    <p:sldId id="311" r:id="rId12"/>
    <p:sldId id="262" r:id="rId13"/>
    <p:sldId id="265" r:id="rId14"/>
    <p:sldId id="266" r:id="rId15"/>
    <p:sldId id="268" r:id="rId16"/>
    <p:sldId id="270" r:id="rId17"/>
    <p:sldId id="314" r:id="rId18"/>
    <p:sldId id="271" r:id="rId19"/>
    <p:sldId id="276" r:id="rId20"/>
    <p:sldId id="286" r:id="rId21"/>
    <p:sldId id="279" r:id="rId22"/>
    <p:sldId id="319" r:id="rId23"/>
    <p:sldId id="291" r:id="rId24"/>
    <p:sldId id="320" r:id="rId25"/>
    <p:sldId id="282" r:id="rId26"/>
    <p:sldId id="292" r:id="rId27"/>
    <p:sldId id="293" r:id="rId28"/>
    <p:sldId id="285" r:id="rId29"/>
  </p:sldIdLst>
  <p:sldSz cx="9144000" cy="5143500" type="screen16x9"/>
  <p:notesSz cx="6858000" cy="9144000"/>
  <p:embeddedFontLst>
    <p:embeddedFont>
      <p:font typeface="Calibri" panose="020F0502020204030204" pitchFamily="34" charset="0"/>
      <p:regular r:id="rId31"/>
      <p:bold r:id="rId32"/>
      <p:italic r:id="rId33"/>
      <p:boldItalic r:id="rId34"/>
    </p:embeddedFont>
    <p:embeddedFont>
      <p:font typeface="Roboto" panose="02000000000000000000" pitchFamily="2" charset="0"/>
      <p:regular r:id="rId35"/>
      <p:bold r:id="rId36"/>
      <p:italic r:id="rId37"/>
      <p:boldItalic r:id="rId38"/>
    </p:embeddedFont>
    <p:embeddedFont>
      <p:font typeface="Trebuchet MS" panose="020B0603020202020204" pitchFamily="34" charset="0"/>
      <p:regular r:id="rId39"/>
      <p:bold r:id="rId40"/>
      <p:italic r:id="rId41"/>
      <p:boldItalic r:id="rId42"/>
    </p:embeddedFont>
    <p:embeddedFont>
      <p:font typeface="Verdana" panose="020B0604030504040204" pitchFamily="34" charset="0"/>
      <p:regular r:id="rId43"/>
      <p:bold r:id="rId44"/>
      <p:italic r:id="rId45"/>
      <p:boldItalic r:id="rId46"/>
    </p:embeddedFont>
    <p:embeddedFont>
      <p:font typeface="Wingdings 3" panose="05040102010807070707" pitchFamily="18" charset="2"/>
      <p:regular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6877413-0A6A-44EB-BF4E-155E3BCF56B8}">
  <a:tblStyle styleId="{96877413-0A6A-44EB-BF4E-155E3BCF56B8}" styleName="Table_0">
    <a:wholeTbl>
      <a:tcTxStyle b="off" i="off">
        <a:font>
          <a:latin typeface="Calibri"/>
          <a:ea typeface="Calibri"/>
          <a:cs typeface="Calibri"/>
        </a:font>
        <a:schemeClr val="dk1"/>
      </a:tcTxStyle>
      <a:tcStyle>
        <a:tcBdr>
          <a:left>
            <a:ln w="12700" cap="flat" cmpd="sng">
              <a:solidFill>
                <a:schemeClr val="accent1"/>
              </a:solidFill>
              <a:prstDash val="solid"/>
              <a:round/>
              <a:headEnd type="none" w="sm" len="sm"/>
              <a:tailEnd type="none" w="sm" len="sm"/>
            </a:ln>
          </a:left>
          <a:right>
            <a:ln w="12700" cap="flat" cmpd="sng">
              <a:solidFill>
                <a:schemeClr val="accent1"/>
              </a:solidFill>
              <a:prstDash val="solid"/>
              <a:round/>
              <a:headEnd type="none" w="sm" len="sm"/>
              <a:tailEnd type="none" w="sm" len="sm"/>
            </a:ln>
          </a:right>
          <a:top>
            <a:ln w="12700" cap="flat" cmpd="sng">
              <a:solidFill>
                <a:schemeClr val="accent1"/>
              </a:solidFill>
              <a:prstDash val="solid"/>
              <a:round/>
              <a:headEnd type="none" w="sm" len="sm"/>
              <a:tailEnd type="none" w="sm" len="sm"/>
            </a:ln>
          </a:top>
          <a:bottom>
            <a:ln w="12700" cap="flat" cmpd="sng">
              <a:solidFill>
                <a:schemeClr val="accent1"/>
              </a:solidFill>
              <a:prstDash val="solid"/>
              <a:round/>
              <a:headEnd type="none" w="sm" len="sm"/>
              <a:tailEnd type="none" w="sm" len="sm"/>
            </a:ln>
          </a:bottom>
          <a:insideH>
            <a:ln w="12700" cap="flat" cmpd="sng">
              <a:solidFill>
                <a:schemeClr val="accent1"/>
              </a:solidFill>
              <a:prstDash val="solid"/>
              <a:round/>
              <a:headEnd type="none" w="sm" len="sm"/>
              <a:tailEnd type="none" w="sm" len="sm"/>
            </a:ln>
          </a:insideH>
          <a:insideV>
            <a:ln w="12700" cap="flat" cmpd="sng">
              <a:solidFill>
                <a:schemeClr val="accent1"/>
              </a:solidFill>
              <a:prstDash val="solid"/>
              <a:round/>
              <a:headEnd type="none" w="sm" len="sm"/>
              <a:tailEnd type="none" w="sm" len="sm"/>
            </a:ln>
          </a:insideV>
        </a:tcBdr>
        <a:fill>
          <a:solidFill>
            <a:srgbClr val="E8EBF5"/>
          </a:solidFill>
        </a:fill>
      </a:tcStyle>
    </a:wholeTbl>
    <a:band1H>
      <a:tcTxStyle b="off" i="off"/>
      <a:tcStyle>
        <a:tcBdr/>
        <a:fill>
          <a:solidFill>
            <a:srgbClr val="CDD4EA"/>
          </a:solidFill>
        </a:fill>
      </a:tcStyle>
    </a:band1H>
    <a:band2H>
      <a:tcTxStyle b="off" i="off"/>
      <a:tcStyle>
        <a:tcBdr/>
      </a:tcStyle>
    </a:band2H>
    <a:band1V>
      <a:tcTxStyle b="off" i="off"/>
      <a:tcStyle>
        <a:tcBdr/>
        <a:fill>
          <a:solidFill>
            <a:srgbClr val="CDD4EA"/>
          </a:solidFill>
        </a:fill>
      </a:tcStyle>
    </a:band1V>
    <a:band2V>
      <a:tcTxStyle b="off" i="off"/>
      <a:tcStyle>
        <a:tcBdr/>
      </a:tcStyle>
    </a:band2V>
    <a:lastCol>
      <a:tcTxStyle b="on" i="off"/>
      <a:tcStyle>
        <a:tcBdr/>
      </a:tcStyle>
    </a:lastCol>
    <a:firstCol>
      <a:tcTxStyle b="on" i="off"/>
      <a:tcStyle>
        <a:tcBdr/>
      </a:tcStyle>
    </a:firstCol>
    <a:lastRow>
      <a:tcTxStyle b="on" i="off"/>
      <a:tcStyle>
        <a:tcBdr>
          <a:top>
            <a:ln w="25400" cap="flat" cmpd="sng">
              <a:solidFill>
                <a:schemeClr val="accent1"/>
              </a:solidFill>
              <a:prstDash val="solid"/>
              <a:round/>
              <a:headEnd type="none" w="sm" len="sm"/>
              <a:tailEnd type="none" w="sm" len="sm"/>
            </a:ln>
          </a:top>
        </a:tcBdr>
        <a:fill>
          <a:solidFill>
            <a:srgbClr val="E8EBF5"/>
          </a:solidFill>
        </a:fill>
      </a:tcStyle>
    </a:lastRow>
    <a:seCell>
      <a:tcTxStyle b="off" i="off"/>
      <a:tcStyle>
        <a:tcBdr/>
      </a:tcStyle>
    </a:seCell>
    <a:swCell>
      <a:tcTxStyle b="off" i="off"/>
      <a:tcStyle>
        <a:tcBdr/>
      </a:tcStyle>
    </a:swCell>
    <a:firstRow>
      <a:tcTxStyle b="on" i="off"/>
      <a:tcStyle>
        <a:tcBdr/>
        <a:fill>
          <a:solidFill>
            <a:srgbClr val="E8EBF5"/>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78129" autoAdjust="0"/>
  </p:normalViewPr>
  <p:slideViewPr>
    <p:cSldViewPr snapToGrid="0">
      <p:cViewPr varScale="1">
        <p:scale>
          <a:sx n="118" d="100"/>
          <a:sy n="118" d="100"/>
        </p:scale>
        <p:origin x="142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9.fntdata"/><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font" Target="fonts/font4.fntdata"/><Relationship Id="rId42" Type="http://schemas.openxmlformats.org/officeDocument/2006/relationships/font" Target="fonts/font12.fntdata"/><Relationship Id="rId47" Type="http://schemas.openxmlformats.org/officeDocument/2006/relationships/font" Target="fonts/font17.fntdata"/><Relationship Id="rId50"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3.fntdata"/><Relationship Id="rId38" Type="http://schemas.openxmlformats.org/officeDocument/2006/relationships/font" Target="fonts/font8.fntdata"/><Relationship Id="rId46" Type="http://schemas.openxmlformats.org/officeDocument/2006/relationships/font" Target="fonts/font16.fnt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font" Target="fonts/font11.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2.fntdata"/><Relationship Id="rId37" Type="http://schemas.openxmlformats.org/officeDocument/2006/relationships/font" Target="fonts/font7.fntdata"/><Relationship Id="rId40" Type="http://schemas.openxmlformats.org/officeDocument/2006/relationships/font" Target="fonts/font10.fntdata"/><Relationship Id="rId45" Type="http://schemas.openxmlformats.org/officeDocument/2006/relationships/font" Target="fonts/font15.fntdata"/><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6.fntdata"/><Relationship Id="rId49"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1.fntdata"/><Relationship Id="rId44" Type="http://schemas.openxmlformats.org/officeDocument/2006/relationships/font" Target="fonts/font14.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font" Target="fonts/font5.fntdata"/><Relationship Id="rId43" Type="http://schemas.openxmlformats.org/officeDocument/2006/relationships/font" Target="fonts/font13.fntdata"/><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spcFirstLastPara="1" wrap="square" lIns="91425" tIns="91425" rIns="91425" bIns="91425" anchor="t" anchorCtr="0"/>
          <a:lstStyle>
            <a:lvl1pPr marR="0" lvl="0" algn="l" rtl="0">
              <a:lnSpc>
                <a:spcPct val="100000"/>
              </a:lnSpc>
              <a:spcBef>
                <a:spcPts val="0"/>
              </a:spcBef>
              <a:spcAft>
                <a:spcPts val="0"/>
              </a:spcAft>
              <a:buClr>
                <a:schemeClr val="dk1"/>
              </a:buClr>
              <a:buSzPts val="1200"/>
              <a:buFont typeface="Calibri"/>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spcFirstLastPara="1" wrap="square" lIns="91425" tIns="91425" rIns="91425" bIns="91425" anchor="t" anchorCtr="0"/>
          <a:lstStyle>
            <a:lvl1pPr marR="0" lvl="0" algn="r" rtl="0">
              <a:lnSpc>
                <a:spcPct val="100000"/>
              </a:lnSpc>
              <a:spcBef>
                <a:spcPts val="0"/>
              </a:spcBef>
              <a:spcAft>
                <a:spcPts val="0"/>
              </a:spcAft>
              <a:buClr>
                <a:schemeClr val="dk1"/>
              </a:buClr>
              <a:buSzPts val="1200"/>
              <a:buFont typeface="Calibri"/>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 name="Shape 5"/>
          <p:cNvSpPr>
            <a:spLocks noGrp="1" noRot="1" noChangeAspect="1"/>
          </p:cNvSpPr>
          <p:nvPr>
            <p:ph type="sldImg" idx="3"/>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Shape 6"/>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t" anchorCtr="0"/>
          <a:lstStyle>
            <a:lvl1pPr marL="457200" marR="0" lvl="0" indent="-304800" algn="l" rtl="0">
              <a:lnSpc>
                <a:spcPct val="100000"/>
              </a:lnSpc>
              <a:spcBef>
                <a:spcPts val="0"/>
              </a:spcBef>
              <a:spcAft>
                <a:spcPts val="0"/>
              </a:spcAft>
              <a:buClr>
                <a:schemeClr val="dk1"/>
              </a:buClr>
              <a:buSzPts val="1200"/>
              <a:buFont typeface="Calibri"/>
              <a:buChar char="●"/>
              <a:defRPr sz="1200" b="0" i="0" u="none" strike="noStrike" cap="none">
                <a:solidFill>
                  <a:schemeClr val="dk1"/>
                </a:solidFill>
                <a:latin typeface="Calibri"/>
                <a:ea typeface="Calibri"/>
                <a:cs typeface="Calibri"/>
                <a:sym typeface="Calibri"/>
              </a:defRPr>
            </a:lvl1pPr>
            <a:lvl2pPr marL="914400" marR="0" lvl="1" indent="-304800" algn="l" rtl="0">
              <a:lnSpc>
                <a:spcPct val="100000"/>
              </a:lnSpc>
              <a:spcBef>
                <a:spcPts val="0"/>
              </a:spcBef>
              <a:spcAft>
                <a:spcPts val="0"/>
              </a:spcAft>
              <a:buClr>
                <a:schemeClr val="dk1"/>
              </a:buClr>
              <a:buSzPts val="1200"/>
              <a:buFont typeface="Calibri"/>
              <a:buChar char="○"/>
              <a:defRPr sz="1200" b="0" i="0" u="none" strike="noStrike" cap="none">
                <a:solidFill>
                  <a:schemeClr val="dk1"/>
                </a:solidFill>
                <a:latin typeface="Calibri"/>
                <a:ea typeface="Calibri"/>
                <a:cs typeface="Calibri"/>
                <a:sym typeface="Calibri"/>
              </a:defRPr>
            </a:lvl2pPr>
            <a:lvl3pPr marL="1371600" marR="0" lvl="2" indent="-304800" algn="l" rtl="0">
              <a:lnSpc>
                <a:spcPct val="100000"/>
              </a:lnSpc>
              <a:spcBef>
                <a:spcPts val="0"/>
              </a:spcBef>
              <a:spcAft>
                <a:spcPts val="0"/>
              </a:spcAft>
              <a:buClr>
                <a:schemeClr val="dk1"/>
              </a:buClr>
              <a:buSzPts val="1200"/>
              <a:buFont typeface="Calibri"/>
              <a:buChar char="■"/>
              <a:defRPr sz="1200" b="0" i="0" u="none" strike="noStrike" cap="none">
                <a:solidFill>
                  <a:schemeClr val="dk1"/>
                </a:solidFill>
                <a:latin typeface="Calibri"/>
                <a:ea typeface="Calibri"/>
                <a:cs typeface="Calibri"/>
                <a:sym typeface="Calibri"/>
              </a:defRPr>
            </a:lvl3pPr>
            <a:lvl4pPr marL="1828800" marR="0" lvl="3" indent="-304800" algn="l" rtl="0">
              <a:lnSpc>
                <a:spcPct val="100000"/>
              </a:lnSpc>
              <a:spcBef>
                <a:spcPts val="0"/>
              </a:spcBef>
              <a:spcAft>
                <a:spcPts val="0"/>
              </a:spcAft>
              <a:buClr>
                <a:schemeClr val="dk1"/>
              </a:buClr>
              <a:buSzPts val="1200"/>
              <a:buFont typeface="Calibri"/>
              <a:buChar char="●"/>
              <a:defRPr sz="1200" b="0" i="0" u="none" strike="noStrike" cap="none">
                <a:solidFill>
                  <a:schemeClr val="dk1"/>
                </a:solidFill>
                <a:latin typeface="Calibri"/>
                <a:ea typeface="Calibri"/>
                <a:cs typeface="Calibri"/>
                <a:sym typeface="Calibri"/>
              </a:defRPr>
            </a:lvl4pPr>
            <a:lvl5pPr marL="2286000" marR="0" lvl="4" indent="-304800" algn="l" rtl="0">
              <a:lnSpc>
                <a:spcPct val="100000"/>
              </a:lnSpc>
              <a:spcBef>
                <a:spcPts val="0"/>
              </a:spcBef>
              <a:spcAft>
                <a:spcPts val="0"/>
              </a:spcAft>
              <a:buClr>
                <a:schemeClr val="dk1"/>
              </a:buClr>
              <a:buSzPts val="1200"/>
              <a:buFont typeface="Calibri"/>
              <a:buChar char="○"/>
              <a:defRPr sz="1200" b="0" i="0" u="none" strike="noStrike" cap="none">
                <a:solidFill>
                  <a:schemeClr val="dk1"/>
                </a:solidFill>
                <a:latin typeface="Calibri"/>
                <a:ea typeface="Calibri"/>
                <a:cs typeface="Calibri"/>
                <a:sym typeface="Calibri"/>
              </a:defRPr>
            </a:lvl5pPr>
            <a:lvl6pPr marL="2743200" marR="0" lvl="5" indent="-304800" algn="l" rtl="0">
              <a:lnSpc>
                <a:spcPct val="100000"/>
              </a:lnSpc>
              <a:spcBef>
                <a:spcPts val="0"/>
              </a:spcBef>
              <a:spcAft>
                <a:spcPts val="0"/>
              </a:spcAft>
              <a:buClr>
                <a:schemeClr val="dk1"/>
              </a:buClr>
              <a:buSzPts val="1200"/>
              <a:buFont typeface="Calibri"/>
              <a:buChar char="■"/>
              <a:defRPr sz="1200" b="0" i="0" u="none" strike="noStrike" cap="none">
                <a:solidFill>
                  <a:schemeClr val="dk1"/>
                </a:solidFill>
                <a:latin typeface="Calibri"/>
                <a:ea typeface="Calibri"/>
                <a:cs typeface="Calibri"/>
                <a:sym typeface="Calibri"/>
              </a:defRPr>
            </a:lvl6pPr>
            <a:lvl7pPr marL="3200400" marR="0" lvl="6" indent="-304800" algn="l" rtl="0">
              <a:lnSpc>
                <a:spcPct val="100000"/>
              </a:lnSpc>
              <a:spcBef>
                <a:spcPts val="0"/>
              </a:spcBef>
              <a:spcAft>
                <a:spcPts val="0"/>
              </a:spcAft>
              <a:buClr>
                <a:schemeClr val="dk1"/>
              </a:buClr>
              <a:buSzPts val="1200"/>
              <a:buFont typeface="Calibri"/>
              <a:buChar char="●"/>
              <a:defRPr sz="1200" b="0" i="0" u="none" strike="noStrike" cap="none">
                <a:solidFill>
                  <a:schemeClr val="dk1"/>
                </a:solidFill>
                <a:latin typeface="Calibri"/>
                <a:ea typeface="Calibri"/>
                <a:cs typeface="Calibri"/>
                <a:sym typeface="Calibri"/>
              </a:defRPr>
            </a:lvl7pPr>
            <a:lvl8pPr marL="3657600" marR="0" lvl="7" indent="-304800" algn="l" rtl="0">
              <a:lnSpc>
                <a:spcPct val="100000"/>
              </a:lnSpc>
              <a:spcBef>
                <a:spcPts val="0"/>
              </a:spcBef>
              <a:spcAft>
                <a:spcPts val="0"/>
              </a:spcAft>
              <a:buClr>
                <a:schemeClr val="dk1"/>
              </a:buClr>
              <a:buSzPts val="1200"/>
              <a:buFont typeface="Calibri"/>
              <a:buChar char="○"/>
              <a:defRPr sz="1200" b="0" i="0" u="none" strike="noStrike" cap="none">
                <a:solidFill>
                  <a:schemeClr val="dk1"/>
                </a:solidFill>
                <a:latin typeface="Calibri"/>
                <a:ea typeface="Calibri"/>
                <a:cs typeface="Calibri"/>
                <a:sym typeface="Calibri"/>
              </a:defRPr>
            </a:lvl8pPr>
            <a:lvl9pPr marL="4114800" marR="0" lvl="8" indent="-304800" algn="l" rtl="0">
              <a:lnSpc>
                <a:spcPct val="100000"/>
              </a:lnSpc>
              <a:spcBef>
                <a:spcPts val="0"/>
              </a:spcBef>
              <a:spcAft>
                <a:spcPts val="0"/>
              </a:spcAft>
              <a:buClr>
                <a:schemeClr val="dk1"/>
              </a:buClr>
              <a:buSzPts val="1200"/>
              <a:buFont typeface="Calibri"/>
              <a:buChar char="■"/>
              <a:defRPr sz="1200" b="0" i="0" u="none" strike="noStrike" cap="none">
                <a:solidFill>
                  <a:schemeClr val="dk1"/>
                </a:solidFill>
                <a:latin typeface="Calibri"/>
                <a:ea typeface="Calibri"/>
                <a:cs typeface="Calibri"/>
                <a:sym typeface="Calibri"/>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spcFirstLastPara="1" wrap="square" lIns="91425" tIns="91425" rIns="91425" bIns="91425" anchor="b" anchorCtr="0"/>
          <a:lstStyle>
            <a:lvl1pPr marR="0" lvl="0" algn="l" rtl="0">
              <a:lnSpc>
                <a:spcPct val="100000"/>
              </a:lnSpc>
              <a:spcBef>
                <a:spcPts val="0"/>
              </a:spcBef>
              <a:spcAft>
                <a:spcPts val="0"/>
              </a:spcAft>
              <a:buClr>
                <a:schemeClr val="dk1"/>
              </a:buClr>
              <a:buSzPts val="1200"/>
              <a:buFont typeface="Calibri"/>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300"/>
              <a:buFont typeface="Calibri"/>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Shape 79"/>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0" marR="0" lvl="0" indent="76200" algn="l" rtl="0">
              <a:lnSpc>
                <a:spcPct val="100000"/>
              </a:lnSpc>
              <a:spcBef>
                <a:spcPts val="0"/>
              </a:spcBef>
              <a:spcAft>
                <a:spcPts val="0"/>
              </a:spcAft>
              <a:buClr>
                <a:schemeClr val="dk1"/>
              </a:buClr>
              <a:buSzPts val="1200"/>
              <a:buFont typeface="Calibri"/>
              <a:buNone/>
            </a:pPr>
            <a:r>
              <a:rPr lang="en-GB" sz="1200" b="0" i="0" u="none" strike="noStrike" cap="none" dirty="0">
                <a:solidFill>
                  <a:schemeClr val="dk1"/>
                </a:solidFill>
                <a:latin typeface="Calibri"/>
                <a:ea typeface="Calibri"/>
                <a:cs typeface="Calibri"/>
                <a:sym typeface="Calibri"/>
              </a:rPr>
              <a:t>Introduction – mute unless there's a question, feel free to unmute and interject.  DPE are working in partnership with </a:t>
            </a:r>
            <a:r>
              <a:rPr lang="en-GB" sz="1200" b="0" i="0" u="none" strike="noStrike" cap="none" dirty="0" err="1">
                <a:solidFill>
                  <a:schemeClr val="dk1"/>
                </a:solidFill>
                <a:latin typeface="Calibri"/>
                <a:ea typeface="Calibri"/>
                <a:cs typeface="Calibri"/>
                <a:sym typeface="Calibri"/>
              </a:rPr>
              <a:t>GDPRiS</a:t>
            </a:r>
            <a:r>
              <a:rPr lang="en-GB" sz="1200" b="0" i="0" u="none" strike="noStrike" cap="none" dirty="0">
                <a:solidFill>
                  <a:schemeClr val="dk1"/>
                </a:solidFill>
                <a:latin typeface="Calibri"/>
                <a:ea typeface="Calibri"/>
                <a:cs typeface="Calibri"/>
                <a:sym typeface="Calibri"/>
              </a:rPr>
              <a:t>, they provide the platform (log breaches, </a:t>
            </a:r>
            <a:r>
              <a:rPr lang="en-GB" sz="1200" b="0" i="0" u="none" strike="noStrike" cap="none" dirty="0" err="1">
                <a:solidFill>
                  <a:schemeClr val="dk1"/>
                </a:solidFill>
                <a:latin typeface="Calibri"/>
                <a:ea typeface="Calibri"/>
                <a:cs typeface="Calibri"/>
                <a:sym typeface="Calibri"/>
              </a:rPr>
              <a:t>sars</a:t>
            </a:r>
            <a:r>
              <a:rPr lang="en-GB" sz="1200" b="0" i="0" u="none" strike="noStrike" cap="none" dirty="0">
                <a:solidFill>
                  <a:schemeClr val="dk1"/>
                </a:solidFill>
                <a:latin typeface="Calibri"/>
                <a:ea typeface="Calibri"/>
                <a:cs typeface="Calibri"/>
                <a:sym typeface="Calibri"/>
              </a:rPr>
              <a:t>, 3</a:t>
            </a:r>
            <a:r>
              <a:rPr lang="en-GB" sz="1200" b="0" i="0" u="none" strike="noStrike" cap="none" baseline="30000" dirty="0">
                <a:solidFill>
                  <a:schemeClr val="dk1"/>
                </a:solidFill>
                <a:latin typeface="Calibri"/>
                <a:ea typeface="Calibri"/>
                <a:cs typeface="Calibri"/>
                <a:sym typeface="Calibri"/>
              </a:rPr>
              <a:t>rd</a:t>
            </a:r>
            <a:r>
              <a:rPr lang="en-GB" sz="1200" b="0" i="0" u="none" strike="noStrike" cap="none" dirty="0">
                <a:solidFill>
                  <a:schemeClr val="dk1"/>
                </a:solidFill>
                <a:latin typeface="Calibri"/>
                <a:ea typeface="Calibri"/>
                <a:cs typeface="Calibri"/>
                <a:sym typeface="Calibri"/>
              </a:rPr>
              <a:t> party suppliers, </a:t>
            </a:r>
            <a:r>
              <a:rPr lang="en-GB" sz="1200" b="0" i="0" u="none" strike="noStrike" cap="none" dirty="0" err="1">
                <a:solidFill>
                  <a:schemeClr val="dk1"/>
                </a:solidFill>
                <a:latin typeface="Calibri"/>
                <a:ea typeface="Calibri"/>
                <a:cs typeface="Calibri"/>
                <a:sym typeface="Calibri"/>
              </a:rPr>
              <a:t>RoP</a:t>
            </a:r>
            <a:r>
              <a:rPr lang="en-GB" sz="1200" b="0" i="0" u="none" strike="noStrike" cap="none" dirty="0">
                <a:solidFill>
                  <a:schemeClr val="dk1"/>
                </a:solidFill>
                <a:latin typeface="Calibri"/>
                <a:ea typeface="Calibri"/>
                <a:cs typeface="Calibri"/>
                <a:sym typeface="Calibri"/>
              </a:rPr>
              <a:t> and access training) we provide the DPO service.</a:t>
            </a:r>
          </a:p>
          <a:p>
            <a:pPr marL="0" marR="0" lvl="0" indent="76200" algn="l" rtl="0">
              <a:lnSpc>
                <a:spcPct val="100000"/>
              </a:lnSpc>
              <a:spcBef>
                <a:spcPts val="0"/>
              </a:spcBef>
              <a:spcAft>
                <a:spcPts val="0"/>
              </a:spcAft>
              <a:buClr>
                <a:schemeClr val="dk1"/>
              </a:buClr>
              <a:buSzPts val="1200"/>
              <a:buFont typeface="Calibri"/>
              <a:buNone/>
            </a:pPr>
            <a:r>
              <a:rPr lang="en-GB" sz="1200" b="0" i="0" u="none" strike="noStrike" cap="none" dirty="0">
                <a:solidFill>
                  <a:schemeClr val="dk1"/>
                </a:solidFill>
                <a:latin typeface="Calibri"/>
                <a:ea typeface="Calibri"/>
                <a:cs typeface="Calibri"/>
                <a:sym typeface="Calibri"/>
              </a:rPr>
              <a:t>Slides will be sent to Abbie for distribution following the session + answers to any questions.</a:t>
            </a:r>
            <a:endParaRPr sz="1200" b="0" i="0" u="none" strike="noStrike" cap="none" dirty="0">
              <a:solidFill>
                <a:schemeClr val="dk1"/>
              </a:solidFill>
              <a:latin typeface="Calibri"/>
              <a:ea typeface="Calibri"/>
              <a:cs typeface="Calibri"/>
              <a:sym typeface="Calibri"/>
            </a:endParaRPr>
          </a:p>
        </p:txBody>
      </p:sp>
      <p:sp>
        <p:nvSpPr>
          <p:cNvPr id="80" name="Shape 8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Interactive so use the notes section and symbols i.e. raise your hands</a:t>
            </a:r>
            <a:endParaRPr lang="en-GB"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chemeClr val="dk1"/>
              </a:buClr>
              <a:buSzPts val="300"/>
              <a:buFont typeface="Calibri"/>
              <a:buNone/>
            </a:pPr>
            <a:fld id="{00000000-1234-1234-1234-123412341234}" type="slidenum">
              <a:rPr lang="en-US" sz="1200" b="0" i="0" u="none" strike="noStrike" cap="none" smtClean="0">
                <a:solidFill>
                  <a:schemeClr val="dk1"/>
                </a:solidFill>
                <a:latin typeface="Calibri"/>
                <a:ea typeface="Calibri"/>
                <a:cs typeface="Calibri"/>
                <a:sym typeface="Calibri"/>
              </a:rPr>
              <a:t>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64820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at Trust level to develop your privacy program using a framework based on the ICO framework</a:t>
            </a:r>
          </a:p>
          <a:p>
            <a:r>
              <a:rPr lang="en-US" dirty="0"/>
              <a:t>This includes everything from e-learning training to onsite audits, SAR and breaches</a:t>
            </a:r>
          </a:p>
          <a:p>
            <a:r>
              <a:rPr lang="en-US" dirty="0"/>
              <a:t>01 Leadership &amp; Oversight – Governance advice and corporate risk management – Reporting to Trust Board or Audit &amp; Risk Committee</a:t>
            </a:r>
          </a:p>
          <a:p>
            <a:r>
              <a:rPr lang="en-US" dirty="0"/>
              <a:t>02 Risk Management – Visible risks assessed on walk arounds – Hidden risks </a:t>
            </a:r>
            <a:r>
              <a:rPr lang="en-US" dirty="0" err="1"/>
              <a:t>analysed</a:t>
            </a:r>
            <a:r>
              <a:rPr lang="en-US" dirty="0"/>
              <a:t> through </a:t>
            </a:r>
            <a:r>
              <a:rPr lang="en-US" dirty="0" err="1"/>
              <a:t>RoP</a:t>
            </a:r>
            <a:r>
              <a:rPr lang="en-US" dirty="0"/>
              <a:t>/DPIA’s</a:t>
            </a:r>
          </a:p>
          <a:p>
            <a:r>
              <a:rPr lang="en-US" dirty="0"/>
              <a:t>03 Policies &amp; Procedures – Extensive contextualized documentation - document review service</a:t>
            </a:r>
          </a:p>
          <a:p>
            <a:r>
              <a:rPr lang="en-US" dirty="0"/>
              <a:t>04 Individuals Rights – supporting the rights of data subjects – logs and support for all data subjects rights</a:t>
            </a:r>
          </a:p>
          <a:p>
            <a:r>
              <a:rPr lang="en-US" dirty="0"/>
              <a:t>05 Contracts &amp; Data Sharing – third-party and contract compliances management – document review service</a:t>
            </a:r>
          </a:p>
          <a:p>
            <a:r>
              <a:rPr lang="en-US" dirty="0"/>
              <a:t>06 Transparency – Privacy notices – document review</a:t>
            </a:r>
          </a:p>
          <a:p>
            <a:r>
              <a:rPr lang="en-US" dirty="0"/>
              <a:t>07 Training &amp; Awareness – eLearning on GDPR – compliance management for document assignment – full manager reports – DP Proficiency Framework </a:t>
            </a:r>
          </a:p>
          <a:p>
            <a:r>
              <a:rPr lang="en-US" dirty="0"/>
              <a:t>08 Records Management &amp; Security – policies and guidance documents – reports on information assets: data locations, transportation, retention and destruction</a:t>
            </a:r>
          </a:p>
          <a:p>
            <a:r>
              <a:rPr lang="en-US" dirty="0"/>
              <a:t>09 Monitoring, Verification and Reporting – Measure Key Performance Indicators – SAR, Breach, FOI logs checklists – </a:t>
            </a:r>
            <a:r>
              <a:rPr lang="en-US" dirty="0" err="1"/>
              <a:t>RoP</a:t>
            </a:r>
            <a:r>
              <a:rPr lang="en-US" dirty="0"/>
              <a:t> – Visit reports DPO activity (tickets, visits, remote support)</a:t>
            </a:r>
          </a:p>
          <a:p>
            <a:r>
              <a:rPr lang="en-US" dirty="0"/>
              <a:t>10 Response &amp; Enforcement – FOI Management, ICO Logs, lesson learned, best practice and feedback</a:t>
            </a:r>
          </a:p>
          <a:p>
            <a:endParaRPr lang="en-GB"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chemeClr val="dk1"/>
              </a:buClr>
              <a:buSzPts val="300"/>
              <a:buFont typeface="Calibri"/>
              <a:buNone/>
            </a:pPr>
            <a:fld id="{00000000-1234-1234-1234-123412341234}" type="slidenum">
              <a:rPr lang="en-US" sz="1200" b="0" i="0" u="none" strike="noStrike" cap="none" smtClean="0">
                <a:solidFill>
                  <a:schemeClr val="dk1"/>
                </a:solidFill>
                <a:latin typeface="Calibri"/>
                <a:ea typeface="Calibri"/>
                <a:cs typeface="Calibri"/>
                <a:sym typeface="Calibri"/>
              </a:rPr>
              <a:t>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694021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Shape 10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 name="Shape 103"/>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200"/>
              <a:buFont typeface="Calibri"/>
              <a:buChar char="●"/>
            </a:pPr>
            <a:r>
              <a:rPr lang="en-US" dirty="0"/>
              <a:t>No one is expecting you to know all of  these but you eventually will!</a:t>
            </a:r>
          </a:p>
          <a:p>
            <a:pPr marL="0" marR="0" lvl="0" indent="0" algn="l" defTabSz="914400" rtl="0" eaLnBrk="1" fontAlgn="auto" latinLnBrk="0" hangingPunct="1">
              <a:lnSpc>
                <a:spcPct val="100000"/>
              </a:lnSpc>
              <a:spcBef>
                <a:spcPts val="0"/>
              </a:spcBef>
              <a:spcAft>
                <a:spcPts val="0"/>
              </a:spcAft>
              <a:buClr>
                <a:schemeClr val="dk1"/>
              </a:buClr>
              <a:buSzPts val="1200"/>
              <a:buFont typeface="Calibri"/>
              <a:buChar char="●"/>
              <a:tabLst/>
              <a:defRPr/>
            </a:pPr>
            <a:r>
              <a:rPr lang="en-US" dirty="0"/>
              <a:t>Explain the controller/processor part: </a:t>
            </a:r>
            <a:r>
              <a:rPr lang="en-US" b="1" i="0" dirty="0">
                <a:solidFill>
                  <a:srgbClr val="202124"/>
                </a:solidFill>
                <a:effectLst/>
                <a:latin typeface="arial" panose="020B0604020202020204" pitchFamily="34" charset="0"/>
              </a:rPr>
              <a:t>Controller: </a:t>
            </a:r>
            <a:r>
              <a:rPr lang="en-US" b="0" i="0" dirty="0">
                <a:solidFill>
                  <a:srgbClr val="202124"/>
                </a:solidFill>
                <a:effectLst/>
                <a:latin typeface="arial" panose="020B0604020202020204" pitchFamily="34" charset="0"/>
              </a:rPr>
              <a:t>determines the purposes and means of the processing and </a:t>
            </a:r>
            <a:r>
              <a:rPr lang="en-US" b="1" i="0" dirty="0">
                <a:solidFill>
                  <a:srgbClr val="202124"/>
                </a:solidFill>
                <a:effectLst/>
                <a:latin typeface="arial" panose="020B0604020202020204" pitchFamily="34" charset="0"/>
              </a:rPr>
              <a:t>Controllers</a:t>
            </a:r>
            <a:r>
              <a:rPr lang="en-US" b="0" i="0" dirty="0">
                <a:solidFill>
                  <a:srgbClr val="202124"/>
                </a:solidFill>
                <a:effectLst/>
                <a:latin typeface="arial" panose="020B0604020202020204" pitchFamily="34" charset="0"/>
              </a:rPr>
              <a:t> make decisions about processing activities. </a:t>
            </a:r>
            <a:r>
              <a:rPr lang="en-US" b="1" dirty="0"/>
              <a:t>Processor</a:t>
            </a:r>
            <a:r>
              <a:rPr lang="en-US" dirty="0"/>
              <a:t> acts on the controllers instructions.</a:t>
            </a:r>
          </a:p>
          <a:p>
            <a:pPr marL="0" marR="0" lvl="0" indent="0" algn="l" rtl="0">
              <a:lnSpc>
                <a:spcPct val="100000"/>
              </a:lnSpc>
              <a:spcBef>
                <a:spcPts val="0"/>
              </a:spcBef>
              <a:spcAft>
                <a:spcPts val="0"/>
              </a:spcAft>
              <a:buClr>
                <a:schemeClr val="dk1"/>
              </a:buClr>
              <a:buSzPts val="1200"/>
              <a:buFont typeface="Calibri"/>
              <a:buChar char="●"/>
            </a:pPr>
            <a:r>
              <a:rPr lang="en-US" b="0" i="0" dirty="0">
                <a:solidFill>
                  <a:srgbClr val="4D5156"/>
                </a:solidFill>
                <a:effectLst/>
                <a:latin typeface="arial" panose="020B0604020202020204" pitchFamily="34" charset="0"/>
              </a:rPr>
              <a:t>The UK </a:t>
            </a:r>
            <a:r>
              <a:rPr lang="en-US" b="1" i="0" dirty="0">
                <a:solidFill>
                  <a:srgbClr val="5F6368"/>
                </a:solidFill>
                <a:effectLst/>
                <a:latin typeface="arial" panose="020B0604020202020204" pitchFamily="34" charset="0"/>
              </a:rPr>
              <a:t>GDPR</a:t>
            </a:r>
            <a:r>
              <a:rPr lang="en-US" b="0" i="0" dirty="0">
                <a:solidFill>
                  <a:srgbClr val="4D5156"/>
                </a:solidFill>
                <a:effectLst/>
                <a:latin typeface="arial" panose="020B0604020202020204" pitchFamily="34" charset="0"/>
              </a:rPr>
              <a:t> defines a </a:t>
            </a:r>
            <a:r>
              <a:rPr lang="en-US" b="1" i="0" dirty="0">
                <a:solidFill>
                  <a:srgbClr val="5F6368"/>
                </a:solidFill>
                <a:effectLst/>
                <a:latin typeface="arial" panose="020B0604020202020204" pitchFamily="34" charset="0"/>
              </a:rPr>
              <a:t>processor</a:t>
            </a:r>
            <a:r>
              <a:rPr lang="en-US" b="0" i="0" dirty="0">
                <a:solidFill>
                  <a:srgbClr val="4D5156"/>
                </a:solidFill>
                <a:effectLst/>
                <a:latin typeface="arial" panose="020B0604020202020204" pitchFamily="34" charset="0"/>
              </a:rPr>
              <a:t> as: '</a:t>
            </a:r>
            <a:r>
              <a:rPr lang="en-US" b="1" i="0" dirty="0">
                <a:solidFill>
                  <a:srgbClr val="5F6368"/>
                </a:solidFill>
                <a:effectLst/>
                <a:latin typeface="arial" panose="020B0604020202020204" pitchFamily="34" charset="0"/>
              </a:rPr>
              <a:t>processor</a:t>
            </a:r>
            <a:r>
              <a:rPr lang="en-US" b="0" i="0" dirty="0">
                <a:solidFill>
                  <a:srgbClr val="4D5156"/>
                </a:solidFill>
                <a:effectLst/>
                <a:latin typeface="arial" panose="020B0604020202020204" pitchFamily="34" charset="0"/>
              </a:rPr>
              <a:t>' means a natural or legal person, public authority, agency or other body which processes personal data on behalf of the controller. </a:t>
            </a:r>
            <a:r>
              <a:rPr lang="en-US" b="1" i="0" dirty="0">
                <a:solidFill>
                  <a:srgbClr val="5F6368"/>
                </a:solidFill>
                <a:effectLst/>
                <a:latin typeface="arial" panose="020B0604020202020204" pitchFamily="34" charset="0"/>
              </a:rPr>
              <a:t>Processors</a:t>
            </a:r>
            <a:r>
              <a:rPr lang="en-US" b="0" i="0" dirty="0">
                <a:solidFill>
                  <a:srgbClr val="4D5156"/>
                </a:solidFill>
                <a:effectLst/>
                <a:latin typeface="arial" panose="020B0604020202020204" pitchFamily="34" charset="0"/>
              </a:rPr>
              <a:t> act on behalf of the relevant controller and </a:t>
            </a:r>
            <a:r>
              <a:rPr lang="en-US" b="1" i="0" dirty="0">
                <a:solidFill>
                  <a:srgbClr val="5F6368"/>
                </a:solidFill>
                <a:effectLst/>
                <a:latin typeface="arial" panose="020B0604020202020204" pitchFamily="34" charset="0"/>
              </a:rPr>
              <a:t>under</a:t>
            </a:r>
            <a:r>
              <a:rPr lang="en-US" b="0" i="0" dirty="0">
                <a:solidFill>
                  <a:srgbClr val="4D5156"/>
                </a:solidFill>
                <a:effectLst/>
                <a:latin typeface="arial" panose="020B0604020202020204" pitchFamily="34" charset="0"/>
              </a:rPr>
              <a:t> their authority.</a:t>
            </a:r>
            <a:endParaRPr lang="en-US" b="0" i="0" dirty="0">
              <a:solidFill>
                <a:srgbClr val="202124"/>
              </a:solidFill>
              <a:effectLst/>
              <a:latin typeface="arial" panose="020B0604020202020204" pitchFamily="34" charset="0"/>
            </a:endParaRPr>
          </a:p>
          <a:p>
            <a:pPr marL="0" marR="0" lvl="0" indent="0" algn="l" rtl="0">
              <a:lnSpc>
                <a:spcPct val="100000"/>
              </a:lnSpc>
              <a:spcBef>
                <a:spcPts val="0"/>
              </a:spcBef>
              <a:spcAft>
                <a:spcPts val="0"/>
              </a:spcAft>
              <a:buClr>
                <a:schemeClr val="dk1"/>
              </a:buClr>
              <a:buSzPts val="1200"/>
              <a:buFont typeface="Calibri"/>
              <a:buChar char="●"/>
            </a:pPr>
            <a:r>
              <a:rPr lang="en-GB" dirty="0"/>
              <a:t>Explain the role of the ICO – data governance, upholds the rights in the public interest.</a:t>
            </a:r>
          </a:p>
          <a:p>
            <a:pPr marL="0" marR="0" lvl="0" indent="0" algn="l" rtl="0">
              <a:lnSpc>
                <a:spcPct val="100000"/>
              </a:lnSpc>
              <a:spcBef>
                <a:spcPts val="0"/>
              </a:spcBef>
              <a:spcAft>
                <a:spcPts val="0"/>
              </a:spcAft>
              <a:buClr>
                <a:schemeClr val="dk1"/>
              </a:buClr>
              <a:buSzPts val="1200"/>
              <a:buFont typeface="Calibri"/>
              <a:buNone/>
            </a:pPr>
            <a:endParaRPr dirty="0"/>
          </a:p>
        </p:txBody>
      </p:sp>
      <p:sp>
        <p:nvSpPr>
          <p:cNvPr id="104" name="Shape 104"/>
          <p:cNvSpPr txBox="1">
            <a:spLocks noGrp="1"/>
          </p:cNvSpPr>
          <p:nvPr>
            <p:ph type="sldNum" idx="12"/>
          </p:nvPr>
        </p:nvSpPr>
        <p:spPr>
          <a:xfrm>
            <a:off x="3884612" y="8685213"/>
            <a:ext cx="2971799"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300"/>
              <a:buFont typeface="Calibri"/>
              <a:buNone/>
            </a:pPr>
            <a:fld id="{00000000-1234-1234-1234-123412341234}" type="slidenum">
              <a:rPr lang="en-US" sz="1200" b="0" i="0" u="none" strike="noStrike" cap="none">
                <a:solidFill>
                  <a:schemeClr val="dk1"/>
                </a:solidFill>
                <a:latin typeface="Calibri"/>
                <a:ea typeface="Calibri"/>
                <a:cs typeface="Calibri"/>
                <a:sym typeface="Calibri"/>
              </a:rPr>
              <a:t>4</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Are cabinets secured at night, are sensitive folders added to secure storage, are laptops closed down and stored securely, are office doors locked at the end of each day and during holiday periods/weekends, are there access controls in place for unauthorized staff – information classification?</a:t>
            </a:r>
            <a:endParaRPr lang="en-GB"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chemeClr val="dk1"/>
              </a:buClr>
              <a:buSzPts val="300"/>
              <a:buFont typeface="Calibri"/>
              <a:buNone/>
            </a:pPr>
            <a:fld id="{00000000-1234-1234-1234-123412341234}" type="slidenum">
              <a:rPr lang="en-US" sz="1200" b="0" i="0" u="none" strike="noStrike" cap="none" smtClean="0">
                <a:solidFill>
                  <a:schemeClr val="dk1"/>
                </a:solidFill>
                <a:latin typeface="Calibri"/>
                <a:ea typeface="Calibri"/>
                <a:cs typeface="Calibri"/>
                <a:sym typeface="Calibri"/>
              </a:rPr>
              <a:t>5</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3982431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2400" indent="0">
              <a:buNone/>
            </a:pPr>
            <a:r>
              <a:rPr lang="en-US" dirty="0"/>
              <a:t>60 seconds – discuss with staff</a:t>
            </a:r>
            <a:endParaRPr lang="en-GB"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chemeClr val="dk1"/>
              </a:buClr>
              <a:buSzPts val="300"/>
              <a:buFont typeface="Calibri"/>
              <a:buNone/>
            </a:pPr>
            <a:fld id="{00000000-1234-1234-1234-123412341234}" type="slidenum">
              <a:rPr lang="en-US" sz="1200" b="0" i="0" u="none" strike="noStrike" cap="none" smtClean="0">
                <a:solidFill>
                  <a:schemeClr val="dk1"/>
                </a:solidFill>
                <a:latin typeface="Calibri"/>
                <a:ea typeface="Calibri"/>
                <a:cs typeface="Calibri"/>
                <a:sym typeface="Calibri"/>
              </a:rPr>
              <a:t>6</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6862916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Shape 8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 name="Shape 85"/>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0"/>
              </a:spcBef>
              <a:spcAft>
                <a:spcPts val="0"/>
              </a:spcAft>
              <a:buClr>
                <a:schemeClr val="dk1"/>
              </a:buClr>
              <a:buSzPts val="1200"/>
              <a:buFont typeface="Calibri"/>
              <a:buNone/>
            </a:pPr>
            <a:r>
              <a:rPr lang="en-US" dirty="0"/>
              <a:t>Highlighting abuses of data.</a:t>
            </a:r>
            <a:endParaRPr dirty="0"/>
          </a:p>
          <a:p>
            <a:pPr algn="l" fontAlgn="base"/>
            <a:r>
              <a:rPr lang="en-US" dirty="0"/>
              <a:t>First Story – Headteacher using memory stick </a:t>
            </a:r>
            <a:r>
              <a:rPr lang="en-US" dirty="0" err="1"/>
              <a:t>inc</a:t>
            </a:r>
            <a:r>
              <a:rPr lang="en-US" dirty="0"/>
              <a:t>: names, unique pupil numbers, pupil attainment and progress and PM data for staff</a:t>
            </a:r>
          </a:p>
          <a:p>
            <a:pPr algn="l" fontAlgn="base"/>
            <a:r>
              <a:rPr lang="en-US" dirty="0"/>
              <a:t>Second story of lost terrorism paper...an example of “it will never happen to me”</a:t>
            </a:r>
          </a:p>
          <a:p>
            <a:pPr algn="l" fontAlgn="base"/>
            <a:r>
              <a:rPr lang="en-US" dirty="0"/>
              <a:t>Third Story – containing matters of national security - data being taken off site without prior permission or checks in place to ensure it was securely returned/destroyed</a:t>
            </a:r>
            <a:endParaRPr dirty="0"/>
          </a:p>
        </p:txBody>
      </p:sp>
      <p:sp>
        <p:nvSpPr>
          <p:cNvPr id="86" name="Shape 86"/>
          <p:cNvSpPr txBox="1">
            <a:spLocks noGrp="1"/>
          </p:cNvSpPr>
          <p:nvPr>
            <p:ph type="sldNum" idx="12"/>
          </p:nvPr>
        </p:nvSpPr>
        <p:spPr>
          <a:xfrm>
            <a:off x="3884612" y="8685213"/>
            <a:ext cx="2971799"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300"/>
              <a:buFont typeface="Calibri"/>
              <a:buNone/>
            </a:pPr>
            <a:fld id="{00000000-1234-1234-1234-123412341234}" type="slidenum">
              <a:rPr lang="en-US" sz="1200" b="0" i="0" u="none" strike="noStrike" cap="none">
                <a:solidFill>
                  <a:schemeClr val="dk1"/>
                </a:solidFill>
                <a:latin typeface="Calibri"/>
                <a:ea typeface="Calibri"/>
                <a:cs typeface="Calibri"/>
                <a:sym typeface="Calibri"/>
              </a:rPr>
              <a:t>7</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Special category data requires greater safeguards in place – the GDPR defines these listed – consider your access controls and the ways you would share this data if required.</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chemeClr val="dk1"/>
              </a:buClr>
              <a:buSzPts val="300"/>
              <a:buFont typeface="Calibri"/>
              <a:buNone/>
            </a:pPr>
            <a:fld id="{00000000-1234-1234-1234-123412341234}" type="slidenum">
              <a:rPr lang="en-US" sz="1200" b="0" i="0" u="none" strike="noStrike" cap="none" smtClean="0">
                <a:solidFill>
                  <a:schemeClr val="dk1"/>
                </a:solidFill>
                <a:latin typeface="Calibri"/>
                <a:ea typeface="Calibri"/>
                <a:cs typeface="Calibri"/>
                <a:sym typeface="Calibri"/>
              </a:rPr>
              <a:t>8</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0787649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Shape 123"/>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4" name="Shape 124"/>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0"/>
              </a:spcBef>
              <a:spcAft>
                <a:spcPts val="0"/>
              </a:spcAft>
              <a:buClr>
                <a:schemeClr val="dk1"/>
              </a:buClr>
              <a:buSzPts val="1200"/>
              <a:buFont typeface="Calibri"/>
              <a:buNone/>
            </a:pPr>
            <a:r>
              <a:rPr lang="en-GB" b="0" i="0" dirty="0">
                <a:solidFill>
                  <a:srgbClr val="111111"/>
                </a:solidFill>
                <a:effectLst/>
                <a:latin typeface="Roboto" panose="02000000000000000000" pitchFamily="2" charset="0"/>
              </a:rPr>
              <a:t>Data subject refers to any individual person who can be identified, directly or indirectly, via an identifier such as a name, an ID number, location data, or via factors specific to the person’s physical, physiological, genetic, mental, economic, cultural or social identity.</a:t>
            </a:r>
            <a:endParaRPr sz="1200" b="0" i="0" u="none" strike="noStrike" cap="none" dirty="0">
              <a:solidFill>
                <a:schemeClr val="dk1"/>
              </a:solidFill>
              <a:latin typeface="Calibri"/>
              <a:ea typeface="Calibri"/>
              <a:cs typeface="Calibri"/>
              <a:sym typeface="Calibri"/>
            </a:endParaRPr>
          </a:p>
        </p:txBody>
      </p:sp>
      <p:sp>
        <p:nvSpPr>
          <p:cNvPr id="125" name="Shape 125"/>
          <p:cNvSpPr txBox="1">
            <a:spLocks noGrp="1"/>
          </p:cNvSpPr>
          <p:nvPr>
            <p:ph type="sldNum" idx="12"/>
          </p:nvPr>
        </p:nvSpPr>
        <p:spPr>
          <a:xfrm>
            <a:off x="3884612" y="8685213"/>
            <a:ext cx="2971799"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300"/>
              <a:buFont typeface="Calibri"/>
              <a:buNone/>
            </a:pPr>
            <a:fld id="{00000000-1234-1234-1234-123412341234}" type="slidenum">
              <a:rPr lang="en-US" sz="1200" b="0" i="0" u="none" strike="noStrike" cap="none">
                <a:solidFill>
                  <a:schemeClr val="dk1"/>
                </a:solidFill>
                <a:latin typeface="Calibri"/>
                <a:ea typeface="Calibri"/>
                <a:cs typeface="Calibri"/>
                <a:sym typeface="Calibri"/>
              </a:rPr>
              <a:t>9</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Shape 147"/>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0" marR="0" lvl="0" indent="76200" algn="l" rtl="0">
              <a:lnSpc>
                <a:spcPct val="100000"/>
              </a:lnSpc>
              <a:spcBef>
                <a:spcPts val="0"/>
              </a:spcBef>
              <a:spcAft>
                <a:spcPts val="0"/>
              </a:spcAft>
              <a:buClr>
                <a:schemeClr val="dk1"/>
              </a:buClr>
              <a:buSzPts val="1200"/>
              <a:buFont typeface="Calibri"/>
              <a:buNone/>
            </a:pPr>
            <a:r>
              <a:rPr lang="en-US" dirty="0"/>
              <a:t>GDPR is principle based...it makes it aspirational....we have to demonstrate a commitment to GDPR</a:t>
            </a:r>
          </a:p>
          <a:p>
            <a:pPr marL="0" marR="0" lvl="0" indent="76200" algn="l" rtl="0">
              <a:lnSpc>
                <a:spcPct val="100000"/>
              </a:lnSpc>
              <a:spcBef>
                <a:spcPts val="0"/>
              </a:spcBef>
              <a:spcAft>
                <a:spcPts val="0"/>
              </a:spcAft>
              <a:buClr>
                <a:schemeClr val="dk1"/>
              </a:buClr>
              <a:buSzPts val="1200"/>
              <a:buFont typeface="Calibri"/>
              <a:buNone/>
            </a:pPr>
            <a:endParaRPr lang="en-US" sz="1200" b="0" i="0" u="none" strike="noStrike" cap="none" dirty="0">
              <a:solidFill>
                <a:schemeClr val="dk1"/>
              </a:solidFill>
              <a:latin typeface="Calibri"/>
              <a:ea typeface="Calibri"/>
              <a:cs typeface="Calibri"/>
              <a:sym typeface="Calibri"/>
            </a:endParaRPr>
          </a:p>
          <a:p>
            <a:pPr marL="228600" marR="0" lvl="0" indent="-228600" algn="l" rtl="0">
              <a:lnSpc>
                <a:spcPct val="100000"/>
              </a:lnSpc>
              <a:spcBef>
                <a:spcPts val="0"/>
              </a:spcBef>
              <a:spcAft>
                <a:spcPts val="0"/>
              </a:spcAft>
              <a:buClr>
                <a:schemeClr val="dk1"/>
              </a:buClr>
              <a:buSzPts val="1200"/>
              <a:buFont typeface="Calibri"/>
              <a:buAutoNum type="arabicPeriod"/>
            </a:pPr>
            <a:r>
              <a:rPr lang="en-US" sz="1200" b="0" i="0" u="none" strike="noStrike" cap="none" dirty="0">
                <a:solidFill>
                  <a:schemeClr val="dk1"/>
                </a:solidFill>
                <a:latin typeface="Calibri"/>
                <a:ea typeface="Calibri"/>
                <a:cs typeface="Calibri"/>
                <a:sym typeface="Calibri"/>
              </a:rPr>
              <a:t>Lawfully fairly and transparently (Privacy and comms)</a:t>
            </a:r>
          </a:p>
          <a:p>
            <a:pPr marL="228600" marR="0" lvl="0" indent="-228600" algn="l" rtl="0">
              <a:lnSpc>
                <a:spcPct val="100000"/>
              </a:lnSpc>
              <a:spcBef>
                <a:spcPts val="0"/>
              </a:spcBef>
              <a:spcAft>
                <a:spcPts val="0"/>
              </a:spcAft>
              <a:buClr>
                <a:schemeClr val="dk1"/>
              </a:buClr>
              <a:buSzPts val="1200"/>
              <a:buFont typeface="Calibri"/>
              <a:buAutoNum type="arabicPeriod"/>
            </a:pPr>
            <a:r>
              <a:rPr lang="en-US" sz="1200" b="0" i="0" u="none" strike="noStrike" cap="none" dirty="0">
                <a:solidFill>
                  <a:schemeClr val="dk1"/>
                </a:solidFill>
                <a:latin typeface="Calibri"/>
                <a:ea typeface="Calibri"/>
                <a:cs typeface="Calibri"/>
                <a:sym typeface="Calibri"/>
              </a:rPr>
              <a:t>Collected for specified, explicit and legitimate purposes – and not further processed (Purpose limitation) Function creep prevention – signing in out of workplace for evacuation and not for punctuality</a:t>
            </a:r>
          </a:p>
          <a:p>
            <a:pPr marL="228600" marR="0" lvl="0" indent="-228600" algn="l" rtl="0">
              <a:lnSpc>
                <a:spcPct val="100000"/>
              </a:lnSpc>
              <a:spcBef>
                <a:spcPts val="0"/>
              </a:spcBef>
              <a:spcAft>
                <a:spcPts val="0"/>
              </a:spcAft>
              <a:buClr>
                <a:schemeClr val="dk1"/>
              </a:buClr>
              <a:buSzPts val="1200"/>
              <a:buFont typeface="Calibri"/>
              <a:buAutoNum type="arabicPeriod"/>
            </a:pPr>
            <a:r>
              <a:rPr lang="en-US" sz="1200" b="0" i="0" u="none" strike="noStrike" cap="none" dirty="0">
                <a:solidFill>
                  <a:schemeClr val="dk1"/>
                </a:solidFill>
                <a:latin typeface="Calibri"/>
                <a:ea typeface="Calibri"/>
                <a:cs typeface="Calibri"/>
                <a:sym typeface="Calibri"/>
              </a:rPr>
              <a:t>Adequate, relevant and limited to what’s necessary (data minimization)</a:t>
            </a:r>
          </a:p>
          <a:p>
            <a:pPr marL="228600" marR="0" lvl="0" indent="-228600" algn="l" rtl="0">
              <a:lnSpc>
                <a:spcPct val="100000"/>
              </a:lnSpc>
              <a:spcBef>
                <a:spcPts val="0"/>
              </a:spcBef>
              <a:spcAft>
                <a:spcPts val="0"/>
              </a:spcAft>
              <a:buClr>
                <a:schemeClr val="dk1"/>
              </a:buClr>
              <a:buSzPts val="1200"/>
              <a:buFont typeface="Calibri"/>
              <a:buAutoNum type="arabicPeriod"/>
            </a:pPr>
            <a:r>
              <a:rPr lang="en-US" sz="1200" b="0" i="0" u="none" strike="noStrike" cap="none" dirty="0">
                <a:solidFill>
                  <a:schemeClr val="dk1"/>
                </a:solidFill>
                <a:latin typeface="Calibri"/>
                <a:ea typeface="Calibri"/>
                <a:cs typeface="Calibri"/>
                <a:sym typeface="Calibri"/>
              </a:rPr>
              <a:t>Accurate and where necessary kept up to date (data collections </a:t>
            </a:r>
            <a:r>
              <a:rPr lang="en-US" sz="1200" b="0" i="0" u="none" strike="noStrike" cap="none" dirty="0" err="1">
                <a:solidFill>
                  <a:schemeClr val="dk1"/>
                </a:solidFill>
                <a:latin typeface="Calibri"/>
                <a:ea typeface="Calibri"/>
                <a:cs typeface="Calibri"/>
                <a:sym typeface="Calibri"/>
              </a:rPr>
              <a:t>etc</a:t>
            </a:r>
            <a:r>
              <a:rPr lang="en-US" sz="1200" b="0" i="0" u="none" strike="noStrike" cap="none" dirty="0">
                <a:solidFill>
                  <a:schemeClr val="dk1"/>
                </a:solidFill>
                <a:latin typeface="Calibri"/>
                <a:ea typeface="Calibri"/>
                <a:cs typeface="Calibri"/>
                <a:sym typeface="Calibri"/>
              </a:rPr>
              <a:t>)</a:t>
            </a:r>
          </a:p>
          <a:p>
            <a:pPr marL="228600" marR="0" lvl="0" indent="-228600" algn="l" rtl="0">
              <a:lnSpc>
                <a:spcPct val="100000"/>
              </a:lnSpc>
              <a:spcBef>
                <a:spcPts val="0"/>
              </a:spcBef>
              <a:spcAft>
                <a:spcPts val="0"/>
              </a:spcAft>
              <a:buClr>
                <a:schemeClr val="dk1"/>
              </a:buClr>
              <a:buSzPts val="1200"/>
              <a:buFont typeface="Calibri"/>
              <a:buAutoNum type="arabicPeriod"/>
            </a:pPr>
            <a:r>
              <a:rPr lang="en-US" sz="1200" b="0" i="0" u="none" strike="noStrike" cap="none" dirty="0">
                <a:solidFill>
                  <a:schemeClr val="dk1"/>
                </a:solidFill>
                <a:latin typeface="Calibri"/>
                <a:ea typeface="Calibri"/>
                <a:cs typeface="Calibri"/>
                <a:sym typeface="Calibri"/>
              </a:rPr>
              <a:t>Kept in a form which permits identification of data subjects for no longer than necessary</a:t>
            </a:r>
          </a:p>
          <a:p>
            <a:pPr marL="228600" marR="0" lvl="0" indent="-228600" algn="l" rtl="0">
              <a:lnSpc>
                <a:spcPct val="100000"/>
              </a:lnSpc>
              <a:spcBef>
                <a:spcPts val="0"/>
              </a:spcBef>
              <a:spcAft>
                <a:spcPts val="0"/>
              </a:spcAft>
              <a:buClr>
                <a:schemeClr val="dk1"/>
              </a:buClr>
              <a:buSzPts val="1200"/>
              <a:buFont typeface="Calibri"/>
              <a:buAutoNum type="arabicPeriod"/>
            </a:pPr>
            <a:r>
              <a:rPr lang="en-US" sz="1200" b="0" i="0" u="none" strike="noStrike" cap="none" dirty="0">
                <a:solidFill>
                  <a:schemeClr val="dk1"/>
                </a:solidFill>
                <a:latin typeface="Calibri"/>
                <a:ea typeface="Calibri"/>
                <a:cs typeface="Calibri"/>
                <a:sym typeface="Calibri"/>
              </a:rPr>
              <a:t>Processed in a manner that ensure appropriate security</a:t>
            </a:r>
          </a:p>
          <a:p>
            <a:pPr marL="228600" marR="0" lvl="0" indent="-228600" algn="l" rtl="0">
              <a:lnSpc>
                <a:spcPct val="100000"/>
              </a:lnSpc>
              <a:spcBef>
                <a:spcPts val="0"/>
              </a:spcBef>
              <a:spcAft>
                <a:spcPts val="0"/>
              </a:spcAft>
              <a:buClr>
                <a:schemeClr val="dk1"/>
              </a:buClr>
              <a:buSzPts val="1200"/>
              <a:buFont typeface="Calibri"/>
              <a:buAutoNum type="arabicPeriod"/>
            </a:pPr>
            <a:r>
              <a:rPr lang="en-US" sz="1200" b="0" i="0" u="none" strike="noStrike" cap="none" dirty="0">
                <a:solidFill>
                  <a:schemeClr val="dk1"/>
                </a:solidFill>
                <a:latin typeface="Calibri"/>
                <a:ea typeface="Calibri"/>
                <a:cs typeface="Calibri"/>
                <a:sym typeface="Calibri"/>
              </a:rPr>
              <a:t>Accountability with the above – take responsibility for what you do with personal data – treat others data the way you wish for yours to be treated.</a:t>
            </a:r>
          </a:p>
        </p:txBody>
      </p:sp>
      <p:sp>
        <p:nvSpPr>
          <p:cNvPr id="148" name="Shape 14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Shape 15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6" name="Shape 156"/>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b="0" i="0" u="none" strike="noStrike" cap="none" dirty="0">
                <a:solidFill>
                  <a:schemeClr val="dk1"/>
                </a:solidFill>
                <a:latin typeface="Calibri"/>
                <a:ea typeface="Calibri"/>
                <a:cs typeface="Calibri"/>
                <a:sym typeface="Calibri"/>
              </a:rPr>
              <a:t>Known as the lawful basis and if you were externally audited you would have to evidence this. DPE uses the record of processing activity to complete this task.</a:t>
            </a:r>
            <a:endParaRPr sz="12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endParaRPr sz="1200" b="0" i="0" u="none" strike="noStrike" cap="none" dirty="0">
              <a:solidFill>
                <a:schemeClr val="dk1"/>
              </a:solidFill>
              <a:latin typeface="Calibri"/>
              <a:ea typeface="Calibri"/>
              <a:cs typeface="Calibri"/>
              <a:sym typeface="Calibri"/>
            </a:endParaRPr>
          </a:p>
          <a:p>
            <a:pPr marL="171450" marR="0" lvl="0" indent="-171450" algn="l" rtl="0">
              <a:lnSpc>
                <a:spcPct val="100000"/>
              </a:lnSpc>
              <a:spcBef>
                <a:spcPts val="0"/>
              </a:spcBef>
              <a:spcAft>
                <a:spcPts val="0"/>
              </a:spcAft>
              <a:buClr>
                <a:schemeClr val="dk1"/>
              </a:buClr>
              <a:buSzPts val="1200"/>
              <a:buFont typeface="Arial"/>
              <a:buChar char="•"/>
            </a:pPr>
            <a:r>
              <a:rPr lang="en-US" sz="1200" b="0" i="0" u="none" strike="noStrike" cap="none" dirty="0">
                <a:solidFill>
                  <a:srgbClr val="024663"/>
                </a:solidFill>
                <a:latin typeface="Calibri"/>
                <a:ea typeface="Calibri"/>
                <a:cs typeface="Calibri"/>
                <a:sym typeface="Calibri"/>
              </a:rPr>
              <a:t>Contract - Such as employment contracts for staff.</a:t>
            </a:r>
            <a:endParaRPr sz="1200" b="0" i="0" u="none" strike="noStrike" cap="none" dirty="0">
              <a:solidFill>
                <a:schemeClr val="dk1"/>
              </a:solidFill>
              <a:latin typeface="Calibri"/>
              <a:ea typeface="Calibri"/>
              <a:cs typeface="Calibri"/>
              <a:sym typeface="Calibri"/>
            </a:endParaRPr>
          </a:p>
          <a:p>
            <a:pPr marL="171450" marR="0" lvl="0" indent="-171450" algn="l" defTabSz="914400" rtl="0" eaLnBrk="1" fontAlgn="auto" latinLnBrk="0" hangingPunct="1">
              <a:lnSpc>
                <a:spcPct val="100000"/>
              </a:lnSpc>
              <a:spcBef>
                <a:spcPts val="0"/>
              </a:spcBef>
              <a:spcAft>
                <a:spcPts val="0"/>
              </a:spcAft>
              <a:buClr>
                <a:schemeClr val="dk1"/>
              </a:buClr>
              <a:buSzPts val="1200"/>
              <a:buFont typeface="Arial"/>
              <a:buChar char="•"/>
              <a:tabLst/>
              <a:defRPr/>
            </a:pPr>
            <a:r>
              <a:rPr lang="en-US" sz="1200" b="0" i="0" u="none" strike="noStrike" cap="none" dirty="0">
                <a:solidFill>
                  <a:srgbClr val="024663"/>
                </a:solidFill>
                <a:latin typeface="Calibri"/>
                <a:ea typeface="Calibri"/>
                <a:cs typeface="Calibri"/>
                <a:sym typeface="Calibri"/>
              </a:rPr>
              <a:t>Consent - Information Societ</a:t>
            </a:r>
            <a:r>
              <a:rPr lang="en-US" dirty="0">
                <a:solidFill>
                  <a:srgbClr val="024663"/>
                </a:solidFill>
              </a:rPr>
              <a:t>y Services: </a:t>
            </a:r>
            <a:r>
              <a:rPr lang="en-US" sz="1200" b="0" i="0" u="none" strike="noStrike" cap="none" dirty="0">
                <a:solidFill>
                  <a:srgbClr val="024663"/>
                </a:solidFill>
                <a:latin typeface="Calibri"/>
                <a:ea typeface="Calibri"/>
                <a:cs typeface="Calibri"/>
                <a:sym typeface="Calibri"/>
              </a:rPr>
              <a:t>For children under the age of 13, this consent must be given by their parents. Consent may also be withdrawn. A</a:t>
            </a:r>
            <a:r>
              <a:rPr lang="en-US" dirty="0">
                <a:solidFill>
                  <a:srgbClr val="024663"/>
                </a:solidFill>
              </a:rPr>
              <a:t>sk where consent is used...no need for consent where a legal obligation exists (</a:t>
            </a:r>
            <a:r>
              <a:rPr lang="en-US" dirty="0" err="1">
                <a:solidFill>
                  <a:srgbClr val="024663"/>
                </a:solidFill>
              </a:rPr>
              <a:t>eg.</a:t>
            </a:r>
            <a:r>
              <a:rPr lang="en-US" dirty="0">
                <a:solidFill>
                  <a:srgbClr val="024663"/>
                </a:solidFill>
              </a:rPr>
              <a:t> medical  - Children and families Act 2014) </a:t>
            </a:r>
            <a:r>
              <a:rPr lang="en-US" sz="1200" b="0" i="0" u="none" strike="noStrike" cap="none" dirty="0">
                <a:solidFill>
                  <a:schemeClr val="dk1"/>
                </a:solidFill>
                <a:latin typeface="Calibri"/>
                <a:ea typeface="Calibri"/>
                <a:cs typeface="Calibri"/>
                <a:sym typeface="Calibri"/>
              </a:rPr>
              <a:t>Consent must be explicit</a:t>
            </a:r>
            <a:r>
              <a:rPr lang="en-US" dirty="0"/>
              <a:t>, freely given, unambiguous...and as easy to withdraw as it is to give</a:t>
            </a:r>
            <a:endParaRPr lang="en-US" sz="1200" b="0" i="0" u="none" strike="noStrike" cap="none" dirty="0">
              <a:solidFill>
                <a:schemeClr val="dk1"/>
              </a:solidFill>
              <a:latin typeface="Calibri"/>
              <a:ea typeface="Calibri"/>
              <a:cs typeface="Calibri"/>
              <a:sym typeface="Calibri"/>
            </a:endParaRPr>
          </a:p>
          <a:p>
            <a:pPr marL="171450" marR="0" lvl="0" indent="-171450" algn="l" rtl="0">
              <a:lnSpc>
                <a:spcPct val="100000"/>
              </a:lnSpc>
              <a:spcBef>
                <a:spcPts val="0"/>
              </a:spcBef>
              <a:spcAft>
                <a:spcPts val="0"/>
              </a:spcAft>
              <a:buClr>
                <a:schemeClr val="dk1"/>
              </a:buClr>
              <a:buSzPts val="1200"/>
              <a:buFont typeface="Arial"/>
              <a:buChar char="•"/>
            </a:pPr>
            <a:r>
              <a:rPr lang="en-US" sz="1200" b="0" i="0" u="none" strike="noStrike" cap="none" dirty="0">
                <a:solidFill>
                  <a:srgbClr val="024663"/>
                </a:solidFill>
                <a:latin typeface="Calibri"/>
                <a:ea typeface="Calibri"/>
                <a:cs typeface="Calibri"/>
                <a:sym typeface="Calibri"/>
              </a:rPr>
              <a:t>Legal obligation - Such as collecting attendance data for statutory returns.</a:t>
            </a:r>
            <a:endParaRPr sz="1200" b="0" i="0" u="none" strike="noStrike" cap="none" dirty="0">
              <a:solidFill>
                <a:schemeClr val="dk1"/>
              </a:solidFill>
              <a:latin typeface="Calibri"/>
              <a:ea typeface="Calibri"/>
              <a:cs typeface="Calibri"/>
              <a:sym typeface="Calibri"/>
            </a:endParaRPr>
          </a:p>
          <a:p>
            <a:pPr marL="171450" marR="0" lvl="0" indent="-171450" algn="l" rtl="0">
              <a:lnSpc>
                <a:spcPct val="100000"/>
              </a:lnSpc>
              <a:spcBef>
                <a:spcPts val="0"/>
              </a:spcBef>
              <a:spcAft>
                <a:spcPts val="0"/>
              </a:spcAft>
              <a:buClr>
                <a:schemeClr val="dk1"/>
              </a:buClr>
              <a:buSzPts val="1200"/>
              <a:buFont typeface="Arial"/>
              <a:buChar char="•"/>
            </a:pPr>
            <a:r>
              <a:rPr lang="en-US" sz="1200" b="0" i="0" u="none" strike="noStrike" cap="none" dirty="0">
                <a:solidFill>
                  <a:srgbClr val="024663"/>
                </a:solidFill>
                <a:latin typeface="Calibri"/>
                <a:ea typeface="Calibri"/>
                <a:cs typeface="Calibri"/>
                <a:sym typeface="Calibri"/>
              </a:rPr>
              <a:t>Vital interests - Such as disclosing medical information to health professionals or information for references.</a:t>
            </a:r>
            <a:endParaRPr sz="1200" b="0" i="0" u="none" strike="noStrike" cap="none" dirty="0">
              <a:solidFill>
                <a:schemeClr val="dk1"/>
              </a:solidFill>
              <a:latin typeface="Calibri"/>
              <a:ea typeface="Calibri"/>
              <a:cs typeface="Calibri"/>
              <a:sym typeface="Calibri"/>
            </a:endParaRPr>
          </a:p>
          <a:p>
            <a:pPr marL="171450" marR="0" lvl="0" indent="-171450" algn="l" rtl="0">
              <a:lnSpc>
                <a:spcPct val="100000"/>
              </a:lnSpc>
              <a:spcBef>
                <a:spcPts val="0"/>
              </a:spcBef>
              <a:spcAft>
                <a:spcPts val="0"/>
              </a:spcAft>
              <a:buClr>
                <a:schemeClr val="dk1"/>
              </a:buClr>
              <a:buSzPts val="1200"/>
              <a:buFont typeface="Arial"/>
              <a:buChar char="•"/>
            </a:pPr>
            <a:r>
              <a:rPr lang="en-US" sz="1200" b="0" i="0" u="none" strike="noStrike" cap="none" dirty="0">
                <a:solidFill>
                  <a:srgbClr val="024663"/>
                </a:solidFill>
                <a:latin typeface="Calibri"/>
                <a:ea typeface="Calibri"/>
                <a:cs typeface="Calibri"/>
                <a:sym typeface="Calibri"/>
              </a:rPr>
              <a:t>Public interest - This applies to data collected for statutory purposes. (ICO for schools </a:t>
            </a:r>
            <a:r>
              <a:rPr lang="en-US" dirty="0">
                <a:solidFill>
                  <a:srgbClr val="024663"/>
                </a:solidFill>
              </a:rPr>
              <a:t>“most, if not all of your data...”) </a:t>
            </a:r>
            <a:endParaRPr sz="1200" b="0" i="0" u="none" strike="noStrike" cap="none" dirty="0">
              <a:solidFill>
                <a:schemeClr val="dk1"/>
              </a:solidFill>
              <a:latin typeface="Calibri"/>
              <a:ea typeface="Calibri"/>
              <a:cs typeface="Calibri"/>
              <a:sym typeface="Calibri"/>
            </a:endParaRPr>
          </a:p>
          <a:p>
            <a:pPr marL="171450" marR="0" lvl="0" indent="-171450" algn="l" rtl="0">
              <a:lnSpc>
                <a:spcPct val="100000"/>
              </a:lnSpc>
              <a:spcBef>
                <a:spcPts val="0"/>
              </a:spcBef>
              <a:spcAft>
                <a:spcPts val="0"/>
              </a:spcAft>
              <a:buClr>
                <a:schemeClr val="dk1"/>
              </a:buClr>
              <a:buSzPts val="1200"/>
              <a:buFont typeface="Arial"/>
              <a:buChar char="•"/>
            </a:pPr>
            <a:r>
              <a:rPr lang="en-US" sz="1200" b="0" i="0" u="none" strike="noStrike" cap="none" dirty="0">
                <a:solidFill>
                  <a:srgbClr val="024663"/>
                </a:solidFill>
                <a:latin typeface="Calibri"/>
                <a:ea typeface="Calibri"/>
                <a:cs typeface="Calibri"/>
                <a:sym typeface="Calibri"/>
              </a:rPr>
              <a:t>Legitimate interest - Such as for marketing purposes. If you do use email marketing, consent is the most appropriate basis for processing this data. Not really to be used by pu</a:t>
            </a:r>
            <a:r>
              <a:rPr lang="en-US" dirty="0">
                <a:solidFill>
                  <a:srgbClr val="024663"/>
                </a:solidFill>
              </a:rPr>
              <a:t>blic authorities</a:t>
            </a:r>
            <a:endParaRPr sz="12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endParaRPr sz="1200" b="0" i="0" u="none" strike="noStrike" cap="none" dirty="0">
              <a:solidFill>
                <a:schemeClr val="dk1"/>
              </a:solidFill>
              <a:latin typeface="Calibri"/>
              <a:ea typeface="Calibri"/>
              <a:cs typeface="Calibri"/>
              <a:sym typeface="Calibri"/>
            </a:endParaRPr>
          </a:p>
        </p:txBody>
      </p:sp>
      <p:sp>
        <p:nvSpPr>
          <p:cNvPr id="157" name="Shape 157"/>
          <p:cNvSpPr txBox="1">
            <a:spLocks noGrp="1"/>
          </p:cNvSpPr>
          <p:nvPr>
            <p:ph type="sldNum" idx="12"/>
          </p:nvPr>
        </p:nvSpPr>
        <p:spPr>
          <a:xfrm>
            <a:off x="3884612" y="8685213"/>
            <a:ext cx="2971799"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300"/>
              <a:buFont typeface="Calibri"/>
              <a:buNone/>
            </a:pPr>
            <a:fld id="{00000000-1234-1234-1234-123412341234}" type="slidenum">
              <a:rPr lang="en-US" sz="1200" b="0" i="0" u="none" strike="noStrike" cap="none">
                <a:solidFill>
                  <a:schemeClr val="dk1"/>
                </a:solidFill>
                <a:latin typeface="Calibri"/>
                <a:ea typeface="Calibri"/>
                <a:cs typeface="Calibri"/>
                <a:sym typeface="Calibri"/>
              </a:rPr>
              <a:t>11</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Shape 17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5" name="Shape 175"/>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sz="1200" b="0" i="0" u="none" strike="noStrike" cap="none" dirty="0">
                <a:solidFill>
                  <a:schemeClr val="dk1"/>
                </a:solidFill>
                <a:latin typeface="Calibri"/>
                <a:ea typeface="Calibri"/>
                <a:cs typeface="Calibri"/>
                <a:sym typeface="Calibri"/>
              </a:rPr>
              <a:t>Right of access relates to subject access requests and the data must be shared with the data subject within one month</a:t>
            </a:r>
            <a:endParaRPr lang="en-US" sz="1200" b="0" i="0" u="none" strike="noStrike" cap="none" dirty="0">
              <a:solidFill>
                <a:schemeClr val="dk1"/>
              </a:solidFill>
              <a:effectLst/>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cap="none" dirty="0">
              <a:solidFill>
                <a:schemeClr val="dk1"/>
              </a:solidFill>
              <a:effectLst/>
              <a:latin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endParaRPr sz="12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r>
              <a:rPr lang="en-US" sz="1200" b="0" i="0" u="none" strike="noStrike" cap="none" dirty="0">
                <a:solidFill>
                  <a:schemeClr val="dk1"/>
                </a:solidFill>
                <a:latin typeface="Calibri"/>
                <a:ea typeface="Calibri"/>
                <a:cs typeface="Calibri"/>
                <a:sym typeface="Calibri"/>
              </a:rPr>
              <a:t>Schools say that subject access requests tend to be</a:t>
            </a:r>
            <a:endParaRPr sz="12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r>
              <a:rPr lang="en-US" sz="1200" b="0" i="0" u="none" strike="noStrike" cap="none" dirty="0">
                <a:solidFill>
                  <a:schemeClr val="dk1"/>
                </a:solidFill>
                <a:latin typeface="Calibri"/>
                <a:ea typeface="Calibri"/>
                <a:cs typeface="Calibri"/>
                <a:sym typeface="Calibri"/>
              </a:rPr>
              <a:t>From parents when their child has had an issue with another child – issues over protecting the other child’s information here</a:t>
            </a:r>
            <a:endParaRPr sz="12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r>
              <a:rPr lang="en-US" sz="1200" b="0" i="0" u="none" strike="noStrike" cap="none" dirty="0">
                <a:solidFill>
                  <a:schemeClr val="dk1"/>
                </a:solidFill>
                <a:latin typeface="Calibri"/>
                <a:ea typeface="Calibri"/>
                <a:cs typeface="Calibri"/>
                <a:sym typeface="Calibri"/>
              </a:rPr>
              <a:t>From staff when there is a grievance</a:t>
            </a:r>
          </a:p>
          <a:p>
            <a:pPr marL="0" marR="0" lvl="0" indent="0" algn="l" rtl="0">
              <a:lnSpc>
                <a:spcPct val="100000"/>
              </a:lnSpc>
              <a:spcBef>
                <a:spcPts val="0"/>
              </a:spcBef>
              <a:spcAft>
                <a:spcPts val="0"/>
              </a:spcAft>
              <a:buClr>
                <a:schemeClr val="dk1"/>
              </a:buClr>
              <a:buSzPts val="1200"/>
              <a:buFont typeface="Calibri"/>
              <a:buNone/>
            </a:pPr>
            <a:endParaRPr lang="en-US" sz="12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r>
              <a:rPr lang="en-US" dirty="0">
                <a:effectLst/>
              </a:rPr>
              <a:t>The GDPR has provisions on: automated individual decision-making (making a</a:t>
            </a:r>
            <a:r>
              <a:rPr lang="en-US" b="1" dirty="0">
                <a:solidFill>
                  <a:srgbClr val="767676"/>
                </a:solidFill>
                <a:effectLst/>
              </a:rPr>
              <a:t> decision</a:t>
            </a:r>
            <a:r>
              <a:rPr lang="en-US" dirty="0">
                <a:effectLst/>
              </a:rPr>
              <a:t> solely by</a:t>
            </a:r>
            <a:r>
              <a:rPr lang="en-US" b="1" dirty="0">
                <a:solidFill>
                  <a:srgbClr val="767676"/>
                </a:solidFill>
                <a:effectLst/>
              </a:rPr>
              <a:t> automated means without any human involvement</a:t>
            </a:r>
            <a:r>
              <a:rPr lang="en-US" dirty="0">
                <a:effectLst/>
              </a:rPr>
              <a:t>); and profiling (automated processing of personal data to evaluate certain things about an individual). Profiling can be part of an automated decision-making process. </a:t>
            </a:r>
            <a:r>
              <a:rPr lang="en-GB" b="1" i="0" dirty="0">
                <a:solidFill>
                  <a:srgbClr val="767676"/>
                </a:solidFill>
                <a:effectLst/>
                <a:latin typeface="Roboto"/>
              </a:rPr>
              <a:t>Psychometric profiling</a:t>
            </a:r>
          </a:p>
          <a:p>
            <a:pPr marL="0" marR="0" lvl="0" indent="0" algn="l" rtl="0">
              <a:lnSpc>
                <a:spcPct val="100000"/>
              </a:lnSpc>
              <a:spcBef>
                <a:spcPts val="0"/>
              </a:spcBef>
              <a:spcAft>
                <a:spcPts val="0"/>
              </a:spcAft>
              <a:buClr>
                <a:schemeClr val="dk1"/>
              </a:buClr>
              <a:buSzPts val="1200"/>
              <a:buFont typeface="Calibri"/>
              <a:buNone/>
            </a:pPr>
            <a:endParaRPr lang="en-GB" b="1" i="0" dirty="0">
              <a:solidFill>
                <a:srgbClr val="767676"/>
              </a:solidFill>
              <a:effectLst/>
              <a:latin typeface="Roboto"/>
            </a:endParaRPr>
          </a:p>
          <a:p>
            <a:pPr algn="l">
              <a:buFont typeface="Arial" panose="020B0604020202020204" pitchFamily="34" charset="0"/>
              <a:buChar char="•"/>
            </a:pPr>
            <a:r>
              <a:rPr lang="en-US" b="0" i="0" dirty="0">
                <a:solidFill>
                  <a:srgbClr val="000000"/>
                </a:solidFill>
                <a:effectLst/>
                <a:latin typeface="Verdana" panose="020B0604030504040204" pitchFamily="34" charset="0"/>
              </a:rPr>
              <a:t>The UK GDPR applies to all automated individual decision-making and profiling.</a:t>
            </a:r>
          </a:p>
          <a:p>
            <a:pPr algn="l">
              <a:buFont typeface="Arial" panose="020B0604020202020204" pitchFamily="34" charset="0"/>
              <a:buChar char="•"/>
            </a:pPr>
            <a:r>
              <a:rPr lang="en-US" b="0" i="0" dirty="0">
                <a:solidFill>
                  <a:srgbClr val="000000"/>
                </a:solidFill>
                <a:effectLst/>
                <a:latin typeface="Verdana" panose="020B0604030504040204" pitchFamily="34" charset="0"/>
              </a:rPr>
              <a:t>Article 22 of the UK GDPR has additional rules to protect individuals if you are carrying out solely automated decision-making that has legal or similarly significant effects on them.</a:t>
            </a:r>
          </a:p>
          <a:p>
            <a:pPr algn="l">
              <a:buFont typeface="Arial" panose="020B0604020202020204" pitchFamily="34" charset="0"/>
              <a:buChar char="•"/>
            </a:pPr>
            <a:r>
              <a:rPr lang="en-US" b="0" i="0" dirty="0">
                <a:solidFill>
                  <a:srgbClr val="000000"/>
                </a:solidFill>
                <a:effectLst/>
                <a:latin typeface="Verdana" panose="020B0604030504040204" pitchFamily="34" charset="0"/>
              </a:rPr>
              <a:t>You can only carry out this type of decision-making where the decision is:</a:t>
            </a:r>
          </a:p>
          <a:p>
            <a:pPr marL="742950" lvl="1" indent="-285750" algn="l">
              <a:buFont typeface="Arial" panose="020B0604020202020204" pitchFamily="34" charset="0"/>
              <a:buChar char="•"/>
            </a:pPr>
            <a:r>
              <a:rPr lang="en-US" b="0" i="0" dirty="0">
                <a:solidFill>
                  <a:srgbClr val="000000"/>
                </a:solidFill>
                <a:effectLst/>
                <a:latin typeface="Verdana" panose="020B0604030504040204" pitchFamily="34" charset="0"/>
              </a:rPr>
              <a:t>necessary for the entry into or performance of a contract; or</a:t>
            </a:r>
          </a:p>
          <a:p>
            <a:pPr marL="742950" lvl="1" indent="-285750" algn="l">
              <a:buFont typeface="Arial" panose="020B0604020202020204" pitchFamily="34" charset="0"/>
              <a:buChar char="•"/>
            </a:pPr>
            <a:r>
              <a:rPr lang="en-US" b="0" i="0" dirty="0" err="1">
                <a:solidFill>
                  <a:srgbClr val="000000"/>
                </a:solidFill>
                <a:effectLst/>
                <a:latin typeface="Verdana" panose="020B0604030504040204" pitchFamily="34" charset="0"/>
              </a:rPr>
              <a:t>authorised</a:t>
            </a:r>
            <a:r>
              <a:rPr lang="en-US" b="0" i="0" dirty="0">
                <a:solidFill>
                  <a:srgbClr val="000000"/>
                </a:solidFill>
                <a:effectLst/>
                <a:latin typeface="Verdana" panose="020B0604030504040204" pitchFamily="34" charset="0"/>
              </a:rPr>
              <a:t> by domestic law applicable to the controller; or</a:t>
            </a:r>
          </a:p>
          <a:p>
            <a:pPr marL="742950" lvl="1" indent="-285750" algn="l">
              <a:buFont typeface="Arial" panose="020B0604020202020204" pitchFamily="34" charset="0"/>
              <a:buChar char="•"/>
            </a:pPr>
            <a:r>
              <a:rPr lang="en-US" b="0" i="0" dirty="0">
                <a:solidFill>
                  <a:srgbClr val="000000"/>
                </a:solidFill>
                <a:effectLst/>
                <a:latin typeface="Verdana" panose="020B0604030504040204" pitchFamily="34" charset="0"/>
              </a:rPr>
              <a:t>based on the individual’s explicit consent.</a:t>
            </a:r>
          </a:p>
          <a:p>
            <a:pPr algn="l">
              <a:buFont typeface="Arial" panose="020B0604020202020204" pitchFamily="34" charset="0"/>
              <a:buChar char="•"/>
            </a:pPr>
            <a:r>
              <a:rPr lang="en-US" b="0" i="0" dirty="0">
                <a:solidFill>
                  <a:srgbClr val="000000"/>
                </a:solidFill>
                <a:effectLst/>
                <a:latin typeface="Verdana" panose="020B0604030504040204" pitchFamily="34" charset="0"/>
              </a:rPr>
              <a:t>You must identify whether any of your processing falls under Article 22 and, if so, make sure that you:</a:t>
            </a:r>
          </a:p>
          <a:p>
            <a:pPr marL="742950" lvl="1" indent="-285750" algn="l">
              <a:buFont typeface="Arial" panose="020B0604020202020204" pitchFamily="34" charset="0"/>
              <a:buChar char="•"/>
            </a:pPr>
            <a:r>
              <a:rPr lang="en-US" b="0" i="0" dirty="0">
                <a:solidFill>
                  <a:srgbClr val="000000"/>
                </a:solidFill>
                <a:effectLst/>
                <a:latin typeface="Verdana" panose="020B0604030504040204" pitchFamily="34" charset="0"/>
              </a:rPr>
              <a:t>give individuals information about the processing;</a:t>
            </a:r>
          </a:p>
          <a:p>
            <a:pPr marL="742950" lvl="1" indent="-285750" algn="l">
              <a:buFont typeface="Arial" panose="020B0604020202020204" pitchFamily="34" charset="0"/>
              <a:buChar char="•"/>
            </a:pPr>
            <a:r>
              <a:rPr lang="en-US" b="0" i="0" dirty="0">
                <a:solidFill>
                  <a:srgbClr val="000000"/>
                </a:solidFill>
                <a:effectLst/>
                <a:latin typeface="Verdana" panose="020B0604030504040204" pitchFamily="34" charset="0"/>
              </a:rPr>
              <a:t>introduce simple ways for them to request human intervention or challenge a decision;</a:t>
            </a:r>
          </a:p>
          <a:p>
            <a:pPr marL="742950" lvl="1" indent="-285750" algn="l">
              <a:buFont typeface="Arial" panose="020B0604020202020204" pitchFamily="34" charset="0"/>
              <a:buChar char="•"/>
            </a:pPr>
            <a:r>
              <a:rPr lang="en-US" b="0" i="0" dirty="0">
                <a:solidFill>
                  <a:srgbClr val="000000"/>
                </a:solidFill>
                <a:effectLst/>
                <a:latin typeface="Verdana" panose="020B0604030504040204" pitchFamily="34" charset="0"/>
              </a:rPr>
              <a:t>carry out regular checks to make sure that your systems are working as intended.</a:t>
            </a:r>
          </a:p>
          <a:p>
            <a:pPr marL="0" marR="0" lvl="0" indent="0" algn="l" rtl="0">
              <a:lnSpc>
                <a:spcPct val="100000"/>
              </a:lnSpc>
              <a:spcBef>
                <a:spcPts val="0"/>
              </a:spcBef>
              <a:spcAft>
                <a:spcPts val="0"/>
              </a:spcAft>
              <a:buClr>
                <a:schemeClr val="dk1"/>
              </a:buClr>
              <a:buSzPts val="1200"/>
              <a:buFont typeface="Calibri"/>
              <a:buNone/>
            </a:pPr>
            <a:br>
              <a:rPr lang="en-US" dirty="0"/>
            </a:br>
            <a:endParaRPr lang="en-US" sz="12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200"/>
              <a:buFont typeface="Calibri"/>
              <a:buNone/>
            </a:pPr>
            <a:endParaRPr sz="1200" b="0" i="0" u="none" strike="noStrike" cap="none" dirty="0">
              <a:solidFill>
                <a:schemeClr val="dk1"/>
              </a:solidFill>
              <a:latin typeface="Calibri"/>
              <a:ea typeface="Calibri"/>
              <a:cs typeface="Calibri"/>
              <a:sym typeface="Calibri"/>
            </a:endParaRPr>
          </a:p>
        </p:txBody>
      </p:sp>
      <p:sp>
        <p:nvSpPr>
          <p:cNvPr id="176" name="Shape 176"/>
          <p:cNvSpPr txBox="1">
            <a:spLocks noGrp="1"/>
          </p:cNvSpPr>
          <p:nvPr>
            <p:ph type="sldNum" idx="12"/>
          </p:nvPr>
        </p:nvSpPr>
        <p:spPr>
          <a:xfrm>
            <a:off x="3884612" y="8685213"/>
            <a:ext cx="2971799"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300"/>
              <a:buFont typeface="Calibri"/>
              <a:buNone/>
            </a:pPr>
            <a:fld id="{00000000-1234-1234-1234-123412341234}" type="slidenum">
              <a:rPr lang="en-US" sz="1200" b="0" i="0" u="none" strike="noStrike" cap="none">
                <a:solidFill>
                  <a:schemeClr val="dk1"/>
                </a:solidFill>
                <a:latin typeface="Calibri"/>
                <a:ea typeface="Calibri"/>
                <a:cs typeface="Calibri"/>
                <a:sym typeface="Calibri"/>
              </a:rPr>
              <a:t>12</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Shape 19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2" name="Shape 192"/>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300"/>
              <a:buFont typeface="Calibri"/>
              <a:buNone/>
            </a:pPr>
            <a:r>
              <a:rPr lang="en-US" dirty="0"/>
              <a:t>LETS now look at data breaches a bit more…</a:t>
            </a:r>
          </a:p>
          <a:p>
            <a:pPr marL="0" marR="0" lvl="0" indent="0" algn="l" rtl="0">
              <a:lnSpc>
                <a:spcPct val="100000"/>
              </a:lnSpc>
              <a:spcBef>
                <a:spcPts val="0"/>
              </a:spcBef>
              <a:spcAft>
                <a:spcPts val="0"/>
              </a:spcAft>
              <a:buClr>
                <a:schemeClr val="dk1"/>
              </a:buClr>
              <a:buSzPts val="300"/>
              <a:buFont typeface="Calibri"/>
              <a:buNone/>
            </a:pPr>
            <a:endParaRPr lang="en-US" dirty="0"/>
          </a:p>
          <a:p>
            <a:pPr marL="0" marR="0" lvl="0" indent="0" algn="l" rtl="0">
              <a:lnSpc>
                <a:spcPct val="100000"/>
              </a:lnSpc>
              <a:spcBef>
                <a:spcPts val="0"/>
              </a:spcBef>
              <a:spcAft>
                <a:spcPts val="0"/>
              </a:spcAft>
              <a:buClr>
                <a:schemeClr val="dk1"/>
              </a:buClr>
              <a:buSzPts val="300"/>
              <a:buFont typeface="Calibri"/>
              <a:buNone/>
            </a:pPr>
            <a:r>
              <a:rPr lang="en-US" dirty="0"/>
              <a:t>The one important take-away for staff...think about treating other people’s data, as you want yours to be treated. Think about privacy first.</a:t>
            </a:r>
          </a:p>
          <a:p>
            <a:pPr marL="0" marR="0" lvl="0" indent="0" algn="l" rtl="0">
              <a:lnSpc>
                <a:spcPct val="100000"/>
              </a:lnSpc>
              <a:spcBef>
                <a:spcPts val="0"/>
              </a:spcBef>
              <a:spcAft>
                <a:spcPts val="0"/>
              </a:spcAft>
              <a:buClr>
                <a:schemeClr val="dk1"/>
              </a:buClr>
              <a:buSzPts val="300"/>
              <a:buFont typeface="Calibri"/>
              <a:buNone/>
            </a:pPr>
            <a:endParaRPr lang="en-US" dirty="0"/>
          </a:p>
          <a:p>
            <a:pPr marL="0" marR="0" lvl="0" indent="0" algn="l" rtl="0">
              <a:lnSpc>
                <a:spcPct val="100000"/>
              </a:lnSpc>
              <a:spcBef>
                <a:spcPts val="0"/>
              </a:spcBef>
              <a:spcAft>
                <a:spcPts val="0"/>
              </a:spcAft>
              <a:buClr>
                <a:schemeClr val="dk1"/>
              </a:buClr>
              <a:buSzPts val="300"/>
              <a:buFont typeface="Calibri"/>
              <a:buNone/>
            </a:pPr>
            <a:r>
              <a:rPr lang="en-US" dirty="0"/>
              <a:t>If you went into your GP surgery would you expect to see your medical details up on the wall or a list of people with asthma – if you suffered asthma – would you expect your data to remain confidential?</a:t>
            </a:r>
          </a:p>
          <a:p>
            <a:pPr marL="0" marR="0" lvl="0" indent="0" algn="l" rtl="0">
              <a:lnSpc>
                <a:spcPct val="100000"/>
              </a:lnSpc>
              <a:spcBef>
                <a:spcPts val="0"/>
              </a:spcBef>
              <a:spcAft>
                <a:spcPts val="0"/>
              </a:spcAft>
              <a:buClr>
                <a:schemeClr val="dk1"/>
              </a:buClr>
              <a:buSzPts val="300"/>
              <a:buFont typeface="Calibri"/>
              <a:buNone/>
            </a:pPr>
            <a:r>
              <a:rPr lang="en-US" dirty="0"/>
              <a:t> </a:t>
            </a:r>
            <a:endParaRPr dirty="0"/>
          </a:p>
          <a:p>
            <a:pPr marL="0" marR="0" lvl="0" indent="0" algn="l" rtl="0">
              <a:lnSpc>
                <a:spcPct val="100000"/>
              </a:lnSpc>
              <a:spcBef>
                <a:spcPts val="0"/>
              </a:spcBef>
              <a:spcAft>
                <a:spcPts val="0"/>
              </a:spcAft>
              <a:buClr>
                <a:schemeClr val="dk1"/>
              </a:buClr>
              <a:buSzPts val="300"/>
              <a:buFont typeface="Calibri"/>
              <a:buNone/>
            </a:pPr>
            <a:r>
              <a:rPr lang="en-US" dirty="0"/>
              <a:t>I use the story of finding a Teacher Support Plan in the bin of an office. Would a teacher like that information to be thrown in a bin if it was about them? Ask what should happen to it</a:t>
            </a:r>
            <a:endParaRPr dirty="0"/>
          </a:p>
        </p:txBody>
      </p:sp>
      <p:sp>
        <p:nvSpPr>
          <p:cNvPr id="193" name="Shape 193"/>
          <p:cNvSpPr txBox="1">
            <a:spLocks noGrp="1"/>
          </p:cNvSpPr>
          <p:nvPr>
            <p:ph type="sldNum" idx="12"/>
          </p:nvPr>
        </p:nvSpPr>
        <p:spPr>
          <a:xfrm>
            <a:off x="3884612" y="8685213"/>
            <a:ext cx="2971799"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300"/>
              <a:buFont typeface="Calibri"/>
              <a:buNone/>
            </a:pPr>
            <a:fld id="{00000000-1234-1234-1234-123412341234}" type="slidenum">
              <a:rPr lang="en-US" sz="1200" b="0" i="0" u="none" strike="noStrike" cap="none">
                <a:solidFill>
                  <a:schemeClr val="dk1"/>
                </a:solidFill>
                <a:latin typeface="Calibri"/>
                <a:ea typeface="Calibri"/>
                <a:cs typeface="Calibri"/>
                <a:sym typeface="Calibri"/>
              </a:rPr>
              <a:t>13</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2400" indent="0">
              <a:buNone/>
            </a:pPr>
            <a:r>
              <a:rPr lang="en-US" dirty="0"/>
              <a:t>Indirectly = identifier, be careful when dealing with SARs as even redacted information if not done correct could lead to identification of someone else. i.e. a specific job title – time to consider if identifying this person/these persons if they or anyone else is likely to be at risk of disclosing?</a:t>
            </a:r>
            <a:endParaRPr lang="en-GB"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chemeClr val="dk1"/>
              </a:buClr>
              <a:buSzPts val="300"/>
              <a:buFont typeface="Calibri"/>
              <a:buNone/>
            </a:pPr>
            <a:fld id="{00000000-1234-1234-1234-123412341234}" type="slidenum">
              <a:rPr lang="en-US" sz="1200" b="0" i="0" u="none" strike="noStrike" cap="none" smtClean="0">
                <a:solidFill>
                  <a:schemeClr val="dk1"/>
                </a:solidFill>
                <a:latin typeface="Calibri"/>
                <a:ea typeface="Calibri"/>
                <a:cs typeface="Calibri"/>
                <a:sym typeface="Calibri"/>
              </a:rPr>
              <a:t>14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161687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Shape 198"/>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9" name="Shape 199"/>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0"/>
              </a:spcBef>
              <a:spcAft>
                <a:spcPts val="0"/>
              </a:spcAft>
              <a:buClr>
                <a:schemeClr val="dk1"/>
              </a:buClr>
              <a:buSzPts val="1200"/>
              <a:buFont typeface="Calibri"/>
              <a:buNone/>
            </a:pPr>
            <a:r>
              <a:rPr lang="en-GB" dirty="0"/>
              <a:t>First Story – council fined £60k for giving a dis-used cabinet to a second hand shop – sensitive data relating to 7 children was found slipped down the back of the hanging files.</a:t>
            </a:r>
          </a:p>
          <a:p>
            <a:pPr marL="457200" marR="0" lvl="0" indent="-228600" algn="l" rtl="0">
              <a:lnSpc>
                <a:spcPct val="100000"/>
              </a:lnSpc>
              <a:spcBef>
                <a:spcPts val="0"/>
              </a:spcBef>
              <a:spcAft>
                <a:spcPts val="0"/>
              </a:spcAft>
              <a:buClr>
                <a:schemeClr val="dk1"/>
              </a:buClr>
              <a:buSzPts val="1200"/>
              <a:buFont typeface="Calibri"/>
              <a:buNone/>
            </a:pPr>
            <a:endParaRPr lang="en-GB" dirty="0"/>
          </a:p>
          <a:p>
            <a:pPr marL="457200" marR="0" lvl="0" indent="-228600" algn="l" rtl="0">
              <a:lnSpc>
                <a:spcPct val="100000"/>
              </a:lnSpc>
              <a:spcBef>
                <a:spcPts val="0"/>
              </a:spcBef>
              <a:spcAft>
                <a:spcPts val="0"/>
              </a:spcAft>
              <a:buClr>
                <a:schemeClr val="dk1"/>
              </a:buClr>
              <a:buSzPts val="1200"/>
              <a:buFont typeface="Calibri"/>
              <a:buNone/>
            </a:pPr>
            <a:r>
              <a:rPr lang="en-GB" dirty="0"/>
              <a:t>Second Story – council fined £80k for losing a memory stick for 2 years!! before it was admitted – wasn’t encrypted, held data relating to over 280 SEN children.</a:t>
            </a:r>
            <a:endParaRPr dirty="0"/>
          </a:p>
        </p:txBody>
      </p:sp>
      <p:sp>
        <p:nvSpPr>
          <p:cNvPr id="200" name="Shape 200"/>
          <p:cNvSpPr txBox="1">
            <a:spLocks noGrp="1"/>
          </p:cNvSpPr>
          <p:nvPr>
            <p:ph type="sldNum" idx="12"/>
          </p:nvPr>
        </p:nvSpPr>
        <p:spPr>
          <a:xfrm>
            <a:off x="3884612" y="8685213"/>
            <a:ext cx="2971799"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300"/>
              <a:buFont typeface="Calibri"/>
              <a:buNone/>
            </a:pPr>
            <a:fld id="{00000000-1234-1234-1234-123412341234}" type="slidenum">
              <a:rPr lang="en-US" sz="1200" b="0" i="0" u="none" strike="noStrike" cap="none">
                <a:solidFill>
                  <a:schemeClr val="dk1"/>
                </a:solidFill>
                <a:latin typeface="Calibri"/>
                <a:ea typeface="Calibri"/>
                <a:cs typeface="Calibri"/>
                <a:sym typeface="Calibri"/>
              </a:rPr>
              <a:t>15</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Shape 24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8" name="Shape 248"/>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300"/>
              <a:buFont typeface="Calibri"/>
              <a:buNone/>
            </a:pPr>
            <a:r>
              <a:rPr lang="en-US" sz="1200" b="1" i="1" u="none" strike="noStrike" cap="none">
                <a:solidFill>
                  <a:schemeClr val="dk1"/>
                </a:solidFill>
                <a:latin typeface="Calibri"/>
                <a:ea typeface="Calibri"/>
                <a:cs typeface="Calibri"/>
                <a:sym typeface="Calibri"/>
              </a:rPr>
              <a:t>Discussion</a:t>
            </a:r>
            <a:r>
              <a:rPr lang="en-US" sz="1200" b="0" i="0" u="none" strike="noStrike" cap="none">
                <a:solidFill>
                  <a:schemeClr val="dk1"/>
                </a:solidFill>
                <a:latin typeface="Calibri"/>
                <a:ea typeface="Calibri"/>
                <a:cs typeface="Calibri"/>
                <a:sym typeface="Calibri"/>
              </a:rPr>
              <a:t> – what are the implications of a breach? </a:t>
            </a:r>
            <a:br>
              <a:rPr lang="en-US" sz="1200" b="0" i="0" u="none" strike="noStrike" cap="none">
                <a:solidFill>
                  <a:schemeClr val="dk1"/>
                </a:solidFill>
                <a:latin typeface="Calibri"/>
                <a:ea typeface="Calibri"/>
                <a:cs typeface="Calibri"/>
                <a:sym typeface="Calibri"/>
              </a:rPr>
            </a:br>
            <a:r>
              <a:rPr lang="en-US" sz="1200" b="0" i="0" u="none" strike="noStrike" cap="none">
                <a:solidFill>
                  <a:schemeClr val="dk1"/>
                </a:solidFill>
                <a:latin typeface="Calibri"/>
                <a:ea typeface="Calibri"/>
                <a:cs typeface="Calibri"/>
                <a:sym typeface="Calibri"/>
              </a:rPr>
              <a:t> (Data subjects’ rights + reputation of school + possible fines) – when and how do they need to be reported (to ICO + to data subjects) – How would you manage this process in your school? Do you have a procedure for this?</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300"/>
              <a:buFont typeface="Calibri"/>
              <a:buNone/>
            </a:pPr>
            <a:r>
              <a:rPr lang="en-US" sz="1200" b="0" i="0" u="none" strike="noStrike" cap="none">
                <a:solidFill>
                  <a:schemeClr val="dk1"/>
                </a:solidFill>
                <a:latin typeface="Calibri"/>
                <a:ea typeface="Calibri"/>
                <a:cs typeface="Calibri"/>
                <a:sym typeface="Calibri"/>
              </a:rPr>
              <a:t> </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300"/>
              <a:buFont typeface="Calibri"/>
              <a:buNone/>
            </a:pPr>
            <a:r>
              <a:rPr lang="en-US" sz="1200" b="0" i="0" u="none" strike="noStrike" cap="none">
                <a:solidFill>
                  <a:schemeClr val="dk1"/>
                </a:solidFill>
                <a:latin typeface="Calibri"/>
                <a:ea typeface="Calibri"/>
                <a:cs typeface="Calibri"/>
                <a:sym typeface="Calibri"/>
              </a:rPr>
              <a:t>Key message – The actions taken to safeguard personal data indicates that an organisation takes rights of pupils and staff. Seriously. Majority of breaches are down to human error or lack of awareness – importance of training</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300"/>
              <a:buFont typeface="Calibri"/>
              <a:buNone/>
            </a:pPr>
            <a:endParaRPr sz="1200" b="0" i="0" u="none" strike="noStrike" cap="none">
              <a:solidFill>
                <a:schemeClr val="dk1"/>
              </a:solidFill>
              <a:latin typeface="Calibri"/>
              <a:ea typeface="Calibri"/>
              <a:cs typeface="Calibri"/>
              <a:sym typeface="Calibri"/>
            </a:endParaRPr>
          </a:p>
        </p:txBody>
      </p:sp>
      <p:sp>
        <p:nvSpPr>
          <p:cNvPr id="249" name="Shape 249"/>
          <p:cNvSpPr txBox="1">
            <a:spLocks noGrp="1"/>
          </p:cNvSpPr>
          <p:nvPr>
            <p:ph type="sldNum" idx="12"/>
          </p:nvPr>
        </p:nvSpPr>
        <p:spPr>
          <a:xfrm>
            <a:off x="3884612"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300"/>
              <a:buFont typeface="Calibri"/>
              <a:buNone/>
            </a:pPr>
            <a:fld id="{00000000-1234-1234-1234-123412341234}" type="slidenum">
              <a:rPr lang="en-US" sz="1200" b="0" i="0" u="none" strike="noStrike" cap="none">
                <a:solidFill>
                  <a:schemeClr val="dk1"/>
                </a:solidFill>
                <a:latin typeface="Calibri"/>
                <a:ea typeface="Calibri"/>
                <a:cs typeface="Calibri"/>
                <a:sym typeface="Calibri"/>
              </a:rPr>
              <a:t>16</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52400" indent="0">
              <a:buNone/>
            </a:pPr>
            <a:endParaRPr lang="en-GB"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chemeClr val="dk1"/>
              </a:buClr>
              <a:buSzPts val="300"/>
              <a:buFont typeface="Calibri"/>
              <a:buNone/>
            </a:pPr>
            <a:fld id="{00000000-1234-1234-1234-123412341234}" type="slidenum">
              <a:rPr lang="en-US" sz="1200" b="0" i="0" u="none" strike="noStrike" cap="none" smtClean="0">
                <a:solidFill>
                  <a:schemeClr val="dk1"/>
                </a:solidFill>
                <a:latin typeface="Calibri"/>
                <a:ea typeface="Calibri"/>
                <a:cs typeface="Calibri"/>
                <a:sym typeface="Calibri"/>
              </a:rPr>
              <a:t>17</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188041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
        <p:cNvGrpSpPr/>
        <p:nvPr/>
      </p:nvGrpSpPr>
      <p:grpSpPr>
        <a:xfrm>
          <a:off x="0" y="0"/>
          <a:ext cx="0" cy="0"/>
          <a:chOff x="0" y="0"/>
          <a:chExt cx="0" cy="0"/>
        </a:xfrm>
      </p:grpSpPr>
      <p:sp>
        <p:nvSpPr>
          <p:cNvPr id="270" name="Shape 27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1" name="Shape 271"/>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300"/>
              <a:buFont typeface="Calibri"/>
              <a:buNone/>
            </a:pPr>
            <a:r>
              <a:rPr lang="en-US"/>
              <a:t>Highlights from the </a:t>
            </a:r>
            <a:r>
              <a:rPr lang="en-US" err="1"/>
              <a:t>ICO</a:t>
            </a:r>
            <a:r>
              <a:rPr lang="en-US"/>
              <a:t> report</a:t>
            </a:r>
            <a:endParaRPr sz="1200" u="none" strike="noStrike" cap="none">
              <a:solidFill>
                <a:schemeClr val="dk1"/>
              </a:solidFill>
            </a:endParaRPr>
          </a:p>
        </p:txBody>
      </p:sp>
      <p:sp>
        <p:nvSpPr>
          <p:cNvPr id="272" name="Shape 272"/>
          <p:cNvSpPr txBox="1">
            <a:spLocks noGrp="1"/>
          </p:cNvSpPr>
          <p:nvPr>
            <p:ph type="sldNum" idx="12"/>
          </p:nvPr>
        </p:nvSpPr>
        <p:spPr>
          <a:xfrm>
            <a:off x="3884612"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300"/>
              <a:buFont typeface="Calibri"/>
              <a:buNone/>
            </a:pPr>
            <a:fld id="{00000000-1234-1234-1234-123412341234}" type="slidenum">
              <a:rPr lang="en-US" sz="1200" b="0" i="0" u="none" strike="noStrike" cap="none">
                <a:solidFill>
                  <a:schemeClr val="dk1"/>
                </a:solidFill>
                <a:latin typeface="Calibri"/>
                <a:ea typeface="Calibri"/>
                <a:cs typeface="Calibri"/>
                <a:sym typeface="Calibri"/>
              </a:rPr>
              <a:t>18</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Shape 247"/>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8" name="Shape 248"/>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300"/>
              <a:buFont typeface="Calibri"/>
              <a:buNone/>
            </a:pPr>
            <a:r>
              <a:rPr lang="en-US" sz="1200" b="1" i="1" u="none" strike="noStrike" cap="none">
                <a:solidFill>
                  <a:schemeClr val="dk1"/>
                </a:solidFill>
                <a:latin typeface="Calibri"/>
                <a:ea typeface="Calibri"/>
                <a:cs typeface="Calibri"/>
                <a:sym typeface="Calibri"/>
              </a:rPr>
              <a:t>Discussion</a:t>
            </a:r>
            <a:r>
              <a:rPr lang="en-US" sz="1200" b="0" i="0" u="none" strike="noStrike" cap="none">
                <a:solidFill>
                  <a:schemeClr val="dk1"/>
                </a:solidFill>
                <a:latin typeface="Calibri"/>
                <a:ea typeface="Calibri"/>
                <a:cs typeface="Calibri"/>
                <a:sym typeface="Calibri"/>
              </a:rPr>
              <a:t> – what are the implications of a breach? </a:t>
            </a:r>
            <a:br>
              <a:rPr lang="en-US" sz="1200" b="0" i="0" u="none" strike="noStrike" cap="none">
                <a:solidFill>
                  <a:schemeClr val="dk1"/>
                </a:solidFill>
                <a:latin typeface="Calibri"/>
                <a:ea typeface="Calibri"/>
                <a:cs typeface="Calibri"/>
                <a:sym typeface="Calibri"/>
              </a:rPr>
            </a:br>
            <a:r>
              <a:rPr lang="en-US" sz="1200" b="0" i="0" u="none" strike="noStrike" cap="none">
                <a:solidFill>
                  <a:schemeClr val="dk1"/>
                </a:solidFill>
                <a:latin typeface="Calibri"/>
                <a:ea typeface="Calibri"/>
                <a:cs typeface="Calibri"/>
                <a:sym typeface="Calibri"/>
              </a:rPr>
              <a:t> (Data subjects’ rights + reputation of school + possible fines) – when and how do they need to be reported (to ICO + to data subjects) – How would you manage this process in your school? Do you have a procedure for this?</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300"/>
              <a:buFont typeface="Calibri"/>
              <a:buNone/>
            </a:pPr>
            <a:r>
              <a:rPr lang="en-US" sz="1200" b="0" i="0" u="none" strike="noStrike" cap="none">
                <a:solidFill>
                  <a:schemeClr val="dk1"/>
                </a:solidFill>
                <a:latin typeface="Calibri"/>
                <a:ea typeface="Calibri"/>
                <a:cs typeface="Calibri"/>
                <a:sym typeface="Calibri"/>
              </a:rPr>
              <a:t> </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300"/>
              <a:buFont typeface="Calibri"/>
              <a:buNone/>
            </a:pPr>
            <a:r>
              <a:rPr lang="en-US" sz="1200" b="0" i="0" u="none" strike="noStrike" cap="none">
                <a:solidFill>
                  <a:schemeClr val="dk1"/>
                </a:solidFill>
                <a:latin typeface="Calibri"/>
                <a:ea typeface="Calibri"/>
                <a:cs typeface="Calibri"/>
                <a:sym typeface="Calibri"/>
              </a:rPr>
              <a:t>Key message – The actions taken to safeguard personal data indicates that an organisation takes rights of pupils and staff. Seriously. Majority of breaches are down to human error or lack of awareness – importance of training</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300"/>
              <a:buFont typeface="Calibri"/>
              <a:buNone/>
            </a:pPr>
            <a:endParaRPr sz="1200" b="0" i="0" u="none" strike="noStrike" cap="none">
              <a:solidFill>
                <a:schemeClr val="dk1"/>
              </a:solidFill>
              <a:latin typeface="Calibri"/>
              <a:ea typeface="Calibri"/>
              <a:cs typeface="Calibri"/>
              <a:sym typeface="Calibri"/>
            </a:endParaRPr>
          </a:p>
        </p:txBody>
      </p:sp>
      <p:sp>
        <p:nvSpPr>
          <p:cNvPr id="249" name="Shape 249"/>
          <p:cNvSpPr txBox="1">
            <a:spLocks noGrp="1"/>
          </p:cNvSpPr>
          <p:nvPr>
            <p:ph type="sldNum" idx="12"/>
          </p:nvPr>
        </p:nvSpPr>
        <p:spPr>
          <a:xfrm>
            <a:off x="3884612"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300"/>
              <a:buFont typeface="Calibri"/>
              <a:buNone/>
            </a:pPr>
            <a:fld id="{00000000-1234-1234-1234-123412341234}" type="slidenum">
              <a:rPr lang="en-US" sz="1200" b="0" i="0" u="none" strike="noStrike" cap="none">
                <a:solidFill>
                  <a:schemeClr val="dk1"/>
                </a:solidFill>
                <a:latin typeface="Calibri"/>
                <a:ea typeface="Calibri"/>
                <a:cs typeface="Calibri"/>
                <a:sym typeface="Calibri"/>
              </a:rPr>
              <a:t>19</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297791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Organisation</a:t>
            </a:r>
          </a:p>
          <a:p>
            <a:r>
              <a:rPr lang="en-GB" dirty="0"/>
              <a:t>72hrs</a:t>
            </a:r>
          </a:p>
          <a:p>
            <a:r>
              <a:rPr lang="en-GB" dirty="0"/>
              <a:t>Report it</a:t>
            </a:r>
          </a:p>
          <a:p>
            <a:r>
              <a:rPr lang="en-GB" dirty="0"/>
              <a:t>6 lawful bases (Contract, Consent, Legal Obligation, Vital Interests, Public Task, Legitimate Interest)</a:t>
            </a:r>
          </a:p>
          <a:p>
            <a:r>
              <a:rPr lang="en-GB" dirty="0"/>
              <a:t>Public task</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chemeClr val="dk1"/>
              </a:buClr>
              <a:buSzPts val="300"/>
              <a:buFont typeface="Calibri"/>
              <a:buNone/>
            </a:pPr>
            <a:fld id="{00000000-1234-1234-1234-123412341234}" type="slidenum">
              <a:rPr lang="en-US" sz="1200" b="0" i="0" u="none" strike="noStrike" cap="none" smtClean="0">
                <a:solidFill>
                  <a:schemeClr val="dk1"/>
                </a:solidFill>
                <a:latin typeface="Calibri"/>
                <a:ea typeface="Calibri"/>
                <a:cs typeface="Calibri"/>
                <a:sym typeface="Calibri"/>
              </a:rPr>
              <a:t>20</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9195879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Shape 294"/>
          <p:cNvSpPr txBox="1">
            <a:spLocks noGrp="1"/>
          </p:cNvSpPr>
          <p:nvPr>
            <p:ph type="body" idx="1"/>
          </p:nvPr>
        </p:nvSpPr>
        <p:spPr>
          <a:xfrm>
            <a:off x="685800" y="4343400"/>
            <a:ext cx="5486399" cy="4114800"/>
          </a:xfrm>
          <a:prstGeom prst="rect">
            <a:avLst/>
          </a:prstGeom>
        </p:spPr>
        <p:txBody>
          <a:bodyPr spcFirstLastPara="1" wrap="square" lIns="91425" tIns="91425" rIns="91425" bIns="91425" anchor="t" anchorCtr="0">
            <a:noAutofit/>
          </a:bodyPr>
          <a:lstStyle/>
          <a:p>
            <a:pPr marL="0" lvl="0" indent="0">
              <a:spcBef>
                <a:spcPts val="0"/>
              </a:spcBef>
              <a:spcAft>
                <a:spcPts val="0"/>
              </a:spcAft>
              <a:buNone/>
            </a:pPr>
            <a:r>
              <a:rPr lang="en-US"/>
              <a:t>GDPR is a long journey….</a:t>
            </a:r>
            <a:endParaRPr/>
          </a:p>
        </p:txBody>
      </p:sp>
      <p:sp>
        <p:nvSpPr>
          <p:cNvPr id="295" name="Shape 295"/>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Needs to be driven at Trust level</a:t>
            </a:r>
            <a:endParaRPr lang="en-GB"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chemeClr val="dk1"/>
              </a:buClr>
              <a:buSzPts val="300"/>
              <a:buFont typeface="Calibri"/>
              <a:buNone/>
            </a:pPr>
            <a:fld id="{00000000-1234-1234-1234-123412341234}" type="slidenum">
              <a:rPr lang="en-US" sz="1200" b="0" i="0" u="none" strike="noStrike" cap="none" smtClean="0">
                <a:solidFill>
                  <a:schemeClr val="dk1"/>
                </a:solidFill>
                <a:latin typeface="Calibri"/>
                <a:ea typeface="Calibri"/>
                <a:cs typeface="Calibri"/>
                <a:sym typeface="Calibri"/>
              </a:rPr>
              <a:t>23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687134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chemeClr val="dk1"/>
              </a:buClr>
              <a:buSzPts val="300"/>
              <a:buFont typeface="Calibri"/>
              <a:buNone/>
            </a:pPr>
            <a:fld id="{00000000-1234-1234-1234-123412341234}" type="slidenum">
              <a:rPr lang="en-US" sz="1200" b="0" i="0" u="none" strike="noStrike" cap="none" smtClean="0">
                <a:solidFill>
                  <a:schemeClr val="dk1"/>
                </a:solidFill>
                <a:latin typeface="Calibri"/>
                <a:ea typeface="Calibri"/>
                <a:cs typeface="Calibri"/>
                <a:sym typeface="Calibri"/>
              </a:rPr>
              <a:t>24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7293692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Shape 310"/>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Questions? If not now, get in touch.</a:t>
            </a:r>
            <a:endParaRPr sz="1200" b="0" i="0" u="none" strike="noStrike" cap="none">
              <a:solidFill>
                <a:schemeClr val="dk1"/>
              </a:solidFill>
              <a:latin typeface="Calibri"/>
              <a:ea typeface="Calibri"/>
              <a:cs typeface="Calibri"/>
              <a:sym typeface="Calibri"/>
            </a:endParaRPr>
          </a:p>
        </p:txBody>
      </p:sp>
      <p:sp>
        <p:nvSpPr>
          <p:cNvPr id="311" name="Shape 311"/>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6350"/>
            <a:ext cx="9144000" cy="5149850"/>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300" y="1803400"/>
            <a:ext cx="5825202" cy="1234727"/>
          </a:xfrm>
        </p:spPr>
        <p:txBody>
          <a:bodyPr anchor="b">
            <a:noAutofit/>
          </a:bodyPr>
          <a:lstStyle>
            <a:lvl1pPr algn="r">
              <a:defRPr sz="960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1130300" y="3038125"/>
            <a:ext cx="5825202" cy="822674"/>
          </a:xfrm>
        </p:spPr>
        <p:txBody>
          <a:bodyPr anchor="t"/>
          <a:lstStyle>
            <a:lvl1pPr marL="0" indent="0" algn="r">
              <a:buNone/>
              <a:defRPr>
                <a:solidFill>
                  <a:schemeClr val="tx1">
                    <a:lumMod val="50000"/>
                    <a:lumOff val="50000"/>
                  </a:schemeClr>
                </a:solidFill>
              </a:defRPr>
            </a:lvl1pPr>
            <a:lvl2pPr marL="812810" indent="0" algn="ctr">
              <a:buNone/>
              <a:defRPr>
                <a:solidFill>
                  <a:schemeClr val="tx1">
                    <a:tint val="75000"/>
                  </a:schemeClr>
                </a:solidFill>
              </a:defRPr>
            </a:lvl2pPr>
            <a:lvl3pPr marL="1625620" indent="0" algn="ctr">
              <a:buNone/>
              <a:defRPr>
                <a:solidFill>
                  <a:schemeClr val="tx1">
                    <a:tint val="75000"/>
                  </a:schemeClr>
                </a:solidFill>
              </a:defRPr>
            </a:lvl3pPr>
            <a:lvl4pPr marL="2438430" indent="0" algn="ctr">
              <a:buNone/>
              <a:defRPr>
                <a:solidFill>
                  <a:schemeClr val="tx1">
                    <a:tint val="75000"/>
                  </a:schemeClr>
                </a:solidFill>
              </a:defRPr>
            </a:lvl4pPr>
            <a:lvl5pPr marL="3251241" indent="0" algn="ctr">
              <a:buNone/>
              <a:defRPr>
                <a:solidFill>
                  <a:schemeClr val="tx1">
                    <a:tint val="75000"/>
                  </a:schemeClr>
                </a:solidFill>
              </a:defRPr>
            </a:lvl5pPr>
            <a:lvl6pPr marL="4064051" indent="0" algn="ctr">
              <a:buNone/>
              <a:defRPr>
                <a:solidFill>
                  <a:schemeClr val="tx1">
                    <a:tint val="75000"/>
                  </a:schemeClr>
                </a:solidFill>
              </a:defRPr>
            </a:lvl6pPr>
            <a:lvl7pPr marL="4876861" indent="0" algn="ctr">
              <a:buNone/>
              <a:defRPr>
                <a:solidFill>
                  <a:schemeClr val="tx1">
                    <a:tint val="75000"/>
                  </a:schemeClr>
                </a:solidFill>
              </a:defRPr>
            </a:lvl7pPr>
            <a:lvl8pPr marL="5689671" indent="0" algn="ctr">
              <a:buNone/>
              <a:defRPr>
                <a:solidFill>
                  <a:schemeClr val="tx1">
                    <a:tint val="75000"/>
                  </a:schemeClr>
                </a:solidFill>
              </a:defRPr>
            </a:lvl8pPr>
            <a:lvl9pPr marL="6502481"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dirty="0"/>
              <a:pPr/>
              <a:t>12/13/2021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42349667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2A54C80-263E-416B-A8E0-580EDEADCBDC}" type="datetimeFigureOut">
              <a:rPr lang="en-US" dirty="0"/>
              <a:t>12/13/2021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9954A3-9DFD-4C44-94BA-B95130A3BA1C}" type="slidenum">
              <a:rPr lang="en-US" dirty="0"/>
              <a:t>‹#›</a:t>
            </a:fld>
            <a:endParaRPr lang="en-US"/>
          </a:p>
        </p:txBody>
      </p:sp>
    </p:spTree>
    <p:extLst>
      <p:ext uri="{BB962C8B-B14F-4D97-AF65-F5344CB8AC3E}">
        <p14:creationId xmlns:p14="http://schemas.microsoft.com/office/powerpoint/2010/main" val="5855760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08001" y="2025651"/>
            <a:ext cx="6447501" cy="1369936"/>
          </a:xfrm>
        </p:spPr>
        <p:txBody>
          <a:bodyPr anchor="b"/>
          <a:lstStyle>
            <a:lvl1pPr algn="l">
              <a:defRPr sz="7111" b="0" cap="none"/>
            </a:lvl1pPr>
          </a:lstStyle>
          <a:p>
            <a:r>
              <a:rPr lang="en-US"/>
              <a:t>Click to edit Master title style</a:t>
            </a:r>
          </a:p>
        </p:txBody>
      </p:sp>
      <p:sp>
        <p:nvSpPr>
          <p:cNvPr id="3" name="Text Placeholder 2"/>
          <p:cNvSpPr>
            <a:spLocks noGrp="1"/>
          </p:cNvSpPr>
          <p:nvPr>
            <p:ph type="body" idx="1"/>
          </p:nvPr>
        </p:nvSpPr>
        <p:spPr>
          <a:xfrm>
            <a:off x="508001" y="3395586"/>
            <a:ext cx="6447501" cy="645300"/>
          </a:xfrm>
        </p:spPr>
        <p:txBody>
          <a:bodyPr anchor="t"/>
          <a:lstStyle>
            <a:lvl1pPr marL="0" indent="0" algn="l">
              <a:buNone/>
              <a:defRPr sz="3556">
                <a:solidFill>
                  <a:schemeClr val="tx1">
                    <a:lumMod val="50000"/>
                    <a:lumOff val="50000"/>
                  </a:schemeClr>
                </a:solidFill>
              </a:defRPr>
            </a:lvl1pPr>
            <a:lvl2pPr marL="812810" indent="0">
              <a:buNone/>
              <a:defRPr sz="3200">
                <a:solidFill>
                  <a:schemeClr val="tx1">
                    <a:tint val="75000"/>
                  </a:schemeClr>
                </a:solidFill>
              </a:defRPr>
            </a:lvl2pPr>
            <a:lvl3pPr marL="1625620" indent="0">
              <a:buNone/>
              <a:defRPr sz="2844">
                <a:solidFill>
                  <a:schemeClr val="tx1">
                    <a:tint val="75000"/>
                  </a:schemeClr>
                </a:solidFill>
              </a:defRPr>
            </a:lvl3pPr>
            <a:lvl4pPr marL="2438430" indent="0">
              <a:buNone/>
              <a:defRPr sz="2489">
                <a:solidFill>
                  <a:schemeClr val="tx1">
                    <a:tint val="75000"/>
                  </a:schemeClr>
                </a:solidFill>
              </a:defRPr>
            </a:lvl4pPr>
            <a:lvl5pPr marL="3251241" indent="0">
              <a:buNone/>
              <a:defRPr sz="2489">
                <a:solidFill>
                  <a:schemeClr val="tx1">
                    <a:tint val="75000"/>
                  </a:schemeClr>
                </a:solidFill>
              </a:defRPr>
            </a:lvl5pPr>
            <a:lvl6pPr marL="4064051" indent="0">
              <a:buNone/>
              <a:defRPr sz="2489">
                <a:solidFill>
                  <a:schemeClr val="tx1">
                    <a:tint val="75000"/>
                  </a:schemeClr>
                </a:solidFill>
              </a:defRPr>
            </a:lvl6pPr>
            <a:lvl7pPr marL="4876861" indent="0">
              <a:buNone/>
              <a:defRPr sz="2489">
                <a:solidFill>
                  <a:schemeClr val="tx1">
                    <a:tint val="75000"/>
                  </a:schemeClr>
                </a:solidFill>
              </a:defRPr>
            </a:lvl7pPr>
            <a:lvl8pPr marL="5689671" indent="0">
              <a:buNone/>
              <a:defRPr sz="2489">
                <a:solidFill>
                  <a:schemeClr val="tx1">
                    <a:tint val="75000"/>
                  </a:schemeClr>
                </a:solidFill>
              </a:defRPr>
            </a:lvl8pPr>
            <a:lvl9pPr marL="6502481" indent="0">
              <a:buNone/>
              <a:defRPr sz="2489">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8182942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08001" y="1620442"/>
            <a:ext cx="3138026" cy="2910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817477" y="1620442"/>
            <a:ext cx="3138026" cy="2910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B712588-04B1-427B-82EE-E8DB90309F08}" type="datetimeFigureOut">
              <a:rPr lang="en-US" dirty="0"/>
              <a:t>12/13/2021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a:p>
        </p:txBody>
      </p:sp>
    </p:spTree>
    <p:extLst>
      <p:ext uri="{BB962C8B-B14F-4D97-AF65-F5344CB8AC3E}">
        <p14:creationId xmlns:p14="http://schemas.microsoft.com/office/powerpoint/2010/main" val="12496786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506809" y="1620737"/>
            <a:ext cx="3139217" cy="432197"/>
          </a:xfrm>
        </p:spPr>
        <p:txBody>
          <a:bodyPr anchor="b">
            <a:noAutofit/>
          </a:bodyPr>
          <a:lstStyle>
            <a:lvl1pPr marL="0" indent="0">
              <a:buNone/>
              <a:defRPr sz="4267" b="0"/>
            </a:lvl1pPr>
            <a:lvl2pPr marL="812810" indent="0">
              <a:buNone/>
              <a:defRPr sz="3556" b="1"/>
            </a:lvl2pPr>
            <a:lvl3pPr marL="1625620" indent="0">
              <a:buNone/>
              <a:defRPr sz="3200" b="1"/>
            </a:lvl3pPr>
            <a:lvl4pPr marL="2438430" indent="0">
              <a:buNone/>
              <a:defRPr sz="2844" b="1"/>
            </a:lvl4pPr>
            <a:lvl5pPr marL="3251241" indent="0">
              <a:buNone/>
              <a:defRPr sz="2844" b="1"/>
            </a:lvl5pPr>
            <a:lvl6pPr marL="4064051" indent="0">
              <a:buNone/>
              <a:defRPr sz="2844" b="1"/>
            </a:lvl6pPr>
            <a:lvl7pPr marL="4876861" indent="0">
              <a:buNone/>
              <a:defRPr sz="2844" b="1"/>
            </a:lvl7pPr>
            <a:lvl8pPr marL="5689671" indent="0">
              <a:buNone/>
              <a:defRPr sz="2844" b="1"/>
            </a:lvl8pPr>
            <a:lvl9pPr marL="6502481" indent="0">
              <a:buNone/>
              <a:defRPr sz="2844" b="1"/>
            </a:lvl9pPr>
          </a:lstStyle>
          <a:p>
            <a:pPr lvl="0"/>
            <a:r>
              <a:rPr lang="en-US"/>
              <a:t>Click to edit Master text styles</a:t>
            </a:r>
          </a:p>
        </p:txBody>
      </p:sp>
      <p:sp>
        <p:nvSpPr>
          <p:cNvPr id="4" name="Content Placeholder 3"/>
          <p:cNvSpPr>
            <a:spLocks noGrp="1"/>
          </p:cNvSpPr>
          <p:nvPr>
            <p:ph sz="half" idx="2"/>
          </p:nvPr>
        </p:nvSpPr>
        <p:spPr>
          <a:xfrm>
            <a:off x="506809" y="2052934"/>
            <a:ext cx="3139217" cy="24780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816287" y="1620737"/>
            <a:ext cx="3139214" cy="432197"/>
          </a:xfrm>
        </p:spPr>
        <p:txBody>
          <a:bodyPr anchor="b">
            <a:noAutofit/>
          </a:bodyPr>
          <a:lstStyle>
            <a:lvl1pPr marL="0" indent="0">
              <a:buNone/>
              <a:defRPr sz="4267" b="0"/>
            </a:lvl1pPr>
            <a:lvl2pPr marL="812810" indent="0">
              <a:buNone/>
              <a:defRPr sz="3556" b="1"/>
            </a:lvl2pPr>
            <a:lvl3pPr marL="1625620" indent="0">
              <a:buNone/>
              <a:defRPr sz="3200" b="1"/>
            </a:lvl3pPr>
            <a:lvl4pPr marL="2438430" indent="0">
              <a:buNone/>
              <a:defRPr sz="2844" b="1"/>
            </a:lvl4pPr>
            <a:lvl5pPr marL="3251241" indent="0">
              <a:buNone/>
              <a:defRPr sz="2844" b="1"/>
            </a:lvl5pPr>
            <a:lvl6pPr marL="4064051" indent="0">
              <a:buNone/>
              <a:defRPr sz="2844" b="1"/>
            </a:lvl6pPr>
            <a:lvl7pPr marL="4876861" indent="0">
              <a:buNone/>
              <a:defRPr sz="2844" b="1"/>
            </a:lvl7pPr>
            <a:lvl8pPr marL="5689671" indent="0">
              <a:buNone/>
              <a:defRPr sz="2844" b="1"/>
            </a:lvl8pPr>
            <a:lvl9pPr marL="6502481" indent="0">
              <a:buNone/>
              <a:defRPr sz="2844" b="1"/>
            </a:lvl9pPr>
          </a:lstStyle>
          <a:p>
            <a:pPr lvl="0"/>
            <a:r>
              <a:rPr lang="en-US"/>
              <a:t>Click to edit Master text styles</a:t>
            </a:r>
          </a:p>
        </p:txBody>
      </p:sp>
      <p:sp>
        <p:nvSpPr>
          <p:cNvPr id="6" name="Content Placeholder 5"/>
          <p:cNvSpPr>
            <a:spLocks noGrp="1"/>
          </p:cNvSpPr>
          <p:nvPr>
            <p:ph sz="quarter" idx="4"/>
          </p:nvPr>
        </p:nvSpPr>
        <p:spPr>
          <a:xfrm>
            <a:off x="3816288" y="2052934"/>
            <a:ext cx="3139213" cy="24780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12/13/2021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9391059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990600"/>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12/13/2021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3062853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12/13/2021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950538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1123953"/>
            <a:ext cx="2890896" cy="958850"/>
          </a:xfrm>
        </p:spPr>
        <p:txBody>
          <a:bodyPr anchor="b">
            <a:normAutofit/>
          </a:bodyPr>
          <a:lstStyle>
            <a:lvl1pPr>
              <a:defRPr sz="3556"/>
            </a:lvl1pPr>
          </a:lstStyle>
          <a:p>
            <a:r>
              <a:rPr lang="en-US"/>
              <a:t>Click to edit Master title style</a:t>
            </a:r>
          </a:p>
        </p:txBody>
      </p:sp>
      <p:sp>
        <p:nvSpPr>
          <p:cNvPr id="3" name="Content Placeholder 2"/>
          <p:cNvSpPr>
            <a:spLocks noGrp="1"/>
          </p:cNvSpPr>
          <p:nvPr>
            <p:ph idx="1"/>
          </p:nvPr>
        </p:nvSpPr>
        <p:spPr>
          <a:xfrm>
            <a:off x="3570346" y="386193"/>
            <a:ext cx="3385156" cy="41448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08001" y="2082802"/>
            <a:ext cx="2890896" cy="1938337"/>
          </a:xfrm>
        </p:spPr>
        <p:txBody>
          <a:bodyPr>
            <a:normAutofit/>
          </a:bodyPr>
          <a:lstStyle>
            <a:lvl1pPr marL="0" indent="0">
              <a:buNone/>
              <a:defRPr sz="2489"/>
            </a:lvl1pPr>
            <a:lvl2pPr marL="812567" indent="0">
              <a:buNone/>
              <a:defRPr sz="2489"/>
            </a:lvl2pPr>
            <a:lvl3pPr marL="1625133" indent="0">
              <a:buNone/>
              <a:defRPr sz="2133"/>
            </a:lvl3pPr>
            <a:lvl4pPr marL="2437700" indent="0">
              <a:buNone/>
              <a:defRPr sz="1778"/>
            </a:lvl4pPr>
            <a:lvl5pPr marL="3250265" indent="0">
              <a:buNone/>
              <a:defRPr sz="1778"/>
            </a:lvl5pPr>
            <a:lvl6pPr marL="4062831" indent="0">
              <a:buNone/>
              <a:defRPr sz="1778"/>
            </a:lvl6pPr>
            <a:lvl7pPr marL="4875398" indent="0">
              <a:buNone/>
              <a:defRPr sz="1778"/>
            </a:lvl7pPr>
            <a:lvl8pPr marL="5687964" indent="0">
              <a:buNone/>
              <a:defRPr sz="1778"/>
            </a:lvl8pPr>
            <a:lvl9pPr marL="6500531" indent="0">
              <a:buNone/>
              <a:defRPr sz="1778"/>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12/13/2021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a:p>
        </p:txBody>
      </p:sp>
    </p:spTree>
    <p:extLst>
      <p:ext uri="{BB962C8B-B14F-4D97-AF65-F5344CB8AC3E}">
        <p14:creationId xmlns:p14="http://schemas.microsoft.com/office/powerpoint/2010/main" val="7646239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3600450"/>
            <a:ext cx="6447500" cy="425054"/>
          </a:xfrm>
        </p:spPr>
        <p:txBody>
          <a:bodyPr anchor="b">
            <a:normAutofit/>
          </a:bodyPr>
          <a:lstStyle>
            <a:lvl1pPr algn="l">
              <a:defRPr sz="4267" b="0"/>
            </a:lvl1pPr>
          </a:lstStyle>
          <a:p>
            <a:r>
              <a:rPr lang="en-US"/>
              <a:t>Click to edit Master title style</a:t>
            </a:r>
          </a:p>
        </p:txBody>
      </p:sp>
      <p:sp>
        <p:nvSpPr>
          <p:cNvPr id="3" name="Picture Placeholder 2"/>
          <p:cNvSpPr>
            <a:spLocks noGrp="1" noChangeAspect="1"/>
          </p:cNvSpPr>
          <p:nvPr>
            <p:ph type="pic" idx="1"/>
          </p:nvPr>
        </p:nvSpPr>
        <p:spPr>
          <a:xfrm>
            <a:off x="508001" y="457200"/>
            <a:ext cx="6447501" cy="2884289"/>
          </a:xfrm>
        </p:spPr>
        <p:txBody>
          <a:bodyPr anchor="t">
            <a:normAutofit/>
          </a:bodyPr>
          <a:lstStyle>
            <a:lvl1pPr marL="0" indent="0" algn="ctr">
              <a:buNone/>
              <a:defRPr sz="2844"/>
            </a:lvl1pPr>
            <a:lvl2pPr marL="812810" indent="0">
              <a:buNone/>
              <a:defRPr sz="2844"/>
            </a:lvl2pPr>
            <a:lvl3pPr marL="1625620" indent="0">
              <a:buNone/>
              <a:defRPr sz="2844"/>
            </a:lvl3pPr>
            <a:lvl4pPr marL="2438430" indent="0">
              <a:buNone/>
              <a:defRPr sz="2844"/>
            </a:lvl4pPr>
            <a:lvl5pPr marL="3251241" indent="0">
              <a:buNone/>
              <a:defRPr sz="2844"/>
            </a:lvl5pPr>
            <a:lvl6pPr marL="4064051" indent="0">
              <a:buNone/>
              <a:defRPr sz="2844"/>
            </a:lvl6pPr>
            <a:lvl7pPr marL="4876861" indent="0">
              <a:buNone/>
              <a:defRPr sz="2844"/>
            </a:lvl7pPr>
            <a:lvl8pPr marL="5689671" indent="0">
              <a:buNone/>
              <a:defRPr sz="2844"/>
            </a:lvl8pPr>
            <a:lvl9pPr marL="6502481" indent="0">
              <a:buNone/>
              <a:defRPr sz="2844"/>
            </a:lvl9pPr>
          </a:lstStyle>
          <a:p>
            <a:endParaRPr lang="en-US"/>
          </a:p>
        </p:txBody>
      </p:sp>
      <p:sp>
        <p:nvSpPr>
          <p:cNvPr id="4" name="Text Placeholder 3"/>
          <p:cNvSpPr>
            <a:spLocks noGrp="1"/>
          </p:cNvSpPr>
          <p:nvPr>
            <p:ph type="body" sz="half" idx="2"/>
          </p:nvPr>
        </p:nvSpPr>
        <p:spPr>
          <a:xfrm>
            <a:off x="508001" y="4025504"/>
            <a:ext cx="6447500" cy="505518"/>
          </a:xfrm>
        </p:spPr>
        <p:txBody>
          <a:bodyPr>
            <a:normAutofit/>
          </a:bodyPr>
          <a:lstStyle>
            <a:lvl1pPr marL="0" indent="0">
              <a:buNone/>
              <a:defRPr sz="2133"/>
            </a:lvl1pPr>
            <a:lvl2pPr marL="812810" indent="0">
              <a:buNone/>
              <a:defRPr sz="2133"/>
            </a:lvl2pPr>
            <a:lvl3pPr marL="1625620" indent="0">
              <a:buNone/>
              <a:defRPr sz="1778"/>
            </a:lvl3pPr>
            <a:lvl4pPr marL="2438430" indent="0">
              <a:buNone/>
              <a:defRPr sz="1600"/>
            </a:lvl4pPr>
            <a:lvl5pPr marL="3251241" indent="0">
              <a:buNone/>
              <a:defRPr sz="1600"/>
            </a:lvl5pPr>
            <a:lvl6pPr marL="4064051" indent="0">
              <a:buNone/>
              <a:defRPr sz="1600"/>
            </a:lvl6pPr>
            <a:lvl7pPr marL="4876861" indent="0">
              <a:buNone/>
              <a:defRPr sz="1600"/>
            </a:lvl7pPr>
            <a:lvl8pPr marL="5689671" indent="0">
              <a:buNone/>
              <a:defRPr sz="1600"/>
            </a:lvl8pPr>
            <a:lvl9pPr marL="6502481" indent="0">
              <a:buNone/>
              <a:defRPr sz="16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
        <p:nvSpPr>
          <p:cNvPr id="5" name="Date Placeholder 4"/>
          <p:cNvSpPr>
            <a:spLocks noGrp="1"/>
          </p:cNvSpPr>
          <p:nvPr>
            <p:ph type="dt" sz="half" idx="10"/>
          </p:nvPr>
        </p:nvSpPr>
        <p:spPr/>
        <p:txBody>
          <a:bodyPr/>
          <a:lstStyle/>
          <a:p>
            <a:fld id="{B61BEF0D-F0BB-DE4B-95CE-6DB70DBA9567}" type="datetimeFigureOut">
              <a:rPr lang="en-US" dirty="0"/>
              <a:pPr/>
              <a:t>12/13/2021</a:t>
            </a:fld>
            <a:endParaRPr lang="en-US"/>
          </a:p>
        </p:txBody>
      </p:sp>
    </p:spTree>
    <p:extLst>
      <p:ext uri="{BB962C8B-B14F-4D97-AF65-F5344CB8AC3E}">
        <p14:creationId xmlns:p14="http://schemas.microsoft.com/office/powerpoint/2010/main" val="41402992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2552700"/>
          </a:xfrm>
        </p:spPr>
        <p:txBody>
          <a:bodyPr anchor="ctr">
            <a:normAutofit/>
          </a:bodyPr>
          <a:lstStyle>
            <a:lvl1pPr algn="l">
              <a:defRPr sz="7822" b="0" cap="none"/>
            </a:lvl1pPr>
          </a:lstStyle>
          <a:p>
            <a:r>
              <a:rPr lang="en-US"/>
              <a:t>Click to edit Master title style</a:t>
            </a:r>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3200">
                <a:solidFill>
                  <a:schemeClr val="tx1">
                    <a:lumMod val="75000"/>
                    <a:lumOff val="25000"/>
                  </a:schemeClr>
                </a:solidFill>
              </a:defRPr>
            </a:lvl1pPr>
            <a:lvl2pPr marL="812810" indent="0">
              <a:buNone/>
              <a:defRPr sz="3200">
                <a:solidFill>
                  <a:schemeClr val="tx1">
                    <a:tint val="75000"/>
                  </a:schemeClr>
                </a:solidFill>
              </a:defRPr>
            </a:lvl2pPr>
            <a:lvl3pPr marL="1625620" indent="0">
              <a:buNone/>
              <a:defRPr sz="2844">
                <a:solidFill>
                  <a:schemeClr val="tx1">
                    <a:tint val="75000"/>
                  </a:schemeClr>
                </a:solidFill>
              </a:defRPr>
            </a:lvl3pPr>
            <a:lvl4pPr marL="2438430" indent="0">
              <a:buNone/>
              <a:defRPr sz="2489">
                <a:solidFill>
                  <a:schemeClr val="tx1">
                    <a:tint val="75000"/>
                  </a:schemeClr>
                </a:solidFill>
              </a:defRPr>
            </a:lvl4pPr>
            <a:lvl5pPr marL="3251241" indent="0">
              <a:buNone/>
              <a:defRPr sz="2489">
                <a:solidFill>
                  <a:schemeClr val="tx1">
                    <a:tint val="75000"/>
                  </a:schemeClr>
                </a:solidFill>
              </a:defRPr>
            </a:lvl5pPr>
            <a:lvl6pPr marL="4064051" indent="0">
              <a:buNone/>
              <a:defRPr sz="2489">
                <a:solidFill>
                  <a:schemeClr val="tx1">
                    <a:tint val="75000"/>
                  </a:schemeClr>
                </a:solidFill>
              </a:defRPr>
            </a:lvl6pPr>
            <a:lvl7pPr marL="4876861" indent="0">
              <a:buNone/>
              <a:defRPr sz="2489">
                <a:solidFill>
                  <a:schemeClr val="tx1">
                    <a:tint val="75000"/>
                  </a:schemeClr>
                </a:solidFill>
              </a:defRPr>
            </a:lvl7pPr>
            <a:lvl8pPr marL="5689671" indent="0">
              <a:buNone/>
              <a:defRPr sz="2489">
                <a:solidFill>
                  <a:schemeClr val="tx1">
                    <a:tint val="75000"/>
                  </a:schemeClr>
                </a:solidFill>
              </a:defRPr>
            </a:lvl8pPr>
            <a:lvl9pPr marL="6502481" indent="0">
              <a:buNone/>
              <a:defRPr sz="2489">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1942511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7822" b="0" cap="none"/>
            </a:lvl1pPr>
          </a:lstStyle>
          <a:p>
            <a:r>
              <a:rPr lang="en-US"/>
              <a:t>Click to edit Master title style</a:t>
            </a:r>
          </a:p>
        </p:txBody>
      </p:sp>
      <p:sp>
        <p:nvSpPr>
          <p:cNvPr id="23" name="Text Placeholder 9"/>
          <p:cNvSpPr>
            <a:spLocks noGrp="1"/>
          </p:cNvSpPr>
          <p:nvPr>
            <p:ph type="body" sz="quarter" idx="13"/>
          </p:nvPr>
        </p:nvSpPr>
        <p:spPr>
          <a:xfrm>
            <a:off x="1024604" y="2724150"/>
            <a:ext cx="5418393" cy="285750"/>
          </a:xfrm>
        </p:spPr>
        <p:txBody>
          <a:bodyPr anchor="ctr">
            <a:noAutofit/>
          </a:bodyPr>
          <a:lstStyle>
            <a:lvl1pPr marL="0" indent="0">
              <a:buFontTx/>
              <a:buNone/>
              <a:defRPr sz="2844">
                <a:solidFill>
                  <a:schemeClr val="tx1">
                    <a:lumMod val="50000"/>
                    <a:lumOff val="50000"/>
                  </a:schemeClr>
                </a:solidFill>
              </a:defRPr>
            </a:lvl1pPr>
            <a:lvl2pPr marL="812810" indent="0">
              <a:buFontTx/>
              <a:buNone/>
              <a:defRPr/>
            </a:lvl2pPr>
            <a:lvl3pPr marL="1625620" indent="0">
              <a:buFontTx/>
              <a:buNone/>
              <a:defRPr/>
            </a:lvl3pPr>
            <a:lvl4pPr marL="2438430" indent="0">
              <a:buFontTx/>
              <a:buNone/>
              <a:defRPr/>
            </a:lvl4pPr>
            <a:lvl5pPr marL="3251241"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3200">
                <a:solidFill>
                  <a:schemeClr val="tx1">
                    <a:lumMod val="75000"/>
                    <a:lumOff val="25000"/>
                  </a:schemeClr>
                </a:solidFill>
              </a:defRPr>
            </a:lvl1pPr>
            <a:lvl2pPr marL="812810" indent="0">
              <a:buNone/>
              <a:defRPr sz="3200">
                <a:solidFill>
                  <a:schemeClr val="tx1">
                    <a:tint val="75000"/>
                  </a:schemeClr>
                </a:solidFill>
              </a:defRPr>
            </a:lvl2pPr>
            <a:lvl3pPr marL="1625620" indent="0">
              <a:buNone/>
              <a:defRPr sz="2844">
                <a:solidFill>
                  <a:schemeClr val="tx1">
                    <a:tint val="75000"/>
                  </a:schemeClr>
                </a:solidFill>
              </a:defRPr>
            </a:lvl3pPr>
            <a:lvl4pPr marL="2438430" indent="0">
              <a:buNone/>
              <a:defRPr sz="2489">
                <a:solidFill>
                  <a:schemeClr val="tx1">
                    <a:tint val="75000"/>
                  </a:schemeClr>
                </a:solidFill>
              </a:defRPr>
            </a:lvl4pPr>
            <a:lvl5pPr marL="3251241" indent="0">
              <a:buNone/>
              <a:defRPr sz="2489">
                <a:solidFill>
                  <a:schemeClr val="tx1">
                    <a:tint val="75000"/>
                  </a:schemeClr>
                </a:solidFill>
              </a:defRPr>
            </a:lvl5pPr>
            <a:lvl6pPr marL="4064051" indent="0">
              <a:buNone/>
              <a:defRPr sz="2489">
                <a:solidFill>
                  <a:schemeClr val="tx1">
                    <a:tint val="75000"/>
                  </a:schemeClr>
                </a:solidFill>
              </a:defRPr>
            </a:lvl6pPr>
            <a:lvl7pPr marL="4876861" indent="0">
              <a:buNone/>
              <a:defRPr sz="2489">
                <a:solidFill>
                  <a:schemeClr val="tx1">
                    <a:tint val="75000"/>
                  </a:schemeClr>
                </a:solidFill>
              </a:defRPr>
            </a:lvl7pPr>
            <a:lvl8pPr marL="5689671" indent="0">
              <a:buNone/>
              <a:defRPr sz="2489">
                <a:solidFill>
                  <a:schemeClr val="tx1">
                    <a:tint val="75000"/>
                  </a:schemeClr>
                </a:solidFill>
              </a:defRPr>
            </a:lvl8pPr>
            <a:lvl9pPr marL="6502481" indent="0">
              <a:buNone/>
              <a:defRPr sz="2489">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
        <p:nvSpPr>
          <p:cNvPr id="24" name="TextBox 23"/>
          <p:cNvSpPr txBox="1"/>
          <p:nvPr/>
        </p:nvSpPr>
        <p:spPr>
          <a:xfrm>
            <a:off x="406403" y="592784"/>
            <a:ext cx="457200" cy="438582"/>
          </a:xfrm>
          <a:prstGeom prst="rect">
            <a:avLst/>
          </a:prstGeom>
        </p:spPr>
        <p:txBody>
          <a:bodyPr vert="horz" lIns="162560" tIns="81280" rIns="162560" bIns="81280" rtlCol="0" anchor="ctr">
            <a:noAutofit/>
          </a:bodyPr>
          <a:lstStyle/>
          <a:p>
            <a:pPr lvl="0"/>
            <a:r>
              <a:rPr lang="en-US" sz="14222" baseline="0">
                <a:ln w="3175" cmpd="sng">
                  <a:noFill/>
                </a:ln>
                <a:solidFill>
                  <a:schemeClr val="accent1">
                    <a:lumMod val="60000"/>
                    <a:lumOff val="40000"/>
                  </a:schemeClr>
                </a:solidFill>
                <a:effectLst/>
                <a:latin typeface="Arial"/>
              </a:rPr>
              <a:t>“</a:t>
            </a:r>
          </a:p>
        </p:txBody>
      </p:sp>
      <p:sp>
        <p:nvSpPr>
          <p:cNvPr id="25" name="TextBox 24"/>
          <p:cNvSpPr txBox="1"/>
          <p:nvPr/>
        </p:nvSpPr>
        <p:spPr>
          <a:xfrm>
            <a:off x="6669758" y="2164917"/>
            <a:ext cx="457200" cy="438582"/>
          </a:xfrm>
          <a:prstGeom prst="rect">
            <a:avLst/>
          </a:prstGeom>
        </p:spPr>
        <p:txBody>
          <a:bodyPr vert="horz" lIns="162560" tIns="81280" rIns="162560" bIns="81280" rtlCol="0" anchor="ctr">
            <a:noAutofit/>
          </a:bodyPr>
          <a:lstStyle/>
          <a:p>
            <a:pPr lvl="0"/>
            <a:r>
              <a:rPr lang="en-US" sz="14222" baseline="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4923161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08001" y="1448991"/>
            <a:ext cx="6447501" cy="1946595"/>
          </a:xfrm>
        </p:spPr>
        <p:txBody>
          <a:bodyPr anchor="b">
            <a:normAutofit/>
          </a:bodyPr>
          <a:lstStyle>
            <a:lvl1pPr algn="l">
              <a:defRPr sz="7822" b="0" cap="none"/>
            </a:lvl1pPr>
          </a:lstStyle>
          <a:p>
            <a:r>
              <a:rPr lang="en-US"/>
              <a:t>Click to edit Master title style</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3200">
                <a:solidFill>
                  <a:schemeClr val="tx1">
                    <a:lumMod val="75000"/>
                    <a:lumOff val="25000"/>
                  </a:schemeClr>
                </a:solidFill>
              </a:defRPr>
            </a:lvl1pPr>
            <a:lvl2pPr marL="812810" indent="0">
              <a:buNone/>
              <a:defRPr sz="3200">
                <a:solidFill>
                  <a:schemeClr val="tx1">
                    <a:tint val="75000"/>
                  </a:schemeClr>
                </a:solidFill>
              </a:defRPr>
            </a:lvl2pPr>
            <a:lvl3pPr marL="1625620" indent="0">
              <a:buNone/>
              <a:defRPr sz="2844">
                <a:solidFill>
                  <a:schemeClr val="tx1">
                    <a:tint val="75000"/>
                  </a:schemeClr>
                </a:solidFill>
              </a:defRPr>
            </a:lvl3pPr>
            <a:lvl4pPr marL="2438430" indent="0">
              <a:buNone/>
              <a:defRPr sz="2489">
                <a:solidFill>
                  <a:schemeClr val="tx1">
                    <a:tint val="75000"/>
                  </a:schemeClr>
                </a:solidFill>
              </a:defRPr>
            </a:lvl4pPr>
            <a:lvl5pPr marL="3251241" indent="0">
              <a:buNone/>
              <a:defRPr sz="2489">
                <a:solidFill>
                  <a:schemeClr val="tx1">
                    <a:tint val="75000"/>
                  </a:schemeClr>
                </a:solidFill>
              </a:defRPr>
            </a:lvl5pPr>
            <a:lvl6pPr marL="4064051" indent="0">
              <a:buNone/>
              <a:defRPr sz="2489">
                <a:solidFill>
                  <a:schemeClr val="tx1">
                    <a:tint val="75000"/>
                  </a:schemeClr>
                </a:solidFill>
              </a:defRPr>
            </a:lvl6pPr>
            <a:lvl7pPr marL="4876861" indent="0">
              <a:buNone/>
              <a:defRPr sz="2489">
                <a:solidFill>
                  <a:schemeClr val="tx1">
                    <a:tint val="75000"/>
                  </a:schemeClr>
                </a:solidFill>
              </a:defRPr>
            </a:lvl7pPr>
            <a:lvl8pPr marL="5689671" indent="0">
              <a:buNone/>
              <a:defRPr sz="2489">
                <a:solidFill>
                  <a:schemeClr val="tx1">
                    <a:tint val="75000"/>
                  </a:schemeClr>
                </a:solidFill>
              </a:defRPr>
            </a:lvl8pPr>
            <a:lvl9pPr marL="6502481" indent="0">
              <a:buNone/>
              <a:defRPr sz="2489">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9630710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7822" b="0" cap="none"/>
            </a:lvl1pPr>
          </a:lstStyle>
          <a:p>
            <a:r>
              <a:rPr lang="en-US"/>
              <a:t>Click to edit Master title style</a:t>
            </a:r>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4267">
                <a:solidFill>
                  <a:schemeClr val="tx1">
                    <a:lumMod val="75000"/>
                    <a:lumOff val="25000"/>
                  </a:schemeClr>
                </a:solidFill>
              </a:defRPr>
            </a:lvl1pPr>
            <a:lvl2pPr marL="812810" indent="0">
              <a:buFontTx/>
              <a:buNone/>
              <a:defRPr/>
            </a:lvl2pPr>
            <a:lvl3pPr marL="1625620" indent="0">
              <a:buFontTx/>
              <a:buNone/>
              <a:defRPr/>
            </a:lvl3pPr>
            <a:lvl4pPr marL="2438430" indent="0">
              <a:buFontTx/>
              <a:buNone/>
              <a:defRPr/>
            </a:lvl4pPr>
            <a:lvl5pPr marL="3251241"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3200">
                <a:solidFill>
                  <a:schemeClr val="tx1">
                    <a:lumMod val="50000"/>
                    <a:lumOff val="50000"/>
                  </a:schemeClr>
                </a:solidFill>
              </a:defRPr>
            </a:lvl1pPr>
            <a:lvl2pPr marL="812810" indent="0">
              <a:buNone/>
              <a:defRPr sz="3200">
                <a:solidFill>
                  <a:schemeClr val="tx1">
                    <a:tint val="75000"/>
                  </a:schemeClr>
                </a:solidFill>
              </a:defRPr>
            </a:lvl2pPr>
            <a:lvl3pPr marL="1625620" indent="0">
              <a:buNone/>
              <a:defRPr sz="2844">
                <a:solidFill>
                  <a:schemeClr val="tx1">
                    <a:tint val="75000"/>
                  </a:schemeClr>
                </a:solidFill>
              </a:defRPr>
            </a:lvl3pPr>
            <a:lvl4pPr marL="2438430" indent="0">
              <a:buNone/>
              <a:defRPr sz="2489">
                <a:solidFill>
                  <a:schemeClr val="tx1">
                    <a:tint val="75000"/>
                  </a:schemeClr>
                </a:solidFill>
              </a:defRPr>
            </a:lvl4pPr>
            <a:lvl5pPr marL="3251241" indent="0">
              <a:buNone/>
              <a:defRPr sz="2489">
                <a:solidFill>
                  <a:schemeClr val="tx1">
                    <a:tint val="75000"/>
                  </a:schemeClr>
                </a:solidFill>
              </a:defRPr>
            </a:lvl5pPr>
            <a:lvl6pPr marL="4064051" indent="0">
              <a:buNone/>
              <a:defRPr sz="2489">
                <a:solidFill>
                  <a:schemeClr val="tx1">
                    <a:tint val="75000"/>
                  </a:schemeClr>
                </a:solidFill>
              </a:defRPr>
            </a:lvl6pPr>
            <a:lvl7pPr marL="4876861" indent="0">
              <a:buNone/>
              <a:defRPr sz="2489">
                <a:solidFill>
                  <a:schemeClr val="tx1">
                    <a:tint val="75000"/>
                  </a:schemeClr>
                </a:solidFill>
              </a:defRPr>
            </a:lvl7pPr>
            <a:lvl8pPr marL="5689671" indent="0">
              <a:buNone/>
              <a:defRPr sz="2489">
                <a:solidFill>
                  <a:schemeClr val="tx1">
                    <a:tint val="75000"/>
                  </a:schemeClr>
                </a:solidFill>
              </a:defRPr>
            </a:lvl8pPr>
            <a:lvl9pPr marL="6502481" indent="0">
              <a:buNone/>
              <a:defRPr sz="2489">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
        <p:nvSpPr>
          <p:cNvPr id="24" name="TextBox 23"/>
          <p:cNvSpPr txBox="1"/>
          <p:nvPr/>
        </p:nvSpPr>
        <p:spPr>
          <a:xfrm>
            <a:off x="406403" y="592784"/>
            <a:ext cx="457200" cy="438582"/>
          </a:xfrm>
          <a:prstGeom prst="rect">
            <a:avLst/>
          </a:prstGeom>
        </p:spPr>
        <p:txBody>
          <a:bodyPr vert="horz" lIns="162560" tIns="81280" rIns="162560" bIns="81280" rtlCol="0" anchor="ctr">
            <a:noAutofit/>
          </a:bodyPr>
          <a:lstStyle/>
          <a:p>
            <a:pPr lvl="0"/>
            <a:r>
              <a:rPr lang="en-US" sz="14222" baseline="0">
                <a:ln w="3175" cmpd="sng">
                  <a:noFill/>
                </a:ln>
                <a:solidFill>
                  <a:schemeClr val="accent1">
                    <a:lumMod val="60000"/>
                    <a:lumOff val="40000"/>
                  </a:schemeClr>
                </a:solidFill>
                <a:effectLst/>
                <a:latin typeface="Arial"/>
              </a:rPr>
              <a:t>“</a:t>
            </a:r>
          </a:p>
        </p:txBody>
      </p:sp>
      <p:sp>
        <p:nvSpPr>
          <p:cNvPr id="25" name="TextBox 24"/>
          <p:cNvSpPr txBox="1"/>
          <p:nvPr/>
        </p:nvSpPr>
        <p:spPr>
          <a:xfrm>
            <a:off x="6669758" y="2164917"/>
            <a:ext cx="457200" cy="438582"/>
          </a:xfrm>
          <a:prstGeom prst="rect">
            <a:avLst/>
          </a:prstGeom>
        </p:spPr>
        <p:txBody>
          <a:bodyPr vert="horz" lIns="162560" tIns="81280" rIns="162560" bIns="81280" rtlCol="0" anchor="ctr">
            <a:noAutofit/>
          </a:bodyPr>
          <a:lstStyle/>
          <a:p>
            <a:pPr lvl="0"/>
            <a:r>
              <a:rPr lang="en-US" sz="14222" baseline="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1180362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14350" y="457200"/>
            <a:ext cx="6441152" cy="2266950"/>
          </a:xfrm>
        </p:spPr>
        <p:txBody>
          <a:bodyPr anchor="ctr">
            <a:normAutofit/>
          </a:bodyPr>
          <a:lstStyle>
            <a:lvl1pPr algn="l">
              <a:defRPr sz="7822" b="0" cap="none"/>
            </a:lvl1pPr>
          </a:lstStyle>
          <a:p>
            <a:r>
              <a:rPr lang="en-US"/>
              <a:t>Click to edit Master title style</a:t>
            </a:r>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4267">
                <a:solidFill>
                  <a:schemeClr val="accent1"/>
                </a:solidFill>
              </a:defRPr>
            </a:lvl1pPr>
            <a:lvl2pPr marL="812810" indent="0">
              <a:buFontTx/>
              <a:buNone/>
              <a:defRPr/>
            </a:lvl2pPr>
            <a:lvl3pPr marL="1625620" indent="0">
              <a:buFontTx/>
              <a:buNone/>
              <a:defRPr/>
            </a:lvl3pPr>
            <a:lvl4pPr marL="2438430" indent="0">
              <a:buFontTx/>
              <a:buNone/>
              <a:defRPr/>
            </a:lvl4pPr>
            <a:lvl5pPr marL="3251241" indent="0">
              <a:buFontTx/>
              <a:buNone/>
              <a:defRPr/>
            </a:lvl5pPr>
          </a:lstStyle>
          <a:p>
            <a:pPr lvl="0"/>
            <a:r>
              <a:rPr lang="en-US"/>
              <a:t>Click to edit Master text styles</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3200">
                <a:solidFill>
                  <a:schemeClr val="tx1">
                    <a:lumMod val="50000"/>
                    <a:lumOff val="50000"/>
                  </a:schemeClr>
                </a:solidFill>
              </a:defRPr>
            </a:lvl1pPr>
            <a:lvl2pPr marL="812810" indent="0">
              <a:buNone/>
              <a:defRPr sz="3200">
                <a:solidFill>
                  <a:schemeClr val="tx1">
                    <a:tint val="75000"/>
                  </a:schemeClr>
                </a:solidFill>
              </a:defRPr>
            </a:lvl2pPr>
            <a:lvl3pPr marL="1625620" indent="0">
              <a:buNone/>
              <a:defRPr sz="2844">
                <a:solidFill>
                  <a:schemeClr val="tx1">
                    <a:tint val="75000"/>
                  </a:schemeClr>
                </a:solidFill>
              </a:defRPr>
            </a:lvl3pPr>
            <a:lvl4pPr marL="2438430" indent="0">
              <a:buNone/>
              <a:defRPr sz="2489">
                <a:solidFill>
                  <a:schemeClr val="tx1">
                    <a:tint val="75000"/>
                  </a:schemeClr>
                </a:solidFill>
              </a:defRPr>
            </a:lvl4pPr>
            <a:lvl5pPr marL="3251241" indent="0">
              <a:buNone/>
              <a:defRPr sz="2489">
                <a:solidFill>
                  <a:schemeClr val="tx1">
                    <a:tint val="75000"/>
                  </a:schemeClr>
                </a:solidFill>
              </a:defRPr>
            </a:lvl5pPr>
            <a:lvl6pPr marL="4064051" indent="0">
              <a:buNone/>
              <a:defRPr sz="2489">
                <a:solidFill>
                  <a:schemeClr val="tx1">
                    <a:tint val="75000"/>
                  </a:schemeClr>
                </a:solidFill>
              </a:defRPr>
            </a:lvl6pPr>
            <a:lvl7pPr marL="4876861" indent="0">
              <a:buNone/>
              <a:defRPr sz="2489">
                <a:solidFill>
                  <a:schemeClr val="tx1">
                    <a:tint val="75000"/>
                  </a:schemeClr>
                </a:solidFill>
              </a:defRPr>
            </a:lvl7pPr>
            <a:lvl8pPr marL="5689671" indent="0">
              <a:buNone/>
              <a:defRPr sz="2489">
                <a:solidFill>
                  <a:schemeClr val="tx1">
                    <a:tint val="75000"/>
                  </a:schemeClr>
                </a:solidFill>
              </a:defRPr>
            </a:lvl8pPr>
            <a:lvl9pPr marL="6502481" indent="0">
              <a:buNone/>
              <a:defRPr sz="2489">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4731536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5C6B4A9-1611-4792-9094-5F34BCA07E0B}" type="datetimeFigureOut">
              <a:rPr lang="en-US" dirty="0"/>
              <a:t>12/13/2021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a:p>
        </p:txBody>
      </p:sp>
    </p:spTree>
    <p:extLst>
      <p:ext uri="{BB962C8B-B14F-4D97-AF65-F5344CB8AC3E}">
        <p14:creationId xmlns:p14="http://schemas.microsoft.com/office/powerpoint/2010/main" val="10957082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5755" y="457200"/>
            <a:ext cx="978557" cy="3938588"/>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508001" y="457200"/>
            <a:ext cx="5295113" cy="39385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12/13/2021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4573340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3"/>
        <p:cNvGrpSpPr/>
        <p:nvPr/>
      </p:nvGrpSpPr>
      <p:grpSpPr>
        <a:xfrm>
          <a:off x="0" y="0"/>
          <a:ext cx="0" cy="0"/>
          <a:chOff x="0" y="0"/>
          <a:chExt cx="0" cy="0"/>
        </a:xfrm>
      </p:grpSpPr>
      <p:pic>
        <p:nvPicPr>
          <p:cNvPr id="14" name="Shape 14"/>
          <p:cNvPicPr preferRelativeResize="0"/>
          <p:nvPr/>
        </p:nvPicPr>
        <p:blipFill rotWithShape="1">
          <a:blip r:embed="rId2">
            <a:alphaModFix/>
          </a:blip>
          <a:srcRect/>
          <a:stretch/>
        </p:blipFill>
        <p:spPr>
          <a:xfrm>
            <a:off x="-7139" y="0"/>
            <a:ext cx="9151139" cy="5143500"/>
          </a:xfrm>
          <a:prstGeom prst="rect">
            <a:avLst/>
          </a:prstGeom>
          <a:noFill/>
          <a:ln>
            <a:noFill/>
          </a:ln>
        </p:spPr>
      </p:pic>
      <p:pic>
        <p:nvPicPr>
          <p:cNvPr id="15" name="Shape 15"/>
          <p:cNvPicPr preferRelativeResize="0"/>
          <p:nvPr/>
        </p:nvPicPr>
        <p:blipFill rotWithShape="1">
          <a:blip r:embed="rId3">
            <a:alphaModFix/>
          </a:blip>
          <a:srcRect/>
          <a:stretch/>
        </p:blipFill>
        <p:spPr>
          <a:xfrm>
            <a:off x="1374853" y="949238"/>
            <a:ext cx="6016733" cy="1622512"/>
          </a:xfrm>
          <a:prstGeom prst="rect">
            <a:avLst/>
          </a:prstGeom>
          <a:noFill/>
          <a:ln>
            <a:noFill/>
          </a:ln>
        </p:spPr>
      </p:pic>
    </p:spTree>
    <p:extLst>
      <p:ext uri="{BB962C8B-B14F-4D97-AF65-F5344CB8AC3E}">
        <p14:creationId xmlns:p14="http://schemas.microsoft.com/office/powerpoint/2010/main" val="41183952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62_medel PG">
  <p:cSld name="62_medel PG">
    <p:spTree>
      <p:nvGrpSpPr>
        <p:cNvPr id="1" name="Shape 37"/>
        <p:cNvGrpSpPr/>
        <p:nvPr/>
      </p:nvGrpSpPr>
      <p:grpSpPr>
        <a:xfrm>
          <a:off x="0" y="0"/>
          <a:ext cx="0" cy="0"/>
          <a:chOff x="0" y="0"/>
          <a:chExt cx="0" cy="0"/>
        </a:xfrm>
      </p:grpSpPr>
    </p:spTree>
    <p:extLst>
      <p:ext uri="{BB962C8B-B14F-4D97-AF65-F5344CB8AC3E}">
        <p14:creationId xmlns:p14="http://schemas.microsoft.com/office/powerpoint/2010/main" val="19080994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6350"/>
            <a:ext cx="9144000" cy="5149850"/>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508001" y="457200"/>
            <a:ext cx="6447501" cy="99060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508001" y="1620442"/>
            <a:ext cx="6447501" cy="29105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5403850" y="4531022"/>
            <a:ext cx="683954" cy="273844"/>
          </a:xfrm>
          <a:prstGeom prst="rect">
            <a:avLst/>
          </a:prstGeom>
        </p:spPr>
        <p:txBody>
          <a:bodyPr vert="horz" lIns="91440" tIns="45720" rIns="91440" bIns="45720" rtlCol="0" anchor="ctr"/>
          <a:lstStyle>
            <a:lvl1pPr algn="r">
              <a:defRPr sz="1600">
                <a:solidFill>
                  <a:schemeClr val="tx1">
                    <a:tint val="75000"/>
                  </a:schemeClr>
                </a:solidFill>
              </a:defRPr>
            </a:lvl1pPr>
          </a:lstStyle>
          <a:p>
            <a:fld id="{B61BEF0D-F0BB-DE4B-95CE-6DB70DBA9567}" type="datetimeFigureOut">
              <a:rPr lang="en-US" dirty="0"/>
              <a:pPr/>
              <a:t>12/13/2021</a:t>
            </a:fld>
            <a:endParaRPr lang="en-US"/>
          </a:p>
        </p:txBody>
      </p:sp>
      <p:sp>
        <p:nvSpPr>
          <p:cNvPr id="5" name="Footer Placeholder 4"/>
          <p:cNvSpPr>
            <a:spLocks noGrp="1"/>
          </p:cNvSpPr>
          <p:nvPr>
            <p:ph type="ftr" sz="quarter" idx="3"/>
          </p:nvPr>
        </p:nvSpPr>
        <p:spPr>
          <a:xfrm>
            <a:off x="508001" y="4531022"/>
            <a:ext cx="4723209" cy="273844"/>
          </a:xfrm>
          <a:prstGeom prst="rect">
            <a:avLst/>
          </a:prstGeom>
        </p:spPr>
        <p:txBody>
          <a:bodyPr vert="horz" lIns="91440" tIns="45720" rIns="91440" bIns="45720" rtlCol="0" anchor="ctr"/>
          <a:lstStyle>
            <a:lvl1pPr algn="l">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42998" y="4531022"/>
            <a:ext cx="512504" cy="273844"/>
          </a:xfrm>
          <a:prstGeom prst="rect">
            <a:avLst/>
          </a:prstGeom>
        </p:spPr>
        <p:txBody>
          <a:bodyPr vert="horz" lIns="91440" tIns="45720" rIns="91440" bIns="45720" rtlCol="0" anchor="ctr"/>
          <a:lstStyle>
            <a:lvl1pPr algn="r">
              <a:defRPr sz="1600">
                <a:solidFill>
                  <a:schemeClr val="accent1"/>
                </a:solidFill>
              </a:defRPr>
            </a:lvl1pPr>
          </a:lstStyle>
          <a:p>
            <a:fld id="{D57F1E4F-1CFF-5643-939E-217C01CDF565}" type="slidenum">
              <a:rPr lang="en-US" dirty="0"/>
              <a:pPr/>
              <a:t>‹#›</a:t>
            </a:fld>
            <a:endParaRPr lang="en-US"/>
          </a:p>
        </p:txBody>
      </p:sp>
    </p:spTree>
    <p:extLst>
      <p:ext uri="{BB962C8B-B14F-4D97-AF65-F5344CB8AC3E}">
        <p14:creationId xmlns:p14="http://schemas.microsoft.com/office/powerpoint/2010/main" val="2883654709"/>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96" r:id="rId15"/>
    <p:sldLayoutId id="2147483697" r:id="rId16"/>
    <p:sldLayoutId id="2147483698" r:id="rId17"/>
    <p:sldLayoutId id="2147483699" r:id="rId18"/>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microsoft.com/office/2007/relationships/hdphoto" Target="../media/hdphoto1.wdp"/></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8.xml"/><Relationship Id="rId5" Type="http://schemas.openxmlformats.org/officeDocument/2006/relationships/image" Target="../media/image16.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18.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hyperlink" Target="https://www.ncsc.gov.uk/articles/problems-forcing-regular-password-expiry" TargetMode="External"/><Relationship Id="rId2" Type="http://schemas.openxmlformats.org/officeDocument/2006/relationships/notesSlide" Target="../notesSlides/notesSlide18.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1.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3" Type="http://schemas.openxmlformats.org/officeDocument/2006/relationships/hyperlink" Target="mailto:dpo@dataprotection.education" TargetMode="External"/><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15.xml"/><Relationship Id="rId4" Type="http://schemas.openxmlformats.org/officeDocument/2006/relationships/hyperlink" Target="mailto:DPO@dataprotection.educatio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Shape 82"/>
          <p:cNvSpPr txBox="1"/>
          <p:nvPr/>
        </p:nvSpPr>
        <p:spPr>
          <a:xfrm>
            <a:off x="869089" y="1964398"/>
            <a:ext cx="7113300" cy="19389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4000"/>
              <a:buFont typeface="Calibri"/>
              <a:buNone/>
            </a:pPr>
            <a:endParaRPr lang="en-US" sz="3200" b="1" dirty="0">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4000"/>
              <a:buFont typeface="Calibri"/>
              <a:buNone/>
            </a:pPr>
            <a:r>
              <a:rPr lang="en-US" sz="3200" b="1" dirty="0">
                <a:latin typeface="Calibri"/>
                <a:ea typeface="Calibri"/>
                <a:cs typeface="Calibri"/>
                <a:sym typeface="Calibri"/>
              </a:rPr>
              <a:t>Data Protection Awareness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37EBA-D850-465A-9C1D-215E54E5D8EF}"/>
              </a:ext>
            </a:extLst>
          </p:cNvPr>
          <p:cNvSpPr>
            <a:spLocks noGrp="1"/>
          </p:cNvSpPr>
          <p:nvPr>
            <p:ph type="title"/>
          </p:nvPr>
        </p:nvSpPr>
        <p:spPr>
          <a:xfrm>
            <a:off x="383077" y="1074296"/>
            <a:ext cx="7886700" cy="2604715"/>
          </a:xfrm>
        </p:spPr>
        <p:txBody>
          <a:bodyPr>
            <a:normAutofit/>
          </a:bodyPr>
          <a:lstStyle/>
          <a:p>
            <a:r>
              <a:rPr lang="en-US" sz="2000" b="1" dirty="0">
                <a:solidFill>
                  <a:srgbClr val="0070C0"/>
                </a:solidFill>
                <a:latin typeface="Calibri" panose="020F0502020204030204" pitchFamily="34" charset="0"/>
                <a:cs typeface="Calibri" panose="020F0502020204030204" pitchFamily="34" charset="0"/>
              </a:rPr>
              <a:t>Agenda</a:t>
            </a:r>
            <a:br>
              <a:rPr lang="en-US" sz="2000" b="1" dirty="0">
                <a:solidFill>
                  <a:srgbClr val="0070C0"/>
                </a:solidFill>
                <a:latin typeface="Calibri" panose="020F0502020204030204" pitchFamily="34" charset="0"/>
                <a:cs typeface="Calibri" panose="020F0502020204030204" pitchFamily="34" charset="0"/>
              </a:rPr>
            </a:br>
            <a:br>
              <a:rPr lang="en-US" sz="2000" b="1" dirty="0">
                <a:solidFill>
                  <a:srgbClr val="0070C0"/>
                </a:solidFill>
                <a:latin typeface="Calibri" panose="020F0502020204030204" pitchFamily="34" charset="0"/>
                <a:cs typeface="Calibri" panose="020F0502020204030204" pitchFamily="34" charset="0"/>
              </a:rPr>
            </a:br>
            <a:r>
              <a:rPr lang="en-US" sz="2000" dirty="0">
                <a:solidFill>
                  <a:srgbClr val="0070C0"/>
                </a:solidFill>
                <a:latin typeface="Calibri" panose="020F0502020204030204" pitchFamily="34" charset="0"/>
                <a:cs typeface="Calibri" panose="020F0502020204030204" pitchFamily="34" charset="0"/>
              </a:rPr>
              <a:t>Data Protection Education (DPE)  as your </a:t>
            </a:r>
            <a:r>
              <a:rPr lang="en-US" sz="2000" dirty="0" err="1">
                <a:solidFill>
                  <a:srgbClr val="0070C0"/>
                </a:solidFill>
                <a:latin typeface="Calibri" panose="020F0502020204030204" pitchFamily="34" charset="0"/>
                <a:cs typeface="Calibri" panose="020F0502020204030204" pitchFamily="34" charset="0"/>
              </a:rPr>
              <a:t>DPO</a:t>
            </a:r>
            <a:br>
              <a:rPr lang="en-US" sz="2000" dirty="0">
                <a:solidFill>
                  <a:srgbClr val="0070C0"/>
                </a:solidFill>
                <a:latin typeface="Calibri" panose="020F0502020204030204" pitchFamily="34" charset="0"/>
                <a:cs typeface="Calibri" panose="020F0502020204030204" pitchFamily="34" charset="0"/>
              </a:rPr>
            </a:br>
            <a:br>
              <a:rPr lang="en-US" sz="2000" dirty="0">
                <a:solidFill>
                  <a:srgbClr val="0070C0"/>
                </a:solidFill>
                <a:latin typeface="Calibri" panose="020F0502020204030204" pitchFamily="34" charset="0"/>
                <a:cs typeface="Calibri" panose="020F0502020204030204" pitchFamily="34" charset="0"/>
              </a:rPr>
            </a:br>
            <a:r>
              <a:rPr lang="en-US" sz="2000" dirty="0">
                <a:solidFill>
                  <a:srgbClr val="0070C0"/>
                </a:solidFill>
                <a:latin typeface="Calibri" panose="020F0502020204030204" pitchFamily="34" charset="0"/>
                <a:cs typeface="Calibri" panose="020F0502020204030204" pitchFamily="34" charset="0"/>
              </a:rPr>
              <a:t>Part 1: Overview of GDPR including key terminology and best practice</a:t>
            </a:r>
            <a:br>
              <a:rPr lang="en-US" sz="2000" dirty="0">
                <a:solidFill>
                  <a:srgbClr val="0070C0"/>
                </a:solidFill>
                <a:latin typeface="Calibri" panose="020F0502020204030204" pitchFamily="34" charset="0"/>
                <a:cs typeface="Calibri" panose="020F0502020204030204" pitchFamily="34" charset="0"/>
              </a:rPr>
            </a:br>
            <a:br>
              <a:rPr lang="en-US" sz="2000" dirty="0">
                <a:solidFill>
                  <a:srgbClr val="0070C0"/>
                </a:solidFill>
                <a:latin typeface="Calibri" panose="020F0502020204030204" pitchFamily="34" charset="0"/>
                <a:cs typeface="Calibri" panose="020F0502020204030204" pitchFamily="34" charset="0"/>
              </a:rPr>
            </a:br>
            <a:r>
              <a:rPr lang="en-US" sz="2000" dirty="0">
                <a:solidFill>
                  <a:srgbClr val="0070C0"/>
                </a:solidFill>
                <a:latin typeface="Calibri" panose="020F0502020204030204" pitchFamily="34" charset="0"/>
                <a:cs typeface="Calibri" panose="020F0502020204030204" pitchFamily="34" charset="0"/>
              </a:rPr>
              <a:t>Part 2: DPE and the champions/core team</a:t>
            </a:r>
            <a:br>
              <a:rPr lang="en-GB" sz="2000" dirty="0">
                <a:solidFill>
                  <a:srgbClr val="0070C0"/>
                </a:solidFill>
                <a:latin typeface="Calibri" panose="020F0502020204030204" pitchFamily="34" charset="0"/>
                <a:cs typeface="Calibri" panose="020F0502020204030204" pitchFamily="34" charset="0"/>
              </a:rPr>
            </a:br>
            <a:endParaRPr lang="en-GB" sz="2000" dirty="0">
              <a:solidFill>
                <a:srgbClr val="0070C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586135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5DAF080-9155-45DD-B371-9E5ACBB9551B}"/>
              </a:ext>
            </a:extLst>
          </p:cNvPr>
          <p:cNvPicPr/>
          <p:nvPr/>
        </p:nvPicPr>
        <p:blipFill rotWithShape="1">
          <a:blip r:embed="rId3"/>
          <a:srcRect l="10746" t="16148" r="58343" b="12439"/>
          <a:stretch/>
        </p:blipFill>
        <p:spPr bwMode="auto">
          <a:xfrm>
            <a:off x="422623" y="78281"/>
            <a:ext cx="8644538" cy="4986938"/>
          </a:xfrm>
          <a:prstGeom prst="rect">
            <a:avLst/>
          </a:prstGeom>
          <a:ln>
            <a:noFill/>
          </a:ln>
          <a:extLst>
            <a:ext uri="{53640926-AAD7-44D8-BBD7-CCE9431645EC}">
              <a14:shadowObscured xmlns:a14="http://schemas.microsoft.com/office/drawing/2010/main"/>
            </a:ext>
          </a:extLst>
        </p:spPr>
      </p:pic>
      <p:sp>
        <p:nvSpPr>
          <p:cNvPr id="2" name="Rectangle 1">
            <a:extLst>
              <a:ext uri="{FF2B5EF4-FFF2-40B4-BE49-F238E27FC236}">
                <a16:creationId xmlns:a16="http://schemas.microsoft.com/office/drawing/2014/main" id="{64E05597-263B-4A6B-972E-33B4035888D7}"/>
              </a:ext>
            </a:extLst>
          </p:cNvPr>
          <p:cNvSpPr/>
          <p:nvPr/>
        </p:nvSpPr>
        <p:spPr>
          <a:xfrm>
            <a:off x="2282024" y="4039263"/>
            <a:ext cx="771277" cy="1113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Rectangle 2">
            <a:extLst>
              <a:ext uri="{FF2B5EF4-FFF2-40B4-BE49-F238E27FC236}">
                <a16:creationId xmlns:a16="http://schemas.microsoft.com/office/drawing/2014/main" id="{A3C41124-2B0C-45D7-9324-CF40A9FD91D5}"/>
              </a:ext>
            </a:extLst>
          </p:cNvPr>
          <p:cNvSpPr/>
          <p:nvPr/>
        </p:nvSpPr>
        <p:spPr>
          <a:xfrm>
            <a:off x="6607534" y="1669773"/>
            <a:ext cx="882595" cy="795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2366105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graphicFrame>
        <p:nvGraphicFramePr>
          <p:cNvPr id="107" name="Shape 107"/>
          <p:cNvGraphicFramePr/>
          <p:nvPr>
            <p:extLst>
              <p:ext uri="{D42A27DB-BD31-4B8C-83A1-F6EECF244321}">
                <p14:modId xmlns:p14="http://schemas.microsoft.com/office/powerpoint/2010/main" val="551873265"/>
              </p:ext>
            </p:extLst>
          </p:nvPr>
        </p:nvGraphicFramePr>
        <p:xfrm>
          <a:off x="550310" y="1002189"/>
          <a:ext cx="7692330" cy="3750060"/>
        </p:xfrm>
        <a:graphic>
          <a:graphicData uri="http://schemas.openxmlformats.org/drawingml/2006/table">
            <a:tbl>
              <a:tblPr firstRow="1" bandRow="1">
                <a:noFill/>
                <a:tableStyleId>{96877413-0A6A-44EB-BF4E-155E3BCF56B8}</a:tableStyleId>
              </a:tblPr>
              <a:tblGrid>
                <a:gridCol w="1777305">
                  <a:extLst>
                    <a:ext uri="{9D8B030D-6E8A-4147-A177-3AD203B41FA5}">
                      <a16:colId xmlns:a16="http://schemas.microsoft.com/office/drawing/2014/main" val="20000"/>
                    </a:ext>
                  </a:extLst>
                </a:gridCol>
                <a:gridCol w="1971675">
                  <a:extLst>
                    <a:ext uri="{9D8B030D-6E8A-4147-A177-3AD203B41FA5}">
                      <a16:colId xmlns:a16="http://schemas.microsoft.com/office/drawing/2014/main" val="20001"/>
                    </a:ext>
                  </a:extLst>
                </a:gridCol>
                <a:gridCol w="1971675">
                  <a:extLst>
                    <a:ext uri="{9D8B030D-6E8A-4147-A177-3AD203B41FA5}">
                      <a16:colId xmlns:a16="http://schemas.microsoft.com/office/drawing/2014/main" val="20002"/>
                    </a:ext>
                  </a:extLst>
                </a:gridCol>
                <a:gridCol w="1971675">
                  <a:extLst>
                    <a:ext uri="{9D8B030D-6E8A-4147-A177-3AD203B41FA5}">
                      <a16:colId xmlns:a16="http://schemas.microsoft.com/office/drawing/2014/main" val="20003"/>
                    </a:ext>
                  </a:extLst>
                </a:gridCol>
              </a:tblGrid>
              <a:tr h="591426">
                <a:tc>
                  <a:txBody>
                    <a:bodyPr/>
                    <a:lstStyle/>
                    <a:p>
                      <a:pPr marL="0" marR="0" lvl="0" indent="0" algn="ctr" rtl="0">
                        <a:lnSpc>
                          <a:spcPct val="100000"/>
                        </a:lnSpc>
                        <a:spcBef>
                          <a:spcPts val="0"/>
                        </a:spcBef>
                        <a:spcAft>
                          <a:spcPts val="0"/>
                        </a:spcAft>
                        <a:buClr>
                          <a:srgbClr val="000000"/>
                        </a:buClr>
                        <a:buSzPts val="1800"/>
                        <a:buFont typeface="Arial"/>
                        <a:buNone/>
                      </a:pPr>
                      <a:r>
                        <a:rPr lang="en-US" sz="1800" b="0" u="none" strike="noStrike" cap="none" dirty="0">
                          <a:solidFill>
                            <a:schemeClr val="accent2"/>
                          </a:solidFill>
                        </a:rPr>
                        <a:t>Personal Data</a:t>
                      </a:r>
                      <a:endParaRPr sz="1800" b="0" u="none" strike="noStrike" cap="none" dirty="0">
                        <a:solidFill>
                          <a:schemeClr val="accent2"/>
                        </a:solidFill>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u="none" strike="noStrike" cap="none" dirty="0">
                          <a:solidFill>
                            <a:schemeClr val="accent2"/>
                          </a:solidFill>
                        </a:rPr>
                        <a:t>Data Subject</a:t>
                      </a:r>
                      <a:endParaRPr sz="1800" b="0" u="none" strike="noStrike" cap="none" dirty="0">
                        <a:solidFill>
                          <a:schemeClr val="accent2"/>
                        </a:solidFill>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chemeClr val="accent2"/>
                          </a:solidFill>
                        </a:rPr>
                        <a:t>Controller and processor </a:t>
                      </a:r>
                      <a:endParaRPr sz="1800" b="0" i="0" u="none" strike="noStrike" cap="none" dirty="0">
                        <a:solidFill>
                          <a:schemeClr val="accent2"/>
                        </a:solidFill>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u="none" strike="noStrike" cap="none" dirty="0">
                          <a:solidFill>
                            <a:schemeClr val="accent2"/>
                          </a:solidFill>
                        </a:rPr>
                        <a:t>Data Protection Officer (</a:t>
                      </a:r>
                      <a:r>
                        <a:rPr lang="en-US" sz="1800" b="0" u="none" strike="noStrike" cap="none" dirty="0" err="1">
                          <a:solidFill>
                            <a:schemeClr val="accent2"/>
                          </a:solidFill>
                        </a:rPr>
                        <a:t>DPO</a:t>
                      </a:r>
                      <a:r>
                        <a:rPr lang="en-US" sz="1800" b="0" u="none" strike="noStrike" cap="none" dirty="0">
                          <a:solidFill>
                            <a:schemeClr val="accent2"/>
                          </a:solidFill>
                        </a:rPr>
                        <a:t>)</a:t>
                      </a:r>
                    </a:p>
                  </a:txBody>
                  <a:tcPr marL="91450" marR="91450" marT="45725" marB="45725" anchor="ctr"/>
                </a:tc>
                <a:extLst>
                  <a:ext uri="{0D108BD9-81ED-4DB2-BD59-A6C34878D82A}">
                    <a16:rowId xmlns:a16="http://schemas.microsoft.com/office/drawing/2014/main" val="10000"/>
                  </a:ext>
                </a:extLst>
              </a:tr>
              <a:tr h="640489">
                <a:tc>
                  <a:txBody>
                    <a:bodyPr/>
                    <a:lstStyle/>
                    <a:p>
                      <a:pPr marL="0" marR="0" lvl="0" indent="0" algn="ctr" rtl="0">
                        <a:lnSpc>
                          <a:spcPct val="100000"/>
                        </a:lnSpc>
                        <a:spcBef>
                          <a:spcPts val="0"/>
                        </a:spcBef>
                        <a:spcAft>
                          <a:spcPts val="0"/>
                        </a:spcAft>
                        <a:buClr>
                          <a:srgbClr val="000000"/>
                        </a:buClr>
                        <a:buSzPts val="1800"/>
                        <a:buFont typeface="Arial"/>
                        <a:buNone/>
                      </a:pPr>
                      <a:r>
                        <a:rPr lang="en-US" sz="1800" b="0" u="none" strike="noStrike" cap="none" dirty="0">
                          <a:solidFill>
                            <a:schemeClr val="accent2"/>
                          </a:solidFill>
                        </a:rPr>
                        <a:t>Data Breach</a:t>
                      </a:r>
                      <a:endParaRPr sz="1800" b="0" u="none" strike="noStrike" cap="none" dirty="0">
                        <a:solidFill>
                          <a:schemeClr val="accent2"/>
                        </a:solidFill>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u="none" strike="noStrike" cap="none" dirty="0">
                          <a:solidFill>
                            <a:schemeClr val="accent2"/>
                          </a:solidFill>
                        </a:rPr>
                        <a:t>Data subject rights</a:t>
                      </a:r>
                      <a:endParaRPr sz="1800" b="0" u="none" strike="noStrike" cap="none" dirty="0">
                        <a:solidFill>
                          <a:schemeClr val="accent2"/>
                        </a:solidFill>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chemeClr val="accent2"/>
                          </a:solidFill>
                        </a:rPr>
                        <a:t>Information Commissioner’s Office (</a:t>
                      </a:r>
                      <a:r>
                        <a:rPr lang="en-US" sz="1800" b="0" i="0" u="none" strike="noStrike" cap="none" dirty="0" err="1">
                          <a:solidFill>
                            <a:schemeClr val="accent2"/>
                          </a:solidFill>
                        </a:rPr>
                        <a:t>ICO</a:t>
                      </a:r>
                      <a:r>
                        <a:rPr lang="en-US" sz="1800" b="0" i="0" u="none" strike="noStrike" cap="none" dirty="0">
                          <a:solidFill>
                            <a:schemeClr val="accent2"/>
                          </a:solidFill>
                        </a:rPr>
                        <a:t>)</a:t>
                      </a:r>
                      <a:endParaRPr sz="1800" b="0" i="0" u="none" strike="noStrike" cap="none" dirty="0">
                        <a:solidFill>
                          <a:schemeClr val="accent2"/>
                        </a:solidFill>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u="none" strike="noStrike" cap="none" dirty="0">
                          <a:solidFill>
                            <a:schemeClr val="accent2"/>
                          </a:solidFill>
                        </a:rPr>
                        <a:t>Subject Access Request</a:t>
                      </a:r>
                      <a:endParaRPr sz="1800" b="0" u="none" strike="noStrike" cap="none" dirty="0">
                        <a:solidFill>
                          <a:schemeClr val="accent2"/>
                        </a:solidFill>
                      </a:endParaRPr>
                    </a:p>
                  </a:txBody>
                  <a:tcPr marL="91450" marR="91450" marT="45725" marB="45725" anchor="ctr"/>
                </a:tc>
                <a:extLst>
                  <a:ext uri="{0D108BD9-81ED-4DB2-BD59-A6C34878D82A}">
                    <a16:rowId xmlns:a16="http://schemas.microsoft.com/office/drawing/2014/main" val="10001"/>
                  </a:ext>
                </a:extLst>
              </a:tr>
              <a:tr h="614565">
                <a:tc>
                  <a:txBody>
                    <a:bodyPr/>
                    <a:lstStyle/>
                    <a:p>
                      <a:pPr marL="0" marR="0" lvl="0" indent="0" algn="ctr" rtl="0">
                        <a:lnSpc>
                          <a:spcPct val="100000"/>
                        </a:lnSpc>
                        <a:spcBef>
                          <a:spcPts val="0"/>
                        </a:spcBef>
                        <a:spcAft>
                          <a:spcPts val="0"/>
                        </a:spcAft>
                        <a:buClr>
                          <a:srgbClr val="000000"/>
                        </a:buClr>
                        <a:buSzPts val="1800"/>
                        <a:buFont typeface="Arial"/>
                        <a:buNone/>
                      </a:pPr>
                      <a:r>
                        <a:rPr lang="en-US" sz="1800" b="0" u="none" strike="noStrike" cap="none" dirty="0">
                          <a:solidFill>
                            <a:schemeClr val="accent2"/>
                          </a:solidFill>
                        </a:rPr>
                        <a:t>Privacy Notice</a:t>
                      </a:r>
                      <a:endParaRPr sz="1800" b="0" u="none" strike="noStrike" cap="none" dirty="0">
                        <a:solidFill>
                          <a:schemeClr val="accent2"/>
                        </a:solidFill>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u="none" strike="noStrike" cap="none" dirty="0">
                          <a:solidFill>
                            <a:schemeClr val="accent2"/>
                          </a:solidFill>
                        </a:rPr>
                        <a:t>Data </a:t>
                      </a:r>
                      <a:r>
                        <a:rPr lang="en-US" sz="1800" b="0" u="none" strike="noStrike" cap="none" dirty="0" err="1">
                          <a:solidFill>
                            <a:schemeClr val="accent2"/>
                          </a:solidFill>
                        </a:rPr>
                        <a:t>Minimisation</a:t>
                      </a:r>
                      <a:endParaRPr sz="1800" b="0" u="none" strike="noStrike" cap="none" dirty="0">
                        <a:solidFill>
                          <a:schemeClr val="accent2"/>
                        </a:solidFill>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u="none" strike="noStrike" cap="none" dirty="0">
                          <a:solidFill>
                            <a:schemeClr val="accent2"/>
                          </a:solidFill>
                        </a:rPr>
                        <a:t>Data Retention</a:t>
                      </a:r>
                      <a:endParaRPr sz="1800" b="0" u="none" strike="noStrike" cap="none" dirty="0">
                        <a:solidFill>
                          <a:schemeClr val="accent2"/>
                        </a:solidFill>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u="none" strike="noStrike" cap="none" dirty="0">
                          <a:solidFill>
                            <a:schemeClr val="accent2"/>
                          </a:solidFill>
                        </a:rPr>
                        <a:t>Right to be Informed</a:t>
                      </a:r>
                      <a:endParaRPr sz="1800" b="0" u="none" strike="noStrike" cap="none" dirty="0">
                        <a:solidFill>
                          <a:schemeClr val="accent2"/>
                        </a:solidFill>
                      </a:endParaRPr>
                    </a:p>
                  </a:txBody>
                  <a:tcPr marL="91450" marR="91450" marT="45725" marB="45725" anchor="ctr"/>
                </a:tc>
                <a:extLst>
                  <a:ext uri="{0D108BD9-81ED-4DB2-BD59-A6C34878D82A}">
                    <a16:rowId xmlns:a16="http://schemas.microsoft.com/office/drawing/2014/main" val="10002"/>
                  </a:ext>
                </a:extLst>
              </a:tr>
              <a:tr h="914981">
                <a:tc>
                  <a:txBody>
                    <a:bodyPr/>
                    <a:lstStyle/>
                    <a:p>
                      <a:pPr marL="0" marR="0" lvl="0" indent="0" algn="ctr" rtl="0">
                        <a:lnSpc>
                          <a:spcPct val="100000"/>
                        </a:lnSpc>
                        <a:spcBef>
                          <a:spcPts val="0"/>
                        </a:spcBef>
                        <a:spcAft>
                          <a:spcPts val="0"/>
                        </a:spcAft>
                        <a:buClr>
                          <a:srgbClr val="000000"/>
                        </a:buClr>
                        <a:buSzPts val="1800"/>
                        <a:buFont typeface="Arial"/>
                        <a:buNone/>
                      </a:pPr>
                      <a:r>
                        <a:rPr lang="en-US" sz="1400" b="0" u="none" strike="noStrike" cap="none" dirty="0">
                          <a:solidFill>
                            <a:schemeClr val="accent2"/>
                          </a:solidFill>
                        </a:rPr>
                        <a:t>Freely given, specific, informed and unambiguous </a:t>
                      </a:r>
                      <a:endParaRPr sz="1400" b="0" u="none" strike="noStrike" cap="none" dirty="0">
                        <a:solidFill>
                          <a:schemeClr val="accent2"/>
                        </a:solidFill>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800"/>
                        <a:buFont typeface="Arial"/>
                        <a:buNone/>
                      </a:pPr>
                      <a:r>
                        <a:rPr lang="en-US" sz="1200" b="0" u="none" strike="noStrike" cap="none" dirty="0">
                          <a:solidFill>
                            <a:schemeClr val="accent2"/>
                          </a:solidFill>
                        </a:rPr>
                        <a:t>Kept in a form which permits identification of the data subjects for no longer than needed </a:t>
                      </a:r>
                      <a:endParaRPr sz="1200" b="0" u="none" strike="noStrike" cap="none" dirty="0">
                        <a:solidFill>
                          <a:schemeClr val="accent2"/>
                        </a:solidFill>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u="none" strike="noStrike" cap="none" dirty="0">
                          <a:solidFill>
                            <a:schemeClr val="accent2"/>
                          </a:solidFill>
                        </a:rPr>
                        <a:t>72 hours</a:t>
                      </a:r>
                      <a:endParaRPr sz="1800" b="0" u="none" strike="noStrike" cap="none" dirty="0">
                        <a:solidFill>
                          <a:schemeClr val="accent2"/>
                        </a:solidFill>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u="none" strike="noStrike" cap="none" dirty="0">
                          <a:solidFill>
                            <a:schemeClr val="accent2"/>
                          </a:solidFill>
                        </a:rPr>
                        <a:t>Lawful Basis for Processing</a:t>
                      </a:r>
                      <a:endParaRPr sz="1800" b="0" u="none" strike="noStrike" cap="none" dirty="0">
                        <a:solidFill>
                          <a:schemeClr val="accent2"/>
                        </a:solidFill>
                      </a:endParaRPr>
                    </a:p>
                  </a:txBody>
                  <a:tcPr marL="91450" marR="91450" marT="45725" marB="45725" anchor="ctr"/>
                </a:tc>
                <a:extLst>
                  <a:ext uri="{0D108BD9-81ED-4DB2-BD59-A6C34878D82A}">
                    <a16:rowId xmlns:a16="http://schemas.microsoft.com/office/drawing/2014/main" val="10003"/>
                  </a:ext>
                </a:extLst>
              </a:tr>
              <a:tr h="640489">
                <a:tc>
                  <a:txBody>
                    <a:bodyPr/>
                    <a:lstStyle/>
                    <a:p>
                      <a:pPr marL="0" marR="0" lvl="0" indent="0" algn="ctr" rtl="0">
                        <a:lnSpc>
                          <a:spcPct val="100000"/>
                        </a:lnSpc>
                        <a:spcBef>
                          <a:spcPts val="0"/>
                        </a:spcBef>
                        <a:spcAft>
                          <a:spcPts val="0"/>
                        </a:spcAft>
                        <a:buClr>
                          <a:srgbClr val="000000"/>
                        </a:buClr>
                        <a:buSzPts val="1800"/>
                        <a:buFont typeface="Arial"/>
                        <a:buNone/>
                      </a:pPr>
                      <a:r>
                        <a:rPr lang="en-US" sz="1800" b="0" u="none" strike="noStrike" cap="none" dirty="0">
                          <a:solidFill>
                            <a:schemeClr val="accent2"/>
                          </a:solidFill>
                        </a:rPr>
                        <a:t>Public task</a:t>
                      </a:r>
                      <a:endParaRPr sz="1800" b="0" u="none" strike="noStrike" cap="none" dirty="0">
                        <a:solidFill>
                          <a:schemeClr val="accent2"/>
                        </a:solidFill>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u="none" strike="noStrike" cap="none" dirty="0">
                          <a:solidFill>
                            <a:schemeClr val="accent2"/>
                          </a:solidFill>
                        </a:rPr>
                        <a:t>1 month</a:t>
                      </a:r>
                      <a:endParaRPr sz="1800" b="0" u="none" strike="noStrike" cap="none" dirty="0">
                        <a:solidFill>
                          <a:schemeClr val="accent2"/>
                        </a:solidFill>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u="none" strike="noStrike" cap="none" dirty="0">
                          <a:solidFill>
                            <a:schemeClr val="accent2"/>
                          </a:solidFill>
                        </a:rPr>
                        <a:t>Special category data </a:t>
                      </a:r>
                      <a:endParaRPr sz="1800" b="0" u="none" strike="noStrike" cap="none" dirty="0">
                        <a:solidFill>
                          <a:schemeClr val="accent2"/>
                        </a:solidFill>
                      </a:endParaRPr>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u="none" strike="noStrike" cap="none" dirty="0">
                          <a:solidFill>
                            <a:schemeClr val="accent2"/>
                          </a:solidFill>
                        </a:rPr>
                        <a:t>Principles</a:t>
                      </a:r>
                      <a:endParaRPr sz="1800" b="0" u="none" strike="noStrike" cap="none" dirty="0">
                        <a:solidFill>
                          <a:schemeClr val="accent2"/>
                        </a:solidFill>
                      </a:endParaRPr>
                    </a:p>
                  </a:txBody>
                  <a:tcPr marL="91450" marR="91450" marT="45725" marB="45725" anchor="ctr"/>
                </a:tc>
                <a:extLst>
                  <a:ext uri="{0D108BD9-81ED-4DB2-BD59-A6C34878D82A}">
                    <a16:rowId xmlns:a16="http://schemas.microsoft.com/office/drawing/2014/main" val="10004"/>
                  </a:ext>
                </a:extLst>
              </a:tr>
            </a:tbl>
          </a:graphicData>
        </a:graphic>
      </p:graphicFrame>
      <p:sp>
        <p:nvSpPr>
          <p:cNvPr id="3" name="Title 2">
            <a:extLst>
              <a:ext uri="{FF2B5EF4-FFF2-40B4-BE49-F238E27FC236}">
                <a16:creationId xmlns:a16="http://schemas.microsoft.com/office/drawing/2014/main" id="{DA7A7502-92A7-4A99-A4EC-428DFB8413CB}"/>
              </a:ext>
            </a:extLst>
          </p:cNvPr>
          <p:cNvSpPr>
            <a:spLocks noGrp="1"/>
          </p:cNvSpPr>
          <p:nvPr>
            <p:ph type="title"/>
          </p:nvPr>
        </p:nvSpPr>
        <p:spPr>
          <a:xfrm>
            <a:off x="475804" y="103031"/>
            <a:ext cx="6513393" cy="990600"/>
          </a:xfrm>
        </p:spPr>
        <p:txBody>
          <a:bodyPr>
            <a:normAutofit/>
          </a:bodyPr>
          <a:lstStyle/>
          <a:p>
            <a:r>
              <a:rPr lang="en-GB" sz="2400" b="1" dirty="0">
                <a:solidFill>
                  <a:schemeClr val="accent2"/>
                </a:solidFill>
                <a:latin typeface="Calibri" panose="020F0502020204030204" pitchFamily="34" charset="0"/>
                <a:cs typeface="Calibri" panose="020F0502020204030204" pitchFamily="34" charset="0"/>
              </a:rPr>
              <a:t>GDPR – How many of these terms are you already familiar with?</a:t>
            </a:r>
            <a:endParaRPr lang="en-GB" sz="2400" b="1" dirty="0">
              <a:latin typeface="Calibri" panose="020F0502020204030204" pitchFamily="34" charset="0"/>
              <a:cs typeface="Calibri" panose="020F050202020403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16" name="Picture 20" descr="See the source image">
            <a:extLst>
              <a:ext uri="{FF2B5EF4-FFF2-40B4-BE49-F238E27FC236}">
                <a16:creationId xmlns:a16="http://schemas.microsoft.com/office/drawing/2014/main" id="{4CB0144E-244D-446D-B607-CF2FCFB522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20639" y="1655689"/>
            <a:ext cx="2126476" cy="2126476"/>
          </a:xfrm>
          <a:prstGeom prst="rect">
            <a:avLst/>
          </a:prstGeom>
          <a:noFill/>
          <a:extLst>
            <a:ext uri="{909E8E84-426E-40DD-AFC4-6F175D3DCCD1}">
              <a14:hiddenFill xmlns:a14="http://schemas.microsoft.com/office/drawing/2010/main">
                <a:solidFill>
                  <a:srgbClr val="FFFFFF"/>
                </a:solidFill>
              </a14:hiddenFill>
            </a:ext>
          </a:extLst>
        </p:spPr>
      </p:pic>
      <p:sp>
        <p:nvSpPr>
          <p:cNvPr id="3" name="Text Placeholder 2">
            <a:extLst>
              <a:ext uri="{FF2B5EF4-FFF2-40B4-BE49-F238E27FC236}">
                <a16:creationId xmlns:a16="http://schemas.microsoft.com/office/drawing/2014/main" id="{70784D6F-6325-4D78-B548-442460102070}"/>
              </a:ext>
            </a:extLst>
          </p:cNvPr>
          <p:cNvSpPr>
            <a:spLocks noGrp="1"/>
          </p:cNvSpPr>
          <p:nvPr>
            <p:ph sz="half" idx="1"/>
          </p:nvPr>
        </p:nvSpPr>
        <p:spPr>
          <a:xfrm>
            <a:off x="237352" y="1655689"/>
            <a:ext cx="5744862" cy="3262312"/>
          </a:xfrm>
        </p:spPr>
        <p:txBody>
          <a:bodyPr vert="horz" lIns="91440" tIns="45720" rIns="91440" bIns="45720" rtlCol="0" anchor="t">
            <a:normAutofit/>
          </a:bodyPr>
          <a:lstStyle/>
          <a:p>
            <a:pPr marL="457200">
              <a:buClr>
                <a:schemeClr val="dk1"/>
              </a:buClr>
              <a:buSzPts val="1800"/>
              <a:buFont typeface="Arial" panose="020B0604020202020204" pitchFamily="34" charset="0"/>
              <a:buChar char="•"/>
            </a:pPr>
            <a:r>
              <a:rPr lang="en-US" sz="2000" dirty="0">
                <a:solidFill>
                  <a:srgbClr val="0070C0"/>
                </a:solidFill>
                <a:highlight>
                  <a:srgbClr val="FFFFFF"/>
                </a:highlight>
                <a:latin typeface="Calibri"/>
                <a:ea typeface="Calibri"/>
                <a:cs typeface="Calibri"/>
                <a:sym typeface="Calibri"/>
              </a:rPr>
              <a:t>Site security </a:t>
            </a:r>
            <a:endParaRPr lang="en-US" sz="2000" dirty="0">
              <a:solidFill>
                <a:srgbClr val="0070C0"/>
              </a:solidFill>
              <a:highlight>
                <a:srgbClr val="FFFFFF"/>
              </a:highlight>
              <a:latin typeface="Calibri"/>
              <a:ea typeface="Calibri"/>
              <a:cs typeface="Calibri"/>
            </a:endParaRPr>
          </a:p>
          <a:p>
            <a:pPr marL="457200">
              <a:buClr>
                <a:schemeClr val="dk1"/>
              </a:buClr>
              <a:buSzPts val="1800"/>
              <a:buFont typeface="Arial" panose="020B0604020202020204" pitchFamily="34" charset="0"/>
              <a:buChar char="•"/>
            </a:pPr>
            <a:r>
              <a:rPr lang="en-GB" sz="2000" dirty="0">
                <a:solidFill>
                  <a:srgbClr val="0070C0"/>
                </a:solidFill>
                <a:highlight>
                  <a:srgbClr val="FFFFFF"/>
                </a:highlight>
                <a:latin typeface="Calibri"/>
                <a:ea typeface="Calibri"/>
                <a:cs typeface="Calibri"/>
                <a:sym typeface="Calibri"/>
              </a:rPr>
              <a:t>Who has access to the school and what could they access freely?</a:t>
            </a:r>
            <a:endParaRPr lang="en-GB" sz="2000" dirty="0">
              <a:solidFill>
                <a:srgbClr val="0070C0"/>
              </a:solidFill>
              <a:highlight>
                <a:srgbClr val="FFFFFF"/>
              </a:highlight>
              <a:latin typeface="Calibri"/>
              <a:ea typeface="Calibri"/>
              <a:cs typeface="Calibri"/>
            </a:endParaRPr>
          </a:p>
          <a:p>
            <a:pPr marL="457200" lvl="0" indent="-342900">
              <a:buClr>
                <a:schemeClr val="dk1"/>
              </a:buClr>
              <a:buSzPts val="1800"/>
              <a:buFont typeface="Arial" panose="020B0604020202020204" pitchFamily="34" charset="0"/>
              <a:buChar char="•"/>
            </a:pPr>
            <a:r>
              <a:rPr lang="en-GB" sz="2000" b="1" dirty="0">
                <a:solidFill>
                  <a:srgbClr val="0070C0"/>
                </a:solidFill>
                <a:highlight>
                  <a:srgbClr val="FFFFFF"/>
                </a:highlight>
                <a:latin typeface="Calibri" panose="020F0502020204030204" pitchFamily="34" charset="0"/>
                <a:ea typeface="Calibri"/>
                <a:cs typeface="Calibri" panose="020F0502020204030204" pitchFamily="34" charset="0"/>
                <a:sym typeface="Calibri"/>
              </a:rPr>
              <a:t>If it was your data, would you like anyone to have open access to your information?</a:t>
            </a:r>
            <a:endParaRPr lang="en-US" sz="2000" b="1" dirty="0">
              <a:solidFill>
                <a:srgbClr val="0070C0"/>
              </a:solidFill>
              <a:highlight>
                <a:srgbClr val="FFFFFF"/>
              </a:highlight>
              <a:latin typeface="Calibri" panose="020F0502020204030204" pitchFamily="34" charset="0"/>
              <a:ea typeface="Calibri"/>
              <a:cs typeface="Calibri" panose="020F0502020204030204" pitchFamily="34" charset="0"/>
              <a:sym typeface="Calibri"/>
            </a:endParaRPr>
          </a:p>
          <a:p>
            <a:pPr marL="457200">
              <a:buClr>
                <a:srgbClr val="000000"/>
              </a:buClr>
              <a:buSzPts val="1800"/>
              <a:buFont typeface="Arial" panose="020B0604020202020204" pitchFamily="34" charset="0"/>
              <a:buChar char="•"/>
            </a:pPr>
            <a:endParaRPr lang="en-GB" sz="2000" b="1" dirty="0">
              <a:solidFill>
                <a:schemeClr val="dk1"/>
              </a:solidFill>
              <a:highlight>
                <a:srgbClr val="FFFFFF"/>
              </a:highlight>
              <a:latin typeface="Calibri"/>
              <a:cs typeface="Calibri"/>
            </a:endParaRPr>
          </a:p>
          <a:p>
            <a:pPr marL="457200">
              <a:buClr>
                <a:srgbClr val="000000"/>
              </a:buClr>
              <a:buSzPts val="1800"/>
              <a:buFont typeface="Arial" panose="020B0604020202020204" pitchFamily="34" charset="0"/>
              <a:buChar char="•"/>
            </a:pPr>
            <a:endParaRPr lang="en-GB" sz="2000" b="1" dirty="0">
              <a:solidFill>
                <a:srgbClr val="000000"/>
              </a:solidFill>
              <a:highlight>
                <a:srgbClr val="FFFFFF"/>
              </a:highlight>
              <a:latin typeface="Calibri"/>
              <a:cs typeface="Calibri"/>
            </a:endParaRPr>
          </a:p>
          <a:p>
            <a:pPr marL="457200">
              <a:buClr>
                <a:srgbClr val="000000"/>
              </a:buClr>
              <a:buSzPts val="1800"/>
              <a:buFont typeface="Arial" panose="020B0604020202020204" pitchFamily="34" charset="0"/>
              <a:buChar char="•"/>
            </a:pPr>
            <a:endParaRPr lang="en-GB" sz="2000" b="1" dirty="0">
              <a:solidFill>
                <a:srgbClr val="000000"/>
              </a:solidFill>
              <a:highlight>
                <a:srgbClr val="FFFFFF"/>
              </a:highlight>
              <a:latin typeface="Calibri"/>
              <a:cs typeface="Calibri"/>
            </a:endParaRPr>
          </a:p>
          <a:p>
            <a:endParaRPr lang="en-GB" dirty="0"/>
          </a:p>
        </p:txBody>
      </p:sp>
      <p:sp>
        <p:nvSpPr>
          <p:cNvPr id="9" name="Title 8">
            <a:extLst>
              <a:ext uri="{FF2B5EF4-FFF2-40B4-BE49-F238E27FC236}">
                <a16:creationId xmlns:a16="http://schemas.microsoft.com/office/drawing/2014/main" id="{99421D1D-9D25-4366-A601-CAD8E6514633}"/>
              </a:ext>
            </a:extLst>
          </p:cNvPr>
          <p:cNvSpPr>
            <a:spLocks noGrp="1"/>
          </p:cNvSpPr>
          <p:nvPr>
            <p:ph type="title"/>
          </p:nvPr>
        </p:nvSpPr>
        <p:spPr/>
        <p:txBody>
          <a:bodyPr>
            <a:normAutofit/>
          </a:bodyPr>
          <a:lstStyle/>
          <a:p>
            <a:r>
              <a:rPr lang="en-US" sz="2800" b="1" dirty="0">
                <a:solidFill>
                  <a:srgbClr val="0070C0"/>
                </a:solidFill>
                <a:latin typeface="Calibri" panose="020F0502020204030204" pitchFamily="34" charset="0"/>
                <a:ea typeface="Ebrima"/>
                <a:cs typeface="Calibri" panose="020F0502020204030204" pitchFamily="34" charset="0"/>
                <a:sym typeface="Lato"/>
              </a:rPr>
              <a:t>So how secure is data in your school?</a:t>
            </a:r>
            <a:endParaRPr lang="en-GB" sz="2800" dirty="0"/>
          </a:p>
        </p:txBody>
      </p:sp>
    </p:spTree>
    <p:extLst>
      <p:ext uri="{BB962C8B-B14F-4D97-AF65-F5344CB8AC3E}">
        <p14:creationId xmlns:p14="http://schemas.microsoft.com/office/powerpoint/2010/main" val="32334134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AB4301-D6B0-493B-B109-A4BD116C636A}"/>
              </a:ext>
            </a:extLst>
          </p:cNvPr>
          <p:cNvSpPr>
            <a:spLocks noGrp="1"/>
          </p:cNvSpPr>
          <p:nvPr>
            <p:ph type="title"/>
          </p:nvPr>
        </p:nvSpPr>
        <p:spPr>
          <a:xfrm>
            <a:off x="131484" y="119103"/>
            <a:ext cx="6447501" cy="763492"/>
          </a:xfrm>
        </p:spPr>
        <p:txBody>
          <a:bodyPr>
            <a:normAutofit/>
          </a:bodyPr>
          <a:lstStyle/>
          <a:p>
            <a:r>
              <a:rPr lang="en-GB" sz="2400" b="1" dirty="0">
                <a:solidFill>
                  <a:schemeClr val="accent2"/>
                </a:solidFill>
                <a:latin typeface="Calibri" panose="020F0502020204030204" pitchFamily="34" charset="0"/>
                <a:cs typeface="Calibri" panose="020F0502020204030204" pitchFamily="34" charset="0"/>
              </a:rPr>
              <a:t>Let’s spot some issues in this typical office…</a:t>
            </a:r>
          </a:p>
        </p:txBody>
      </p:sp>
      <p:pic>
        <p:nvPicPr>
          <p:cNvPr id="1030" name="Picture 6">
            <a:extLst>
              <a:ext uri="{FF2B5EF4-FFF2-40B4-BE49-F238E27FC236}">
                <a16:creationId xmlns:a16="http://schemas.microsoft.com/office/drawing/2014/main" id="{E10ACF8A-231C-49CC-AD44-5B53EE332B3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2538"/>
          <a:stretch/>
        </p:blipFill>
        <p:spPr bwMode="auto">
          <a:xfrm>
            <a:off x="215650" y="882595"/>
            <a:ext cx="5211053" cy="3434963"/>
          </a:xfrm>
          <a:prstGeom prst="rect">
            <a:avLst/>
          </a:prstGeom>
          <a:noFill/>
          <a:extLst>
            <a:ext uri="{909E8E84-426E-40DD-AFC4-6F175D3DCCD1}">
              <a14:hiddenFill xmlns:a14="http://schemas.microsoft.com/office/drawing/2010/main">
                <a:solidFill>
                  <a:srgbClr val="FFFFFF"/>
                </a:solidFill>
              </a14:hiddenFill>
            </a:ext>
          </a:extLst>
        </p:spPr>
      </p:pic>
      <p:sp>
        <p:nvSpPr>
          <p:cNvPr id="5" name="Callout: Line 4">
            <a:extLst>
              <a:ext uri="{FF2B5EF4-FFF2-40B4-BE49-F238E27FC236}">
                <a16:creationId xmlns:a16="http://schemas.microsoft.com/office/drawing/2014/main" id="{D276D68D-6830-45E0-955C-30C53BEC9866}"/>
              </a:ext>
            </a:extLst>
          </p:cNvPr>
          <p:cNvSpPr/>
          <p:nvPr/>
        </p:nvSpPr>
        <p:spPr>
          <a:xfrm>
            <a:off x="442581" y="739555"/>
            <a:ext cx="1402124" cy="524619"/>
          </a:xfrm>
          <a:prstGeom prst="borderCallout1">
            <a:avLst>
              <a:gd name="adj1" fmla="val 168798"/>
              <a:gd name="adj2" fmla="val 133439"/>
              <a:gd name="adj3" fmla="val 110985"/>
              <a:gd name="adj4" fmla="val 84726"/>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latin typeface="Calibri" panose="020F0502020204030204" pitchFamily="34" charset="0"/>
                <a:cs typeface="Calibri" panose="020F0502020204030204" pitchFamily="34" charset="0"/>
              </a:rPr>
              <a:t>Incomplete Data Protection training</a:t>
            </a:r>
          </a:p>
        </p:txBody>
      </p:sp>
      <p:sp>
        <p:nvSpPr>
          <p:cNvPr id="6" name="Callout: Line 5">
            <a:extLst>
              <a:ext uri="{FF2B5EF4-FFF2-40B4-BE49-F238E27FC236}">
                <a16:creationId xmlns:a16="http://schemas.microsoft.com/office/drawing/2014/main" id="{0FB17FDC-1C5E-423C-B7B4-8DC169DB3ACC}"/>
              </a:ext>
            </a:extLst>
          </p:cNvPr>
          <p:cNvSpPr/>
          <p:nvPr/>
        </p:nvSpPr>
        <p:spPr>
          <a:xfrm>
            <a:off x="2566708" y="739555"/>
            <a:ext cx="1577051" cy="476911"/>
          </a:xfrm>
          <a:prstGeom prst="borderCallout1">
            <a:avLst>
              <a:gd name="adj1" fmla="val 107115"/>
              <a:gd name="adj2" fmla="val 29985"/>
              <a:gd name="adj3" fmla="val 175856"/>
              <a:gd name="adj4" fmla="val 42337"/>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latin typeface="Calibri" panose="020F0502020204030204" pitchFamily="34" charset="0"/>
                <a:cs typeface="Calibri" panose="020F0502020204030204" pitchFamily="34" charset="0"/>
              </a:rPr>
              <a:t>Computer unlocked &amp; Emails left open</a:t>
            </a:r>
          </a:p>
        </p:txBody>
      </p:sp>
      <p:sp>
        <p:nvSpPr>
          <p:cNvPr id="7" name="Callout: Line 6">
            <a:extLst>
              <a:ext uri="{FF2B5EF4-FFF2-40B4-BE49-F238E27FC236}">
                <a16:creationId xmlns:a16="http://schemas.microsoft.com/office/drawing/2014/main" id="{C12315D1-B0FE-4268-A258-BC894557D29D}"/>
              </a:ext>
            </a:extLst>
          </p:cNvPr>
          <p:cNvSpPr/>
          <p:nvPr/>
        </p:nvSpPr>
        <p:spPr>
          <a:xfrm>
            <a:off x="386891" y="1423367"/>
            <a:ext cx="1115906" cy="524618"/>
          </a:xfrm>
          <a:prstGeom prst="borderCallout1">
            <a:avLst>
              <a:gd name="adj1" fmla="val 55560"/>
              <a:gd name="adj2" fmla="val 105034"/>
              <a:gd name="adj3" fmla="val 158568"/>
              <a:gd name="adj4" fmla="val 155864"/>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latin typeface="Calibri" panose="020F0502020204030204" pitchFamily="34" charset="0"/>
                <a:cs typeface="Calibri" panose="020F0502020204030204" pitchFamily="34" charset="0"/>
              </a:rPr>
              <a:t>Password written on a post-it</a:t>
            </a:r>
          </a:p>
        </p:txBody>
      </p:sp>
      <p:sp>
        <p:nvSpPr>
          <p:cNvPr id="8" name="Callout: Line 7">
            <a:extLst>
              <a:ext uri="{FF2B5EF4-FFF2-40B4-BE49-F238E27FC236}">
                <a16:creationId xmlns:a16="http://schemas.microsoft.com/office/drawing/2014/main" id="{668F4907-8B98-4AB4-BAFD-5459D5BC0B8F}"/>
              </a:ext>
            </a:extLst>
          </p:cNvPr>
          <p:cNvSpPr/>
          <p:nvPr/>
        </p:nvSpPr>
        <p:spPr>
          <a:xfrm>
            <a:off x="1299732" y="4476751"/>
            <a:ext cx="1521444" cy="491656"/>
          </a:xfrm>
          <a:prstGeom prst="borderCallout1">
            <a:avLst>
              <a:gd name="adj1" fmla="val -10360"/>
              <a:gd name="adj2" fmla="val 21456"/>
              <a:gd name="adj3" fmla="val -65398"/>
              <a:gd name="adj4" fmla="val 12883"/>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latin typeface="Calibri" panose="020F0502020204030204" pitchFamily="34" charset="0"/>
                <a:cs typeface="Calibri" panose="020F0502020204030204" pitchFamily="34" charset="0"/>
              </a:rPr>
              <a:t>Personal belongings left unattended</a:t>
            </a:r>
          </a:p>
        </p:txBody>
      </p:sp>
      <p:sp>
        <p:nvSpPr>
          <p:cNvPr id="9" name="Callout: Line 8">
            <a:extLst>
              <a:ext uri="{FF2B5EF4-FFF2-40B4-BE49-F238E27FC236}">
                <a16:creationId xmlns:a16="http://schemas.microsoft.com/office/drawing/2014/main" id="{9ED535E7-1C97-47C4-B44A-FF4B6009445E}"/>
              </a:ext>
            </a:extLst>
          </p:cNvPr>
          <p:cNvSpPr/>
          <p:nvPr/>
        </p:nvSpPr>
        <p:spPr>
          <a:xfrm>
            <a:off x="3269115" y="4403945"/>
            <a:ext cx="2027583" cy="270344"/>
          </a:xfrm>
          <a:prstGeom prst="borderCallout1">
            <a:avLst>
              <a:gd name="adj1" fmla="val -16544"/>
              <a:gd name="adj2" fmla="val 41863"/>
              <a:gd name="adj3" fmla="val -613971"/>
              <a:gd name="adj4" fmla="val -26569"/>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latin typeface="Calibri" panose="020F0502020204030204" pitchFamily="34" charset="0"/>
                <a:cs typeface="Calibri" panose="020F0502020204030204" pitchFamily="34" charset="0"/>
              </a:rPr>
              <a:t>USB drive left on the desk</a:t>
            </a:r>
          </a:p>
        </p:txBody>
      </p:sp>
      <p:sp>
        <p:nvSpPr>
          <p:cNvPr id="10" name="Callout: Line 9">
            <a:extLst>
              <a:ext uri="{FF2B5EF4-FFF2-40B4-BE49-F238E27FC236}">
                <a16:creationId xmlns:a16="http://schemas.microsoft.com/office/drawing/2014/main" id="{A5C643F0-001B-44C0-8E0D-521DDFB1A324}"/>
              </a:ext>
            </a:extLst>
          </p:cNvPr>
          <p:cNvSpPr/>
          <p:nvPr/>
        </p:nvSpPr>
        <p:spPr>
          <a:xfrm>
            <a:off x="5649359" y="882595"/>
            <a:ext cx="2027583" cy="270344"/>
          </a:xfrm>
          <a:prstGeom prst="borderCallout1">
            <a:avLst>
              <a:gd name="adj1" fmla="val 59927"/>
              <a:gd name="adj2" fmla="val -4411"/>
              <a:gd name="adj3" fmla="val 112500"/>
              <a:gd name="adj4" fmla="val -38333"/>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latin typeface="Calibri" panose="020F0502020204030204" pitchFamily="34" charset="0"/>
                <a:cs typeface="Calibri" panose="020F0502020204030204" pitchFamily="34" charset="0"/>
              </a:rPr>
              <a:t>Office door is left unlocked</a:t>
            </a:r>
          </a:p>
        </p:txBody>
      </p:sp>
      <p:sp>
        <p:nvSpPr>
          <p:cNvPr id="11" name="Callout: Line 10">
            <a:extLst>
              <a:ext uri="{FF2B5EF4-FFF2-40B4-BE49-F238E27FC236}">
                <a16:creationId xmlns:a16="http://schemas.microsoft.com/office/drawing/2014/main" id="{9234920A-7ECF-4799-816B-D1FD011716B7}"/>
              </a:ext>
            </a:extLst>
          </p:cNvPr>
          <p:cNvSpPr/>
          <p:nvPr/>
        </p:nvSpPr>
        <p:spPr>
          <a:xfrm>
            <a:off x="5585034" y="1531742"/>
            <a:ext cx="1803621" cy="712223"/>
          </a:xfrm>
          <a:prstGeom prst="borderCallout1">
            <a:avLst>
              <a:gd name="adj1" fmla="val 18750"/>
              <a:gd name="adj2" fmla="val -8333"/>
              <a:gd name="adj3" fmla="val 105802"/>
              <a:gd name="adj4" fmla="val -48473"/>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latin typeface="Calibri" panose="020F0502020204030204" pitchFamily="34" charset="0"/>
                <a:cs typeface="Calibri" panose="020F0502020204030204" pitchFamily="34" charset="0"/>
              </a:rPr>
              <a:t>Hard copy personal data left on the desk, not securely locked away</a:t>
            </a:r>
          </a:p>
        </p:txBody>
      </p:sp>
      <p:sp>
        <p:nvSpPr>
          <p:cNvPr id="12" name="Callout: Line 11">
            <a:extLst>
              <a:ext uri="{FF2B5EF4-FFF2-40B4-BE49-F238E27FC236}">
                <a16:creationId xmlns:a16="http://schemas.microsoft.com/office/drawing/2014/main" id="{EEEBD83B-DE40-4310-B456-C2A9A8B0AD51}"/>
              </a:ext>
            </a:extLst>
          </p:cNvPr>
          <p:cNvSpPr/>
          <p:nvPr/>
        </p:nvSpPr>
        <p:spPr>
          <a:xfrm>
            <a:off x="6374864" y="2407880"/>
            <a:ext cx="1803622" cy="491656"/>
          </a:xfrm>
          <a:prstGeom prst="borderCallout1">
            <a:avLst>
              <a:gd name="adj1" fmla="val 54330"/>
              <a:gd name="adj2" fmla="val -2602"/>
              <a:gd name="adj3" fmla="val 94710"/>
              <a:gd name="adj4" fmla="val -87708"/>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latin typeface="Calibri" panose="020F0502020204030204" pitchFamily="34" charset="0"/>
                <a:cs typeface="Calibri" panose="020F0502020204030204" pitchFamily="34" charset="0"/>
              </a:rPr>
              <a:t>Keys to drawers/cabinet left on the desk</a:t>
            </a:r>
          </a:p>
        </p:txBody>
      </p:sp>
      <p:sp>
        <p:nvSpPr>
          <p:cNvPr id="13" name="Callout: Line 12">
            <a:extLst>
              <a:ext uri="{FF2B5EF4-FFF2-40B4-BE49-F238E27FC236}">
                <a16:creationId xmlns:a16="http://schemas.microsoft.com/office/drawing/2014/main" id="{D0A0F0BF-BC6E-483E-8FC9-AEF76E1EE10F}"/>
              </a:ext>
            </a:extLst>
          </p:cNvPr>
          <p:cNvSpPr/>
          <p:nvPr/>
        </p:nvSpPr>
        <p:spPr>
          <a:xfrm>
            <a:off x="5730198" y="3235227"/>
            <a:ext cx="1155632" cy="527357"/>
          </a:xfrm>
          <a:prstGeom prst="borderCallout1">
            <a:avLst>
              <a:gd name="adj1" fmla="val 39859"/>
              <a:gd name="adj2" fmla="val -4893"/>
              <a:gd name="adj3" fmla="val 79329"/>
              <a:gd name="adj4" fmla="val -94753"/>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latin typeface="Calibri" panose="020F0502020204030204" pitchFamily="34" charset="0"/>
                <a:cs typeface="Calibri" panose="020F0502020204030204" pitchFamily="34" charset="0"/>
              </a:rPr>
              <a:t>Confidential waste not been shredded</a:t>
            </a:r>
          </a:p>
        </p:txBody>
      </p:sp>
      <p:cxnSp>
        <p:nvCxnSpPr>
          <p:cNvPr id="14" name="Straight Connector 13">
            <a:extLst>
              <a:ext uri="{FF2B5EF4-FFF2-40B4-BE49-F238E27FC236}">
                <a16:creationId xmlns:a16="http://schemas.microsoft.com/office/drawing/2014/main" id="{035F6161-F1B4-4A37-A4F7-73E9B3A81912}"/>
              </a:ext>
            </a:extLst>
          </p:cNvPr>
          <p:cNvCxnSpPr/>
          <p:nvPr/>
        </p:nvCxnSpPr>
        <p:spPr>
          <a:xfrm flipH="1" flipV="1">
            <a:off x="1943100" y="3073400"/>
            <a:ext cx="304800" cy="140335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03579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2050" name="Picture 2" descr="See the source image">
            <a:extLst>
              <a:ext uri="{FF2B5EF4-FFF2-40B4-BE49-F238E27FC236}">
                <a16:creationId xmlns:a16="http://schemas.microsoft.com/office/drawing/2014/main" id="{899FD985-592F-45D0-B2C5-11D839630B1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2168" t="2064" r="13175" b="2039"/>
          <a:stretch/>
        </p:blipFill>
        <p:spPr bwMode="auto">
          <a:xfrm>
            <a:off x="0" y="477240"/>
            <a:ext cx="7347005" cy="4666260"/>
          </a:xfrm>
          <a:prstGeom prst="rect">
            <a:avLst/>
          </a:prstGeom>
          <a:noFill/>
          <a:extLst>
            <a:ext uri="{909E8E84-426E-40DD-AFC4-6F175D3DCCD1}">
              <a14:hiddenFill xmlns:a14="http://schemas.microsoft.com/office/drawing/2010/main">
                <a:solidFill>
                  <a:srgbClr val="FFFFFF"/>
                </a:solidFill>
              </a14:hiddenFill>
            </a:ext>
          </a:extLst>
        </p:spPr>
      </p:pic>
      <p:sp>
        <p:nvSpPr>
          <p:cNvPr id="88" name="Shape 88"/>
          <p:cNvSpPr txBox="1">
            <a:spLocks noGrp="1"/>
          </p:cNvSpPr>
          <p:nvPr>
            <p:ph type="title"/>
          </p:nvPr>
        </p:nvSpPr>
        <p:spPr>
          <a:xfrm>
            <a:off x="125186" y="95577"/>
            <a:ext cx="3492658" cy="683583"/>
          </a:xfrm>
          <a:prstGeom prst="rect">
            <a:avLst/>
          </a:prstGeom>
          <a:noFill/>
          <a:ln>
            <a:noFill/>
          </a:ln>
        </p:spPr>
        <p:txBody>
          <a:bodyPr spcFirstLastPara="1" wrap="square" lIns="91425" tIns="91425" rIns="91425" bIns="91425" anchor="ctr" anchorCtr="0">
            <a:noAutofit/>
          </a:bodyPr>
          <a:lstStyle/>
          <a:p>
            <a:pPr marL="0" marR="0" lvl="0" indent="0" algn="l" rtl="0">
              <a:lnSpc>
                <a:spcPct val="90000"/>
              </a:lnSpc>
              <a:spcBef>
                <a:spcPts val="0"/>
              </a:spcBef>
              <a:spcAft>
                <a:spcPts val="0"/>
              </a:spcAft>
              <a:buClr>
                <a:schemeClr val="dk1"/>
              </a:buClr>
              <a:buSzPts val="4400"/>
              <a:buFont typeface="Calibri"/>
              <a:buNone/>
            </a:pPr>
            <a:r>
              <a:rPr lang="en-US" sz="2800" b="1" i="0" u="none" strike="noStrike" cap="none" dirty="0">
                <a:solidFill>
                  <a:srgbClr val="0070C0"/>
                </a:solidFill>
                <a:latin typeface="Calibri"/>
                <a:ea typeface="Calibri"/>
                <a:cs typeface="Calibri"/>
                <a:sym typeface="Calibri"/>
              </a:rPr>
              <a:t>Why do we care?</a:t>
            </a:r>
            <a:endParaRPr sz="2800" b="1" dirty="0">
              <a:solidFill>
                <a:srgbClr val="0070C0"/>
              </a:solidFill>
            </a:endParaRPr>
          </a:p>
        </p:txBody>
      </p:sp>
      <p:pic>
        <p:nvPicPr>
          <p:cNvPr id="91" name="Shape 91"/>
          <p:cNvPicPr preferRelativeResize="0"/>
          <p:nvPr/>
        </p:nvPicPr>
        <p:blipFill rotWithShape="1">
          <a:blip r:embed="rId4">
            <a:alphaModFix/>
          </a:blip>
          <a:srcRect r="13593"/>
          <a:stretch/>
        </p:blipFill>
        <p:spPr>
          <a:xfrm rot="21398102">
            <a:off x="4006818" y="1872184"/>
            <a:ext cx="2847083" cy="1263245"/>
          </a:xfrm>
          <a:prstGeom prst="rect">
            <a:avLst/>
          </a:prstGeom>
          <a:noFill/>
          <a:ln>
            <a:noFill/>
          </a:ln>
        </p:spPr>
      </p:pic>
      <p:pic>
        <p:nvPicPr>
          <p:cNvPr id="4" name="Picture 3">
            <a:extLst>
              <a:ext uri="{FF2B5EF4-FFF2-40B4-BE49-F238E27FC236}">
                <a16:creationId xmlns:a16="http://schemas.microsoft.com/office/drawing/2014/main" id="{6C7C493D-28B7-49A3-89F1-B4FD0090D5BD}"/>
              </a:ext>
            </a:extLst>
          </p:cNvPr>
          <p:cNvPicPr>
            <a:picLocks noChangeAspect="1"/>
          </p:cNvPicPr>
          <p:nvPr/>
        </p:nvPicPr>
        <p:blipFill rotWithShape="1">
          <a:blip r:embed="rId5"/>
          <a:srcRect l="6174" t="31695" r="68522" b="5026"/>
          <a:stretch/>
        </p:blipFill>
        <p:spPr>
          <a:xfrm rot="21413748">
            <a:off x="4132345" y="3256318"/>
            <a:ext cx="1701580" cy="963088"/>
          </a:xfrm>
          <a:prstGeom prst="rect">
            <a:avLst/>
          </a:prstGeom>
        </p:spPr>
      </p:pic>
      <p:sp>
        <p:nvSpPr>
          <p:cNvPr id="5" name="TextBox 4">
            <a:extLst>
              <a:ext uri="{FF2B5EF4-FFF2-40B4-BE49-F238E27FC236}">
                <a16:creationId xmlns:a16="http://schemas.microsoft.com/office/drawing/2014/main" id="{8A17AB5E-7EF6-4D76-961C-BD1456AC4996}"/>
              </a:ext>
            </a:extLst>
          </p:cNvPr>
          <p:cNvSpPr txBox="1"/>
          <p:nvPr/>
        </p:nvSpPr>
        <p:spPr>
          <a:xfrm rot="21409145">
            <a:off x="4116045" y="4211759"/>
            <a:ext cx="3336709" cy="400110"/>
          </a:xfrm>
          <a:prstGeom prst="rect">
            <a:avLst/>
          </a:prstGeom>
          <a:noFill/>
        </p:spPr>
        <p:txBody>
          <a:bodyPr wrap="square" rtlCol="0">
            <a:spAutoFit/>
          </a:bodyPr>
          <a:lstStyle/>
          <a:p>
            <a:r>
              <a:rPr lang="en-GB" sz="1000" b="0" i="0" dirty="0">
                <a:solidFill>
                  <a:srgbClr val="3F3F42"/>
                </a:solidFill>
                <a:effectLst/>
                <a:latin typeface="ReithSans"/>
              </a:rPr>
              <a:t>Labour's shadow defence secretary, said he was surprised documents had got out of the Ministry of Defence at all.</a:t>
            </a:r>
            <a:endParaRPr lang="en-GB" sz="1000" dirty="0"/>
          </a:p>
        </p:txBody>
      </p:sp>
      <p:pic>
        <p:nvPicPr>
          <p:cNvPr id="7" name="Picture 6">
            <a:extLst>
              <a:ext uri="{FF2B5EF4-FFF2-40B4-BE49-F238E27FC236}">
                <a16:creationId xmlns:a16="http://schemas.microsoft.com/office/drawing/2014/main" id="{BD5663D2-0EC6-4E35-A960-1B6AD52A2B69}"/>
              </a:ext>
            </a:extLst>
          </p:cNvPr>
          <p:cNvPicPr>
            <a:picLocks noChangeAspect="1"/>
          </p:cNvPicPr>
          <p:nvPr/>
        </p:nvPicPr>
        <p:blipFill rotWithShape="1">
          <a:blip r:embed="rId6"/>
          <a:srcRect l="10341" t="7238" r="69829" b="40722"/>
          <a:stretch/>
        </p:blipFill>
        <p:spPr>
          <a:xfrm rot="21441667">
            <a:off x="1024129" y="2030120"/>
            <a:ext cx="2934877" cy="216823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3387C-65D9-4B0A-8717-CE7ED9E80D8B}"/>
              </a:ext>
            </a:extLst>
          </p:cNvPr>
          <p:cNvSpPr>
            <a:spLocks noGrp="1"/>
          </p:cNvSpPr>
          <p:nvPr>
            <p:ph type="title"/>
          </p:nvPr>
        </p:nvSpPr>
        <p:spPr>
          <a:xfrm>
            <a:off x="628648" y="376238"/>
            <a:ext cx="7832913" cy="775487"/>
          </a:xfrm>
        </p:spPr>
        <p:txBody>
          <a:bodyPr>
            <a:normAutofit/>
          </a:bodyPr>
          <a:lstStyle/>
          <a:p>
            <a:r>
              <a:rPr lang="en-US" sz="2400" b="1" dirty="0">
                <a:solidFill>
                  <a:srgbClr val="0070C0"/>
                </a:solidFill>
                <a:latin typeface="Calibri" panose="020F0502020204030204" pitchFamily="34" charset="0"/>
                <a:ea typeface="Ebrima" panose="02000000000000000000" pitchFamily="2" charset="0"/>
                <a:cs typeface="Calibri" panose="020F0502020204030204" pitchFamily="34" charset="0"/>
                <a:sym typeface="Lato"/>
              </a:rPr>
              <a:t>There is a lot of sensitive data in schools</a:t>
            </a:r>
            <a:endParaRPr lang="en-GB" sz="2400" dirty="0">
              <a:solidFill>
                <a:srgbClr val="0070C0"/>
              </a:solidFill>
            </a:endParaRPr>
          </a:p>
        </p:txBody>
      </p:sp>
      <p:sp>
        <p:nvSpPr>
          <p:cNvPr id="3" name="Text Placeholder 2">
            <a:extLst>
              <a:ext uri="{FF2B5EF4-FFF2-40B4-BE49-F238E27FC236}">
                <a16:creationId xmlns:a16="http://schemas.microsoft.com/office/drawing/2014/main" id="{70784D6F-6325-4D78-B548-442460102070}"/>
              </a:ext>
            </a:extLst>
          </p:cNvPr>
          <p:cNvSpPr>
            <a:spLocks noGrp="1"/>
          </p:cNvSpPr>
          <p:nvPr>
            <p:ph sz="half" idx="1"/>
          </p:nvPr>
        </p:nvSpPr>
        <p:spPr>
          <a:xfrm>
            <a:off x="628648" y="1151725"/>
            <a:ext cx="4127764" cy="3809889"/>
          </a:xfrm>
        </p:spPr>
        <p:txBody>
          <a:bodyPr>
            <a:normAutofit/>
          </a:bodyPr>
          <a:lstStyle/>
          <a:p>
            <a:pPr algn="l"/>
            <a:r>
              <a:rPr lang="en-GB" sz="1200" b="0" i="0" dirty="0">
                <a:solidFill>
                  <a:srgbClr val="0070C0"/>
                </a:solidFill>
                <a:effectLst/>
                <a:latin typeface="Calibri" panose="020F0502020204030204" pitchFamily="34" charset="0"/>
                <a:cs typeface="Calibri" panose="020F0502020204030204" pitchFamily="34" charset="0"/>
              </a:rPr>
              <a:t>The UK GDPR defines special category data as:</a:t>
            </a:r>
          </a:p>
          <a:p>
            <a:pPr lvl="1">
              <a:buFont typeface="Arial" panose="020B0604020202020204" pitchFamily="34" charset="0"/>
              <a:buChar char="•"/>
            </a:pPr>
            <a:r>
              <a:rPr lang="en-GB" sz="1200" b="0" i="0" dirty="0">
                <a:solidFill>
                  <a:srgbClr val="0070C0"/>
                </a:solidFill>
                <a:effectLst/>
                <a:latin typeface="Calibri" panose="020F0502020204030204" pitchFamily="34" charset="0"/>
                <a:cs typeface="Calibri" panose="020F0502020204030204" pitchFamily="34" charset="0"/>
              </a:rPr>
              <a:t>personal data revealing </a:t>
            </a:r>
            <a:r>
              <a:rPr lang="en-GB" sz="1200" b="1" i="0" dirty="0">
                <a:solidFill>
                  <a:srgbClr val="0070C0"/>
                </a:solidFill>
                <a:effectLst/>
                <a:latin typeface="Calibri" panose="020F0502020204030204" pitchFamily="34" charset="0"/>
                <a:cs typeface="Calibri" panose="020F0502020204030204" pitchFamily="34" charset="0"/>
              </a:rPr>
              <a:t>racial or ethnic origin</a:t>
            </a:r>
            <a:r>
              <a:rPr lang="en-GB" sz="1200" b="0" i="0" dirty="0">
                <a:solidFill>
                  <a:srgbClr val="0070C0"/>
                </a:solidFill>
                <a:effectLst/>
                <a:latin typeface="Calibri" panose="020F0502020204030204" pitchFamily="34" charset="0"/>
                <a:cs typeface="Calibri" panose="020F0502020204030204" pitchFamily="34" charset="0"/>
              </a:rPr>
              <a:t>;</a:t>
            </a:r>
          </a:p>
          <a:p>
            <a:pPr lvl="1">
              <a:buFont typeface="Arial" panose="020B0604020202020204" pitchFamily="34" charset="0"/>
              <a:buChar char="•"/>
            </a:pPr>
            <a:r>
              <a:rPr lang="en-GB" sz="1200" b="0" i="0" dirty="0">
                <a:solidFill>
                  <a:srgbClr val="0070C0"/>
                </a:solidFill>
                <a:effectLst/>
                <a:latin typeface="Calibri" panose="020F0502020204030204" pitchFamily="34" charset="0"/>
                <a:cs typeface="Calibri" panose="020F0502020204030204" pitchFamily="34" charset="0"/>
              </a:rPr>
              <a:t>personal data revealing </a:t>
            </a:r>
            <a:r>
              <a:rPr lang="en-GB" sz="1200" b="1" i="0" dirty="0">
                <a:solidFill>
                  <a:srgbClr val="0070C0"/>
                </a:solidFill>
                <a:effectLst/>
                <a:latin typeface="Calibri" panose="020F0502020204030204" pitchFamily="34" charset="0"/>
                <a:cs typeface="Calibri" panose="020F0502020204030204" pitchFamily="34" charset="0"/>
              </a:rPr>
              <a:t>political opinions</a:t>
            </a:r>
            <a:r>
              <a:rPr lang="en-GB" sz="1200" b="0" i="0" dirty="0">
                <a:solidFill>
                  <a:srgbClr val="0070C0"/>
                </a:solidFill>
                <a:effectLst/>
                <a:latin typeface="Calibri" panose="020F0502020204030204" pitchFamily="34" charset="0"/>
                <a:cs typeface="Calibri" panose="020F0502020204030204" pitchFamily="34" charset="0"/>
              </a:rPr>
              <a:t>;</a:t>
            </a:r>
          </a:p>
          <a:p>
            <a:pPr lvl="1">
              <a:buFont typeface="Arial" panose="020B0604020202020204" pitchFamily="34" charset="0"/>
              <a:buChar char="•"/>
            </a:pPr>
            <a:r>
              <a:rPr lang="en-GB" sz="1200" b="0" i="0" dirty="0">
                <a:solidFill>
                  <a:srgbClr val="0070C0"/>
                </a:solidFill>
                <a:effectLst/>
                <a:latin typeface="Calibri" panose="020F0502020204030204" pitchFamily="34" charset="0"/>
                <a:cs typeface="Calibri" panose="020F0502020204030204" pitchFamily="34" charset="0"/>
              </a:rPr>
              <a:t>personal data revealing </a:t>
            </a:r>
            <a:r>
              <a:rPr lang="en-GB" sz="1200" b="1" i="0" dirty="0">
                <a:solidFill>
                  <a:srgbClr val="0070C0"/>
                </a:solidFill>
                <a:effectLst/>
                <a:latin typeface="Calibri" panose="020F0502020204030204" pitchFamily="34" charset="0"/>
                <a:cs typeface="Calibri" panose="020F0502020204030204" pitchFamily="34" charset="0"/>
              </a:rPr>
              <a:t>religious or philosophical beliefs</a:t>
            </a:r>
            <a:r>
              <a:rPr lang="en-GB" sz="1200" b="0" i="0" dirty="0">
                <a:solidFill>
                  <a:srgbClr val="0070C0"/>
                </a:solidFill>
                <a:effectLst/>
                <a:latin typeface="Calibri" panose="020F0502020204030204" pitchFamily="34" charset="0"/>
                <a:cs typeface="Calibri" panose="020F0502020204030204" pitchFamily="34" charset="0"/>
              </a:rPr>
              <a:t>;</a:t>
            </a:r>
          </a:p>
          <a:p>
            <a:pPr lvl="1">
              <a:buFont typeface="Arial" panose="020B0604020202020204" pitchFamily="34" charset="0"/>
              <a:buChar char="•"/>
            </a:pPr>
            <a:r>
              <a:rPr lang="en-GB" sz="1200" b="0" i="0" dirty="0">
                <a:solidFill>
                  <a:srgbClr val="0070C0"/>
                </a:solidFill>
                <a:effectLst/>
                <a:latin typeface="Calibri" panose="020F0502020204030204" pitchFamily="34" charset="0"/>
                <a:cs typeface="Calibri" panose="020F0502020204030204" pitchFamily="34" charset="0"/>
              </a:rPr>
              <a:t>personal data revealing </a:t>
            </a:r>
            <a:r>
              <a:rPr lang="en-GB" sz="1200" b="1" i="0" dirty="0">
                <a:solidFill>
                  <a:srgbClr val="0070C0"/>
                </a:solidFill>
                <a:effectLst/>
                <a:latin typeface="Calibri" panose="020F0502020204030204" pitchFamily="34" charset="0"/>
                <a:cs typeface="Calibri" panose="020F0502020204030204" pitchFamily="34" charset="0"/>
              </a:rPr>
              <a:t>trade union membership</a:t>
            </a:r>
            <a:r>
              <a:rPr lang="en-GB" sz="1200" b="0" i="0" dirty="0">
                <a:solidFill>
                  <a:srgbClr val="0070C0"/>
                </a:solidFill>
                <a:effectLst/>
                <a:latin typeface="Calibri" panose="020F0502020204030204" pitchFamily="34" charset="0"/>
                <a:cs typeface="Calibri" panose="020F0502020204030204" pitchFamily="34" charset="0"/>
              </a:rPr>
              <a:t>;</a:t>
            </a:r>
          </a:p>
          <a:p>
            <a:pPr lvl="1">
              <a:buFont typeface="Arial" panose="020B0604020202020204" pitchFamily="34" charset="0"/>
              <a:buChar char="•"/>
            </a:pPr>
            <a:r>
              <a:rPr lang="en-GB" sz="1200" b="1" i="0" dirty="0">
                <a:solidFill>
                  <a:srgbClr val="0070C0"/>
                </a:solidFill>
                <a:effectLst/>
                <a:latin typeface="Calibri" panose="020F0502020204030204" pitchFamily="34" charset="0"/>
                <a:cs typeface="Calibri" panose="020F0502020204030204" pitchFamily="34" charset="0"/>
              </a:rPr>
              <a:t>genetic data</a:t>
            </a:r>
            <a:r>
              <a:rPr lang="en-GB" sz="1200" b="0" i="0" dirty="0">
                <a:solidFill>
                  <a:srgbClr val="0070C0"/>
                </a:solidFill>
                <a:effectLst/>
                <a:latin typeface="Calibri" panose="020F0502020204030204" pitchFamily="34" charset="0"/>
                <a:cs typeface="Calibri" panose="020F0502020204030204" pitchFamily="34" charset="0"/>
              </a:rPr>
              <a:t>;</a:t>
            </a:r>
          </a:p>
          <a:p>
            <a:pPr lvl="1">
              <a:buFont typeface="Arial" panose="020B0604020202020204" pitchFamily="34" charset="0"/>
              <a:buChar char="•"/>
            </a:pPr>
            <a:r>
              <a:rPr lang="en-GB" sz="1200" b="1" i="0" dirty="0">
                <a:solidFill>
                  <a:srgbClr val="0070C0"/>
                </a:solidFill>
                <a:effectLst/>
                <a:latin typeface="Calibri" panose="020F0502020204030204" pitchFamily="34" charset="0"/>
                <a:cs typeface="Calibri" panose="020F0502020204030204" pitchFamily="34" charset="0"/>
              </a:rPr>
              <a:t>biometric data</a:t>
            </a:r>
            <a:r>
              <a:rPr lang="en-GB" sz="1200" b="0" i="0" dirty="0">
                <a:solidFill>
                  <a:srgbClr val="0070C0"/>
                </a:solidFill>
                <a:effectLst/>
                <a:latin typeface="Calibri" panose="020F0502020204030204" pitchFamily="34" charset="0"/>
                <a:cs typeface="Calibri" panose="020F0502020204030204" pitchFamily="34" charset="0"/>
              </a:rPr>
              <a:t> (where used for identification purposes);</a:t>
            </a:r>
          </a:p>
          <a:p>
            <a:pPr lvl="1">
              <a:buFont typeface="Arial" panose="020B0604020202020204" pitchFamily="34" charset="0"/>
              <a:buChar char="•"/>
            </a:pPr>
            <a:r>
              <a:rPr lang="en-GB" sz="1200" b="0" i="0" dirty="0">
                <a:solidFill>
                  <a:srgbClr val="0070C0"/>
                </a:solidFill>
                <a:effectLst/>
                <a:latin typeface="Calibri" panose="020F0502020204030204" pitchFamily="34" charset="0"/>
                <a:cs typeface="Calibri" panose="020F0502020204030204" pitchFamily="34" charset="0"/>
              </a:rPr>
              <a:t>data concerning </a:t>
            </a:r>
            <a:r>
              <a:rPr lang="en-GB" sz="1200" b="1" i="0" dirty="0">
                <a:solidFill>
                  <a:srgbClr val="0070C0"/>
                </a:solidFill>
                <a:effectLst/>
                <a:latin typeface="Calibri" panose="020F0502020204030204" pitchFamily="34" charset="0"/>
                <a:cs typeface="Calibri" panose="020F0502020204030204" pitchFamily="34" charset="0"/>
              </a:rPr>
              <a:t>health</a:t>
            </a:r>
            <a:r>
              <a:rPr lang="en-GB" sz="1200" b="0" i="0" dirty="0">
                <a:solidFill>
                  <a:srgbClr val="0070C0"/>
                </a:solidFill>
                <a:effectLst/>
                <a:latin typeface="Calibri" panose="020F0502020204030204" pitchFamily="34" charset="0"/>
                <a:cs typeface="Calibri" panose="020F0502020204030204" pitchFamily="34" charset="0"/>
              </a:rPr>
              <a:t>;</a:t>
            </a:r>
          </a:p>
          <a:p>
            <a:pPr lvl="1">
              <a:buFont typeface="Arial" panose="020B0604020202020204" pitchFamily="34" charset="0"/>
              <a:buChar char="•"/>
            </a:pPr>
            <a:r>
              <a:rPr lang="en-GB" sz="1200" b="0" i="0" dirty="0">
                <a:solidFill>
                  <a:srgbClr val="0070C0"/>
                </a:solidFill>
                <a:effectLst/>
                <a:latin typeface="Calibri" panose="020F0502020204030204" pitchFamily="34" charset="0"/>
                <a:cs typeface="Calibri" panose="020F0502020204030204" pitchFamily="34" charset="0"/>
              </a:rPr>
              <a:t>data concerning a person’s </a:t>
            </a:r>
            <a:r>
              <a:rPr lang="en-GB" sz="1200" b="1" i="0" dirty="0">
                <a:solidFill>
                  <a:srgbClr val="0070C0"/>
                </a:solidFill>
                <a:effectLst/>
                <a:latin typeface="Calibri" panose="020F0502020204030204" pitchFamily="34" charset="0"/>
                <a:cs typeface="Calibri" panose="020F0502020204030204" pitchFamily="34" charset="0"/>
              </a:rPr>
              <a:t>sex life</a:t>
            </a:r>
            <a:r>
              <a:rPr lang="en-GB" sz="1200" b="0" i="0" dirty="0">
                <a:solidFill>
                  <a:srgbClr val="0070C0"/>
                </a:solidFill>
                <a:effectLst/>
                <a:latin typeface="Calibri" panose="020F0502020204030204" pitchFamily="34" charset="0"/>
                <a:cs typeface="Calibri" panose="020F0502020204030204" pitchFamily="34" charset="0"/>
              </a:rPr>
              <a:t>; and</a:t>
            </a:r>
          </a:p>
          <a:p>
            <a:pPr lvl="1">
              <a:buFont typeface="Arial" panose="020B0604020202020204" pitchFamily="34" charset="0"/>
              <a:buChar char="•"/>
            </a:pPr>
            <a:r>
              <a:rPr lang="en-GB" sz="1200" b="0" i="0" dirty="0">
                <a:solidFill>
                  <a:srgbClr val="0070C0"/>
                </a:solidFill>
                <a:effectLst/>
                <a:latin typeface="Calibri" panose="020F0502020204030204" pitchFamily="34" charset="0"/>
                <a:cs typeface="Calibri" panose="020F0502020204030204" pitchFamily="34" charset="0"/>
              </a:rPr>
              <a:t>data concerning a person’s </a:t>
            </a:r>
            <a:r>
              <a:rPr lang="en-GB" sz="1200" b="1" i="0" dirty="0">
                <a:solidFill>
                  <a:srgbClr val="0070C0"/>
                </a:solidFill>
                <a:effectLst/>
                <a:latin typeface="Calibri" panose="020F0502020204030204" pitchFamily="34" charset="0"/>
                <a:cs typeface="Calibri" panose="020F0502020204030204" pitchFamily="34" charset="0"/>
              </a:rPr>
              <a:t>sexual orientation</a:t>
            </a:r>
            <a:endParaRPr lang="en-GB" sz="1200" dirty="0">
              <a:solidFill>
                <a:srgbClr val="0070C0"/>
              </a:solidFill>
              <a:latin typeface="Calibri" panose="020F0502020204030204" pitchFamily="34" charset="0"/>
              <a:cs typeface="Calibri" panose="020F0502020204030204" pitchFamily="34" charset="0"/>
            </a:endParaRPr>
          </a:p>
          <a:p>
            <a:pPr marL="50800" indent="0">
              <a:buNone/>
            </a:pPr>
            <a:endParaRPr lang="en-GB" dirty="0"/>
          </a:p>
        </p:txBody>
      </p:sp>
      <p:sp>
        <p:nvSpPr>
          <p:cNvPr id="7" name="Thought Bubble: Cloud 6">
            <a:extLst>
              <a:ext uri="{FF2B5EF4-FFF2-40B4-BE49-F238E27FC236}">
                <a16:creationId xmlns:a16="http://schemas.microsoft.com/office/drawing/2014/main" id="{A927A486-6107-4C44-96D8-6FA8D792ED3E}"/>
              </a:ext>
            </a:extLst>
          </p:cNvPr>
          <p:cNvSpPr/>
          <p:nvPr/>
        </p:nvSpPr>
        <p:spPr>
          <a:xfrm>
            <a:off x="5074306" y="612250"/>
            <a:ext cx="3387255" cy="1752169"/>
          </a:xfrm>
          <a:prstGeom prst="cloudCallout">
            <a:avLst>
              <a:gd name="adj1" fmla="val -37969"/>
              <a:gd name="adj2" fmla="val 5902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50800" algn="ctr"/>
            <a:r>
              <a:rPr lang="en-GB" b="1" i="0" dirty="0">
                <a:solidFill>
                  <a:srgbClr val="0070C0"/>
                </a:solidFill>
                <a:effectLst/>
                <a:latin typeface="Calibri" panose="020F0502020204030204" pitchFamily="34" charset="0"/>
                <a:cs typeface="Calibri" panose="020F0502020204030204" pitchFamily="34" charset="0"/>
              </a:rPr>
              <a:t>Think about the sensitive data there is in school and across the Trust i.e. Employment, financial, Safeguarding</a:t>
            </a:r>
            <a:r>
              <a:rPr lang="en-GB" b="1" dirty="0">
                <a:solidFill>
                  <a:srgbClr val="0070C0"/>
                </a:solidFill>
                <a:latin typeface="Calibri" panose="020F0502020204030204" pitchFamily="34" charset="0"/>
                <a:cs typeface="Calibri" panose="020F0502020204030204" pitchFamily="34" charset="0"/>
              </a:rPr>
              <a:t> and</a:t>
            </a:r>
            <a:r>
              <a:rPr lang="en-GB" b="1" i="0" dirty="0">
                <a:solidFill>
                  <a:srgbClr val="0070C0"/>
                </a:solidFill>
                <a:effectLst/>
                <a:latin typeface="Calibri" panose="020F0502020204030204" pitchFamily="34" charset="0"/>
                <a:cs typeface="Calibri" panose="020F0502020204030204" pitchFamily="34" charset="0"/>
              </a:rPr>
              <a:t> EHCPs etc.</a:t>
            </a:r>
            <a:r>
              <a:rPr lang="en-GB" b="1" dirty="0">
                <a:solidFill>
                  <a:srgbClr val="0070C0"/>
                </a:solidFill>
                <a:latin typeface="Calibri" panose="020F0502020204030204" pitchFamily="34" charset="0"/>
                <a:cs typeface="Calibri" panose="020F0502020204030204" pitchFamily="34" charset="0"/>
              </a:rPr>
              <a:t> </a:t>
            </a:r>
            <a:endParaRPr lang="en-GB" b="1" i="0" dirty="0">
              <a:solidFill>
                <a:srgbClr val="0070C0"/>
              </a:solidFill>
              <a:effectLst/>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49980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pic>
        <p:nvPicPr>
          <p:cNvPr id="127" name="Shape 127"/>
          <p:cNvPicPr preferRelativeResize="0"/>
          <p:nvPr/>
        </p:nvPicPr>
        <p:blipFill rotWithShape="1">
          <a:blip r:embed="rId3">
            <a:alphaModFix/>
          </a:blip>
          <a:srcRect/>
          <a:stretch/>
        </p:blipFill>
        <p:spPr>
          <a:xfrm>
            <a:off x="590325" y="314771"/>
            <a:ext cx="3349448" cy="3589319"/>
          </a:xfrm>
          <a:prstGeom prst="rect">
            <a:avLst/>
          </a:prstGeom>
          <a:noFill/>
          <a:ln>
            <a:noFill/>
          </a:ln>
        </p:spPr>
      </p:pic>
      <p:sp>
        <p:nvSpPr>
          <p:cNvPr id="4" name="TextBox 3">
            <a:extLst>
              <a:ext uri="{FF2B5EF4-FFF2-40B4-BE49-F238E27FC236}">
                <a16:creationId xmlns:a16="http://schemas.microsoft.com/office/drawing/2014/main" id="{28B11929-8C83-42A6-8BE5-EA3A6A706BF0}"/>
              </a:ext>
            </a:extLst>
          </p:cNvPr>
          <p:cNvSpPr txBox="1"/>
          <p:nvPr/>
        </p:nvSpPr>
        <p:spPr>
          <a:xfrm>
            <a:off x="4293705" y="566279"/>
            <a:ext cx="4086636" cy="1477328"/>
          </a:xfrm>
          <a:prstGeom prst="rect">
            <a:avLst/>
          </a:prstGeom>
          <a:noFill/>
        </p:spPr>
        <p:txBody>
          <a:bodyPr wrap="square" rtlCol="0">
            <a:spAutoFit/>
          </a:bodyPr>
          <a:lstStyle/>
          <a:p>
            <a:pPr marL="0" marR="0" lvl="0" indent="0" algn="l" rtl="0">
              <a:lnSpc>
                <a:spcPct val="90000"/>
              </a:lnSpc>
              <a:spcBef>
                <a:spcPts val="0"/>
              </a:spcBef>
              <a:spcAft>
                <a:spcPts val="0"/>
              </a:spcAft>
              <a:buClr>
                <a:schemeClr val="dk1"/>
              </a:buClr>
              <a:buSzPts val="4400"/>
              <a:buFont typeface="Calibri"/>
              <a:buNone/>
            </a:pPr>
            <a:r>
              <a:rPr lang="en-US" sz="2000" b="1" i="1" u="none" strike="noStrike" cap="none" dirty="0">
                <a:solidFill>
                  <a:schemeClr val="dk1"/>
                </a:solidFill>
                <a:latin typeface="Calibri"/>
                <a:ea typeface="Calibri"/>
                <a:cs typeface="Calibri"/>
                <a:sym typeface="Calibri"/>
              </a:rPr>
              <a:t>Data subjects…</a:t>
            </a:r>
          </a:p>
          <a:p>
            <a:pPr marL="0" marR="0" lvl="0" indent="0" algn="l" rtl="0">
              <a:lnSpc>
                <a:spcPct val="90000"/>
              </a:lnSpc>
              <a:spcBef>
                <a:spcPts val="0"/>
              </a:spcBef>
              <a:spcAft>
                <a:spcPts val="0"/>
              </a:spcAft>
              <a:buClr>
                <a:schemeClr val="dk1"/>
              </a:buClr>
              <a:buSzPts val="4400"/>
              <a:buFont typeface="Calibri"/>
              <a:buNone/>
            </a:pPr>
            <a:r>
              <a:rPr lang="en-US" sz="2000" b="1" i="0" u="none" strike="noStrike" cap="none" dirty="0">
                <a:solidFill>
                  <a:schemeClr val="dk1"/>
                </a:solidFill>
                <a:latin typeface="Calibri"/>
                <a:ea typeface="Calibri"/>
                <a:cs typeface="Calibri"/>
                <a:sym typeface="Calibri"/>
              </a:rPr>
              <a:t>It’s YOUR data</a:t>
            </a:r>
          </a:p>
          <a:p>
            <a:pPr marL="0" marR="0" lvl="0" indent="0" algn="l" rtl="0">
              <a:lnSpc>
                <a:spcPct val="90000"/>
              </a:lnSpc>
              <a:spcBef>
                <a:spcPts val="0"/>
              </a:spcBef>
              <a:spcAft>
                <a:spcPts val="0"/>
              </a:spcAft>
              <a:buClr>
                <a:schemeClr val="dk1"/>
              </a:buClr>
              <a:buSzPts val="4400"/>
              <a:buFont typeface="Calibri"/>
              <a:buNone/>
            </a:pPr>
            <a:endParaRPr lang="en-US" sz="2000" b="1" i="0" u="none" strike="noStrike" cap="none" dirty="0">
              <a:solidFill>
                <a:schemeClr val="dk1"/>
              </a:solidFill>
              <a:latin typeface="Calibri"/>
              <a:ea typeface="Calibri"/>
              <a:cs typeface="Calibri"/>
              <a:sym typeface="Calibri"/>
            </a:endParaRPr>
          </a:p>
          <a:p>
            <a:pPr marL="0" marR="0" lvl="0" indent="0" algn="l" rtl="0">
              <a:lnSpc>
                <a:spcPct val="90000"/>
              </a:lnSpc>
              <a:spcBef>
                <a:spcPts val="0"/>
              </a:spcBef>
              <a:spcAft>
                <a:spcPts val="0"/>
              </a:spcAft>
              <a:buClr>
                <a:schemeClr val="dk1"/>
              </a:buClr>
              <a:buSzPts val="4400"/>
              <a:buFont typeface="Calibri"/>
              <a:buNone/>
            </a:pPr>
            <a:r>
              <a:rPr lang="en-US" sz="2000" b="1" i="1" u="none" strike="noStrike" cap="none" dirty="0">
                <a:solidFill>
                  <a:schemeClr val="dk1"/>
                </a:solidFill>
                <a:latin typeface="Calibri"/>
                <a:ea typeface="Calibri"/>
                <a:cs typeface="Calibri"/>
                <a:sym typeface="Calibri"/>
              </a:rPr>
              <a:t>Organisations…</a:t>
            </a:r>
          </a:p>
          <a:p>
            <a:pPr marL="0" marR="0" lvl="0" indent="0" algn="l" rtl="0">
              <a:lnSpc>
                <a:spcPct val="90000"/>
              </a:lnSpc>
              <a:spcBef>
                <a:spcPts val="0"/>
              </a:spcBef>
              <a:spcAft>
                <a:spcPts val="0"/>
              </a:spcAft>
              <a:buClr>
                <a:schemeClr val="dk1"/>
              </a:buClr>
              <a:buSzPts val="4400"/>
              <a:buFont typeface="Calibri"/>
              <a:buNone/>
            </a:pPr>
            <a:r>
              <a:rPr lang="en-US" sz="2000" b="1" i="0" u="none" strike="noStrike" cap="none" dirty="0">
                <a:solidFill>
                  <a:schemeClr val="dk1"/>
                </a:solidFill>
                <a:latin typeface="Calibri"/>
                <a:ea typeface="Calibri"/>
                <a:cs typeface="Calibri"/>
                <a:sym typeface="Calibri"/>
              </a:rPr>
              <a:t>You are the custodians</a:t>
            </a:r>
            <a:endParaRPr lang="en-US" sz="2000" dirty="0"/>
          </a:p>
        </p:txBody>
      </p:sp>
      <p:sp>
        <p:nvSpPr>
          <p:cNvPr id="3" name="TextBox 2">
            <a:extLst>
              <a:ext uri="{FF2B5EF4-FFF2-40B4-BE49-F238E27FC236}">
                <a16:creationId xmlns:a16="http://schemas.microsoft.com/office/drawing/2014/main" id="{A1E291AF-B46D-4008-BABB-EE6E7E036842}"/>
              </a:ext>
            </a:extLst>
          </p:cNvPr>
          <p:cNvSpPr txBox="1"/>
          <p:nvPr/>
        </p:nvSpPr>
        <p:spPr>
          <a:xfrm>
            <a:off x="4293705" y="2730562"/>
            <a:ext cx="3349448" cy="1200329"/>
          </a:xfrm>
          <a:prstGeom prst="rect">
            <a:avLst/>
          </a:prstGeom>
          <a:noFill/>
        </p:spPr>
        <p:txBody>
          <a:bodyPr wrap="square" rtlCol="0">
            <a:spAutoFit/>
          </a:bodyPr>
          <a:lstStyle/>
          <a:p>
            <a:r>
              <a:rPr lang="en-GB" sz="1800" dirty="0">
                <a:latin typeface="Calibri" panose="020F0502020204030204" pitchFamily="34" charset="0"/>
                <a:cs typeface="Calibri" panose="020F0502020204030204" pitchFamily="34" charset="0"/>
              </a:rPr>
              <a:t>We are now going to have a look at the Principles and Data Subjects Rights which lay at the heart of GDPR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150" name="Shape 150"/>
          <p:cNvPicPr preferRelativeResize="0"/>
          <p:nvPr/>
        </p:nvPicPr>
        <p:blipFill rotWithShape="1">
          <a:blip r:embed="rId3">
            <a:alphaModFix/>
          </a:blip>
          <a:srcRect/>
          <a:stretch/>
        </p:blipFill>
        <p:spPr>
          <a:xfrm>
            <a:off x="4681898" y="1268414"/>
            <a:ext cx="3867150" cy="3363912"/>
          </a:xfrm>
          <a:prstGeom prst="rect">
            <a:avLst/>
          </a:prstGeom>
          <a:noFill/>
          <a:ln>
            <a:noFill/>
          </a:ln>
        </p:spPr>
      </p:pic>
      <p:sp>
        <p:nvSpPr>
          <p:cNvPr id="151" name="Shape 151"/>
          <p:cNvSpPr txBox="1">
            <a:spLocks noGrp="1"/>
          </p:cNvSpPr>
          <p:nvPr>
            <p:ph type="title"/>
          </p:nvPr>
        </p:nvSpPr>
        <p:spPr>
          <a:xfrm>
            <a:off x="223407" y="195119"/>
            <a:ext cx="6447501" cy="9906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dk1"/>
              </a:buClr>
              <a:buSzPts val="4400"/>
              <a:buFont typeface="Calibri"/>
              <a:buNone/>
            </a:pPr>
            <a:r>
              <a:rPr lang="en-US" sz="2800" b="1" i="0" u="none" strike="noStrike" cap="none" dirty="0">
                <a:solidFill>
                  <a:schemeClr val="accent2"/>
                </a:solidFill>
                <a:latin typeface="Calibri"/>
                <a:ea typeface="Calibri"/>
                <a:cs typeface="Calibri"/>
                <a:sym typeface="Calibri"/>
              </a:rPr>
              <a:t>Preparing for Compliance</a:t>
            </a:r>
            <a:endParaRPr sz="2800" b="1" i="0" u="none" strike="noStrike" cap="none" dirty="0">
              <a:solidFill>
                <a:schemeClr val="accent2"/>
              </a:solidFill>
              <a:latin typeface="Calibri"/>
              <a:ea typeface="Calibri"/>
              <a:cs typeface="Calibri"/>
              <a:sym typeface="Calibri"/>
            </a:endParaRPr>
          </a:p>
        </p:txBody>
      </p:sp>
      <p:sp>
        <p:nvSpPr>
          <p:cNvPr id="152" name="Shape 152"/>
          <p:cNvSpPr txBox="1">
            <a:spLocks noGrp="1"/>
          </p:cNvSpPr>
          <p:nvPr>
            <p:ph sz="half" idx="1"/>
          </p:nvPr>
        </p:nvSpPr>
        <p:spPr>
          <a:xfrm>
            <a:off x="485055" y="1150980"/>
            <a:ext cx="3977048" cy="3797401"/>
          </a:xfrm>
          <a:prstGeom prst="rect">
            <a:avLst/>
          </a:prstGeom>
          <a:noFill/>
          <a:ln>
            <a:noFill/>
          </a:ln>
        </p:spPr>
        <p:txBody>
          <a:bodyPr spcFirstLastPara="1" wrap="square" lIns="91425" tIns="45700" rIns="91425" bIns="45700" anchor="t" anchorCtr="0">
            <a:noAutofit/>
          </a:bodyPr>
          <a:lstStyle/>
          <a:p>
            <a:pPr marL="0" marR="0" lvl="0" indent="0" algn="l" rtl="0">
              <a:lnSpc>
                <a:spcPct val="70000"/>
              </a:lnSpc>
              <a:spcBef>
                <a:spcPts val="0"/>
              </a:spcBef>
              <a:spcAft>
                <a:spcPts val="0"/>
              </a:spcAft>
              <a:buClr>
                <a:schemeClr val="dk1"/>
              </a:buClr>
              <a:buSzPts val="2590"/>
              <a:buFont typeface="Arial"/>
              <a:buNone/>
            </a:pPr>
            <a:r>
              <a:rPr lang="en-US" sz="2000" b="1" i="0" u="none" strike="noStrike" cap="none" dirty="0">
                <a:solidFill>
                  <a:schemeClr val="accent2"/>
                </a:solidFill>
                <a:latin typeface="Calibri"/>
                <a:ea typeface="Calibri"/>
                <a:cs typeface="Calibri"/>
                <a:sym typeface="Calibri"/>
              </a:rPr>
              <a:t>Personal data must be:</a:t>
            </a:r>
            <a:endParaRPr sz="2000" b="1" i="0" u="none" strike="noStrike" cap="none" dirty="0">
              <a:solidFill>
                <a:schemeClr val="accent2"/>
              </a:solidFill>
              <a:latin typeface="Calibri"/>
              <a:ea typeface="Calibri"/>
              <a:cs typeface="Calibri"/>
              <a:sym typeface="Calibri"/>
            </a:endParaRPr>
          </a:p>
          <a:p>
            <a:pPr marL="228600" marR="0" lvl="0" indent="-228600" algn="l" rtl="0">
              <a:lnSpc>
                <a:spcPct val="70000"/>
              </a:lnSpc>
              <a:spcBef>
                <a:spcPts val="1000"/>
              </a:spcBef>
              <a:spcAft>
                <a:spcPts val="0"/>
              </a:spcAft>
              <a:buClr>
                <a:schemeClr val="dk1"/>
              </a:buClr>
              <a:buSzPts val="2590"/>
              <a:buFont typeface="Arial"/>
              <a:buChar char="•"/>
            </a:pPr>
            <a:r>
              <a:rPr lang="en-US" sz="2000" b="0" i="0" u="none" strike="noStrike" cap="none" dirty="0">
                <a:solidFill>
                  <a:schemeClr val="accent2"/>
                </a:solidFill>
                <a:latin typeface="Calibri"/>
                <a:ea typeface="Calibri"/>
                <a:cs typeface="Calibri"/>
                <a:sym typeface="Calibri"/>
              </a:rPr>
              <a:t>Processed lawfully fairly and </a:t>
            </a:r>
            <a:r>
              <a:rPr lang="en-US" sz="2000" dirty="0">
                <a:solidFill>
                  <a:schemeClr val="accent2"/>
                </a:solidFill>
                <a:latin typeface="Calibri"/>
                <a:ea typeface="Calibri"/>
                <a:cs typeface="Calibri"/>
                <a:sym typeface="Calibri"/>
              </a:rPr>
              <a:t>transparently</a:t>
            </a:r>
            <a:r>
              <a:rPr lang="en-US" sz="2000" b="0" i="0" u="none" strike="noStrike" cap="none" dirty="0">
                <a:solidFill>
                  <a:schemeClr val="accent2"/>
                </a:solidFill>
                <a:latin typeface="Calibri"/>
                <a:ea typeface="Calibri"/>
                <a:cs typeface="Calibri"/>
                <a:sym typeface="Calibri"/>
              </a:rPr>
              <a:t> </a:t>
            </a:r>
            <a:endParaRPr sz="2000" b="0" i="0" u="none" strike="noStrike" cap="none" dirty="0">
              <a:solidFill>
                <a:schemeClr val="accent2"/>
              </a:solidFill>
              <a:latin typeface="Calibri"/>
              <a:ea typeface="Calibri"/>
              <a:cs typeface="Calibri"/>
              <a:sym typeface="Calibri"/>
            </a:endParaRPr>
          </a:p>
          <a:p>
            <a:pPr marL="228600" marR="0" lvl="0" indent="-228600" algn="l" rtl="0">
              <a:lnSpc>
                <a:spcPct val="70000"/>
              </a:lnSpc>
              <a:spcBef>
                <a:spcPts val="1000"/>
              </a:spcBef>
              <a:spcAft>
                <a:spcPts val="0"/>
              </a:spcAft>
              <a:buClr>
                <a:schemeClr val="dk1"/>
              </a:buClr>
              <a:buSzPts val="2590"/>
              <a:buFont typeface="Arial"/>
              <a:buChar char="•"/>
            </a:pPr>
            <a:r>
              <a:rPr lang="en-US" sz="2000" b="0" i="0" u="none" strike="noStrike" cap="none" dirty="0">
                <a:solidFill>
                  <a:schemeClr val="accent2"/>
                </a:solidFill>
                <a:latin typeface="Calibri"/>
                <a:ea typeface="Calibri"/>
                <a:cs typeface="Calibri"/>
                <a:sym typeface="Calibri"/>
              </a:rPr>
              <a:t>For a specific purpose and not further processed  (Purpose Limitation)</a:t>
            </a:r>
            <a:endParaRPr sz="2000" b="0" i="0" u="none" strike="noStrike" cap="none" dirty="0">
              <a:solidFill>
                <a:schemeClr val="accent2"/>
              </a:solidFill>
              <a:latin typeface="Calibri"/>
              <a:ea typeface="Calibri"/>
              <a:cs typeface="Calibri"/>
              <a:sym typeface="Calibri"/>
            </a:endParaRPr>
          </a:p>
          <a:p>
            <a:pPr marL="228600" marR="0" lvl="0" indent="-228600" algn="l" rtl="0">
              <a:lnSpc>
                <a:spcPct val="70000"/>
              </a:lnSpc>
              <a:spcBef>
                <a:spcPts val="1000"/>
              </a:spcBef>
              <a:spcAft>
                <a:spcPts val="0"/>
              </a:spcAft>
              <a:buClr>
                <a:schemeClr val="dk1"/>
              </a:buClr>
              <a:buSzPts val="2590"/>
              <a:buFont typeface="Arial"/>
              <a:buChar char="•"/>
            </a:pPr>
            <a:r>
              <a:rPr lang="en-US" sz="2000" b="0" i="0" u="none" strike="noStrike" cap="none" dirty="0">
                <a:solidFill>
                  <a:schemeClr val="accent2"/>
                </a:solidFill>
                <a:latin typeface="Calibri"/>
                <a:ea typeface="Calibri"/>
                <a:cs typeface="Calibri"/>
                <a:sym typeface="Calibri"/>
              </a:rPr>
              <a:t>Kept to a minimum (Minimization)</a:t>
            </a:r>
            <a:endParaRPr sz="2000" b="0" i="0" u="none" strike="noStrike" cap="none" dirty="0">
              <a:solidFill>
                <a:schemeClr val="accent2"/>
              </a:solidFill>
              <a:latin typeface="Calibri"/>
              <a:ea typeface="Calibri"/>
              <a:cs typeface="Calibri"/>
              <a:sym typeface="Calibri"/>
            </a:endParaRPr>
          </a:p>
          <a:p>
            <a:pPr marL="228600" marR="0" lvl="0" indent="-228600" algn="l" rtl="0">
              <a:lnSpc>
                <a:spcPct val="70000"/>
              </a:lnSpc>
              <a:spcBef>
                <a:spcPts val="1000"/>
              </a:spcBef>
              <a:spcAft>
                <a:spcPts val="0"/>
              </a:spcAft>
              <a:buClr>
                <a:schemeClr val="dk1"/>
              </a:buClr>
              <a:buSzPts val="2590"/>
              <a:buFont typeface="Arial"/>
              <a:buChar char="•"/>
            </a:pPr>
            <a:r>
              <a:rPr lang="en-US" sz="2000" b="0" i="0" u="none" strike="noStrike" cap="none" dirty="0">
                <a:solidFill>
                  <a:schemeClr val="accent2"/>
                </a:solidFill>
                <a:latin typeface="Calibri"/>
                <a:ea typeface="Calibri"/>
                <a:cs typeface="Calibri"/>
                <a:sym typeface="Calibri"/>
              </a:rPr>
              <a:t>Accurate and up-to-date</a:t>
            </a:r>
            <a:endParaRPr sz="2000" b="0" i="0" u="none" strike="noStrike" cap="none" dirty="0">
              <a:solidFill>
                <a:schemeClr val="accent2"/>
              </a:solidFill>
              <a:latin typeface="Calibri"/>
              <a:ea typeface="Calibri"/>
              <a:cs typeface="Calibri"/>
              <a:sym typeface="Calibri"/>
            </a:endParaRPr>
          </a:p>
          <a:p>
            <a:pPr marL="228600" marR="0" lvl="0" indent="-228600" algn="l" rtl="0">
              <a:lnSpc>
                <a:spcPct val="70000"/>
              </a:lnSpc>
              <a:spcBef>
                <a:spcPts val="1000"/>
              </a:spcBef>
              <a:spcAft>
                <a:spcPts val="0"/>
              </a:spcAft>
              <a:buClr>
                <a:schemeClr val="dk1"/>
              </a:buClr>
              <a:buSzPts val="2590"/>
              <a:buFont typeface="Arial"/>
              <a:buChar char="•"/>
            </a:pPr>
            <a:r>
              <a:rPr lang="en-US" sz="2000" b="0" i="0" u="none" strike="noStrike" cap="none" dirty="0">
                <a:solidFill>
                  <a:schemeClr val="accent2"/>
                </a:solidFill>
                <a:latin typeface="Calibri"/>
                <a:ea typeface="Calibri"/>
                <a:cs typeface="Calibri"/>
                <a:sym typeface="Calibri"/>
              </a:rPr>
              <a:t>Retained only for as long as it is needed (Storage Limitation)</a:t>
            </a:r>
            <a:endParaRPr sz="2000" b="0" i="0" u="none" strike="noStrike" cap="none" dirty="0">
              <a:solidFill>
                <a:schemeClr val="accent2"/>
              </a:solidFill>
              <a:latin typeface="Calibri"/>
              <a:ea typeface="Calibri"/>
              <a:cs typeface="Calibri"/>
              <a:sym typeface="Calibri"/>
            </a:endParaRPr>
          </a:p>
          <a:p>
            <a:pPr marL="228600" marR="0" lvl="0" indent="-228600" algn="l" rtl="0">
              <a:lnSpc>
                <a:spcPct val="70000"/>
              </a:lnSpc>
              <a:spcBef>
                <a:spcPts val="1000"/>
              </a:spcBef>
              <a:spcAft>
                <a:spcPts val="0"/>
              </a:spcAft>
              <a:buClr>
                <a:schemeClr val="dk1"/>
              </a:buClr>
              <a:buSzPts val="2590"/>
              <a:buFont typeface="Arial"/>
              <a:buChar char="•"/>
            </a:pPr>
            <a:r>
              <a:rPr lang="en-US" sz="2000" dirty="0">
                <a:solidFill>
                  <a:schemeClr val="accent2"/>
                </a:solidFill>
                <a:latin typeface="Calibri"/>
                <a:ea typeface="Calibri"/>
                <a:cs typeface="Calibri"/>
                <a:sym typeface="Calibri"/>
              </a:rPr>
              <a:t>Integrity and confidentiality (S</a:t>
            </a:r>
            <a:r>
              <a:rPr lang="en-US" sz="2000" b="0" i="0" u="none" strike="noStrike" cap="none" dirty="0">
                <a:solidFill>
                  <a:schemeClr val="accent2"/>
                </a:solidFill>
                <a:latin typeface="Calibri"/>
                <a:ea typeface="Calibri"/>
                <a:cs typeface="Calibri"/>
                <a:sym typeface="Calibri"/>
              </a:rPr>
              <a:t>ecurity)</a:t>
            </a:r>
          </a:p>
          <a:p>
            <a:pPr marL="228600" marR="0" lvl="0" indent="-228600" algn="l" rtl="0">
              <a:lnSpc>
                <a:spcPct val="70000"/>
              </a:lnSpc>
              <a:spcBef>
                <a:spcPts val="1000"/>
              </a:spcBef>
              <a:spcAft>
                <a:spcPts val="0"/>
              </a:spcAft>
              <a:buClr>
                <a:schemeClr val="dk1"/>
              </a:buClr>
              <a:buSzPts val="2590"/>
              <a:buFont typeface="Arial"/>
              <a:buChar char="•"/>
            </a:pPr>
            <a:r>
              <a:rPr lang="en-US" sz="2000" dirty="0">
                <a:solidFill>
                  <a:schemeClr val="accent2"/>
                </a:solidFill>
                <a:latin typeface="Calibri"/>
                <a:ea typeface="Calibri"/>
                <a:cs typeface="Calibri"/>
                <a:sym typeface="Calibri"/>
              </a:rPr>
              <a:t>Accountability </a:t>
            </a:r>
            <a:endParaRPr sz="2000" b="0" i="0" u="none" strike="noStrike" cap="none" dirty="0">
              <a:solidFill>
                <a:schemeClr val="accent2"/>
              </a:solidFill>
              <a:latin typeface="Calibri"/>
              <a:ea typeface="Calibri"/>
              <a:cs typeface="Calibri"/>
              <a:sym typeface="Calibri"/>
            </a:endParaRPr>
          </a:p>
          <a:p>
            <a:pPr marL="228600" marR="0" lvl="0" indent="-64135" algn="l" rtl="0">
              <a:lnSpc>
                <a:spcPct val="70000"/>
              </a:lnSpc>
              <a:spcBef>
                <a:spcPts val="1000"/>
              </a:spcBef>
              <a:spcAft>
                <a:spcPts val="0"/>
              </a:spcAft>
              <a:buClr>
                <a:schemeClr val="dk1"/>
              </a:buClr>
              <a:buSzPts val="2590"/>
              <a:buFont typeface="Arial"/>
              <a:buNone/>
            </a:pPr>
            <a:endParaRPr sz="2590" b="0" i="0" u="none" strike="noStrike" cap="none" dirty="0">
              <a:solidFill>
                <a:schemeClr val="dk1"/>
              </a:solidFill>
              <a:latin typeface="Calibri"/>
              <a:ea typeface="Calibri"/>
              <a:cs typeface="Calibri"/>
              <a:sym typeface="Calibri"/>
            </a:endParaRPr>
          </a:p>
        </p:txBody>
      </p:sp>
      <p:sp>
        <p:nvSpPr>
          <p:cNvPr id="153" name="Shape 153"/>
          <p:cNvSpPr txBox="1"/>
          <p:nvPr/>
        </p:nvSpPr>
        <p:spPr>
          <a:xfrm>
            <a:off x="5559824" y="1499079"/>
            <a:ext cx="2222168" cy="1754326"/>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3600"/>
              <a:buFont typeface="Calibri"/>
              <a:buNone/>
            </a:pPr>
            <a:r>
              <a:rPr lang="en-US" sz="3600" b="1" i="0" u="none" strike="noStrike" cap="none" dirty="0">
                <a:solidFill>
                  <a:schemeClr val="accent2"/>
                </a:solidFill>
                <a:latin typeface="Calibri"/>
                <a:ea typeface="Calibri"/>
                <a:cs typeface="Calibri"/>
                <a:sym typeface="Calibri"/>
              </a:rPr>
              <a:t>The</a:t>
            </a:r>
            <a:endParaRPr sz="1400" b="1" i="0" u="none" strike="noStrike" cap="none" dirty="0">
              <a:solidFill>
                <a:schemeClr val="accent2"/>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3600"/>
              <a:buFont typeface="Calibri"/>
              <a:buNone/>
            </a:pPr>
            <a:r>
              <a:rPr lang="en-US" sz="3600" b="1" i="0" u="none" strike="noStrike" cap="none" dirty="0">
                <a:solidFill>
                  <a:schemeClr val="accent2"/>
                </a:solidFill>
                <a:latin typeface="Calibri"/>
                <a:ea typeface="Calibri"/>
                <a:cs typeface="Calibri"/>
                <a:sym typeface="Calibri"/>
              </a:rPr>
              <a:t>Six Data Principles</a:t>
            </a:r>
          </a:p>
          <a:p>
            <a:pPr marL="0" marR="0" lvl="0" indent="0" algn="ctr" rtl="0">
              <a:lnSpc>
                <a:spcPct val="100000"/>
              </a:lnSpc>
              <a:spcBef>
                <a:spcPts val="0"/>
              </a:spcBef>
              <a:spcAft>
                <a:spcPts val="0"/>
              </a:spcAft>
              <a:buClr>
                <a:srgbClr val="000000"/>
              </a:buClr>
              <a:buSzPts val="3600"/>
              <a:buFont typeface="Calibri"/>
              <a:buNone/>
            </a:pPr>
            <a:r>
              <a:rPr lang="en-US" b="1" dirty="0">
                <a:solidFill>
                  <a:schemeClr val="accent2"/>
                </a:solidFill>
                <a:latin typeface="Calibri"/>
                <a:ea typeface="Calibri"/>
                <a:cs typeface="Calibri"/>
                <a:sym typeface="Calibri"/>
              </a:rPr>
              <a:t>7 including accountability </a:t>
            </a:r>
            <a:endParaRPr b="1" i="0" u="none" strike="noStrike" cap="none" dirty="0">
              <a:solidFill>
                <a:schemeClr val="accent2"/>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pic>
        <p:nvPicPr>
          <p:cNvPr id="159" name="Shape 159"/>
          <p:cNvPicPr preferRelativeResize="0"/>
          <p:nvPr/>
        </p:nvPicPr>
        <p:blipFill rotWithShape="1">
          <a:blip r:embed="rId3">
            <a:alphaModFix/>
          </a:blip>
          <a:srcRect/>
          <a:stretch/>
        </p:blipFill>
        <p:spPr>
          <a:xfrm>
            <a:off x="4681898" y="1268414"/>
            <a:ext cx="3867150" cy="3363912"/>
          </a:xfrm>
          <a:prstGeom prst="rect">
            <a:avLst/>
          </a:prstGeom>
          <a:noFill/>
          <a:ln>
            <a:noFill/>
          </a:ln>
        </p:spPr>
      </p:pic>
      <p:sp>
        <p:nvSpPr>
          <p:cNvPr id="160" name="Shape 160"/>
          <p:cNvSpPr txBox="1"/>
          <p:nvPr/>
        </p:nvSpPr>
        <p:spPr>
          <a:xfrm>
            <a:off x="718123" y="1384925"/>
            <a:ext cx="8067608" cy="3262312"/>
          </a:xfrm>
          <a:prstGeom prst="rect">
            <a:avLst/>
          </a:prstGeom>
          <a:noFill/>
          <a:ln>
            <a:noFill/>
          </a:ln>
        </p:spPr>
        <p:txBody>
          <a:bodyPr spcFirstLastPara="1" wrap="square" lIns="91425" tIns="45700" rIns="91425" bIns="45700" anchor="t" anchorCtr="0">
            <a:noAutofit/>
          </a:bodyPr>
          <a:lstStyle/>
          <a:p>
            <a:pPr marL="457200" marR="0" lvl="0" indent="-279400" algn="l" rtl="0">
              <a:lnSpc>
                <a:spcPct val="90000"/>
              </a:lnSpc>
              <a:spcBef>
                <a:spcPts val="0"/>
              </a:spcBef>
              <a:spcAft>
                <a:spcPts val="0"/>
              </a:spcAft>
              <a:buClr>
                <a:srgbClr val="757070"/>
              </a:buClr>
              <a:buSzPts val="2800"/>
              <a:buFont typeface="Arial"/>
              <a:buNone/>
            </a:pPr>
            <a:endParaRPr sz="2800" b="0" i="0" u="none" strike="noStrike" cap="none">
              <a:solidFill>
                <a:srgbClr val="757070"/>
              </a:solidFill>
              <a:latin typeface="Calibri"/>
              <a:ea typeface="Calibri"/>
              <a:cs typeface="Calibri"/>
              <a:sym typeface="Calibri"/>
            </a:endParaRPr>
          </a:p>
        </p:txBody>
      </p:sp>
      <p:sp>
        <p:nvSpPr>
          <p:cNvPr id="161" name="Shape 161"/>
          <p:cNvSpPr/>
          <p:nvPr/>
        </p:nvSpPr>
        <p:spPr>
          <a:xfrm>
            <a:off x="4454820" y="2417862"/>
            <a:ext cx="383438" cy="30777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sp>
        <p:nvSpPr>
          <p:cNvPr id="162" name="Shape 162"/>
          <p:cNvSpPr txBox="1">
            <a:spLocks noGrp="1"/>
          </p:cNvSpPr>
          <p:nvPr>
            <p:ph type="title"/>
          </p:nvPr>
        </p:nvSpPr>
        <p:spPr>
          <a:xfrm>
            <a:off x="167972" y="219559"/>
            <a:ext cx="6447501" cy="9906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dk1"/>
              </a:buClr>
              <a:buSzPts val="4400"/>
              <a:buFont typeface="Calibri"/>
              <a:buNone/>
            </a:pPr>
            <a:r>
              <a:rPr lang="en-US" sz="2800" b="1" i="0" u="none" strike="noStrike" cap="none" dirty="0">
                <a:solidFill>
                  <a:schemeClr val="accent2"/>
                </a:solidFill>
                <a:latin typeface="Calibri"/>
                <a:ea typeface="Calibri"/>
                <a:cs typeface="Calibri"/>
                <a:sym typeface="Calibri"/>
              </a:rPr>
              <a:t>Reasons to process data</a:t>
            </a:r>
            <a:endParaRPr sz="2800" b="1" i="0" u="none" strike="noStrike" cap="none" dirty="0">
              <a:solidFill>
                <a:schemeClr val="accent2"/>
              </a:solidFill>
              <a:latin typeface="Calibri"/>
              <a:ea typeface="Calibri"/>
              <a:cs typeface="Calibri"/>
              <a:sym typeface="Calibri"/>
            </a:endParaRPr>
          </a:p>
        </p:txBody>
      </p:sp>
      <p:sp>
        <p:nvSpPr>
          <p:cNvPr id="163" name="Shape 163"/>
          <p:cNvSpPr txBox="1">
            <a:spLocks noGrp="1"/>
          </p:cNvSpPr>
          <p:nvPr>
            <p:ph sz="half" idx="1"/>
          </p:nvPr>
        </p:nvSpPr>
        <p:spPr>
          <a:xfrm>
            <a:off x="436930" y="1211557"/>
            <a:ext cx="4209609" cy="3424824"/>
          </a:xfrm>
          <a:prstGeom prst="rect">
            <a:avLst/>
          </a:prstGeom>
          <a:noFill/>
          <a:ln>
            <a:noFill/>
          </a:ln>
        </p:spPr>
        <p:txBody>
          <a:bodyPr spcFirstLastPara="1" wrap="square" lIns="91425" tIns="45700" rIns="91425" bIns="45700" anchor="t" anchorCtr="0">
            <a:noAutofit/>
          </a:bodyPr>
          <a:lstStyle/>
          <a:p>
            <a:pPr marL="311150" indent="-285750">
              <a:spcBef>
                <a:spcPts val="600"/>
              </a:spcBef>
              <a:buClr>
                <a:schemeClr val="tx1"/>
              </a:buClr>
              <a:buSzPts val="2400"/>
              <a:buFont typeface="Arial" panose="020B0604020202020204" pitchFamily="34" charset="0"/>
              <a:buChar char="•"/>
            </a:pPr>
            <a:r>
              <a:rPr lang="en-US" sz="1600" b="1" i="0" u="none" strike="noStrike" cap="none" dirty="0">
                <a:solidFill>
                  <a:schemeClr val="accent2"/>
                </a:solidFill>
                <a:latin typeface="Calibri" panose="020F0502020204030204" pitchFamily="34" charset="0"/>
                <a:ea typeface="Calibri"/>
                <a:cs typeface="Calibri" panose="020F0502020204030204" pitchFamily="34" charset="0"/>
                <a:sym typeface="Calibri"/>
              </a:rPr>
              <a:t>Contractual</a:t>
            </a:r>
            <a:r>
              <a:rPr lang="en-US" sz="1600" b="0" i="0" u="none" strike="noStrike" cap="none" dirty="0">
                <a:solidFill>
                  <a:schemeClr val="accent2"/>
                </a:solidFill>
                <a:latin typeface="Calibri" panose="020F0502020204030204" pitchFamily="34" charset="0"/>
                <a:ea typeface="Calibri"/>
                <a:cs typeface="Calibri" panose="020F0502020204030204" pitchFamily="34" charset="0"/>
                <a:sym typeface="Calibri"/>
              </a:rPr>
              <a:t> (company/HR/salary/contract)</a:t>
            </a:r>
          </a:p>
          <a:p>
            <a:pPr marL="311150" indent="-285750">
              <a:spcBef>
                <a:spcPts val="600"/>
              </a:spcBef>
              <a:buClr>
                <a:schemeClr val="tx1"/>
              </a:buClr>
              <a:buSzPts val="2400"/>
              <a:buFont typeface="Arial" panose="020B0604020202020204" pitchFamily="34" charset="0"/>
              <a:buChar char="•"/>
            </a:pPr>
            <a:r>
              <a:rPr lang="en-US" sz="1600" b="1" i="0" u="none" strike="noStrike" cap="none" dirty="0">
                <a:solidFill>
                  <a:schemeClr val="accent2"/>
                </a:solidFill>
                <a:latin typeface="Calibri" panose="020F0502020204030204" pitchFamily="34" charset="0"/>
                <a:ea typeface="Calibri"/>
                <a:cs typeface="Calibri" panose="020F0502020204030204" pitchFamily="34" charset="0"/>
                <a:sym typeface="Calibri"/>
              </a:rPr>
              <a:t>Consent </a:t>
            </a:r>
            <a:r>
              <a:rPr lang="en-US" sz="1600" b="0" i="0" u="none" strike="noStrike" cap="none" dirty="0">
                <a:solidFill>
                  <a:schemeClr val="accent2"/>
                </a:solidFill>
                <a:latin typeface="Calibri" panose="020F0502020204030204" pitchFamily="34" charset="0"/>
                <a:ea typeface="Calibri"/>
                <a:cs typeface="Calibri" panose="020F0502020204030204" pitchFamily="34" charset="0"/>
                <a:sym typeface="Calibri"/>
              </a:rPr>
              <a:t>(photo</a:t>
            </a:r>
            <a:r>
              <a:rPr lang="en-US" sz="1600" dirty="0">
                <a:solidFill>
                  <a:schemeClr val="accent2"/>
                </a:solidFill>
                <a:latin typeface="Calibri" panose="020F0502020204030204" pitchFamily="34" charset="0"/>
                <a:cs typeface="Calibri" panose="020F0502020204030204" pitchFamily="34" charset="0"/>
              </a:rPr>
              <a:t>s for the school website) – must be freely given, specific and informed and unambiguous</a:t>
            </a:r>
            <a:endParaRPr lang="en-US" sz="1600" b="0" i="0" u="none" strike="noStrike" cap="none" dirty="0">
              <a:solidFill>
                <a:schemeClr val="accent2"/>
              </a:solidFill>
              <a:latin typeface="Calibri" panose="020F0502020204030204" pitchFamily="34" charset="0"/>
              <a:ea typeface="Calibri"/>
              <a:cs typeface="Calibri" panose="020F0502020204030204" pitchFamily="34" charset="0"/>
              <a:sym typeface="Calibri"/>
            </a:endParaRPr>
          </a:p>
          <a:p>
            <a:pPr marL="311150" indent="-285750">
              <a:spcBef>
                <a:spcPts val="600"/>
              </a:spcBef>
              <a:buClr>
                <a:schemeClr val="tx1"/>
              </a:buClr>
              <a:buSzPts val="2400"/>
              <a:buFont typeface="Arial" panose="020B0604020202020204" pitchFamily="34" charset="0"/>
              <a:buChar char="•"/>
            </a:pPr>
            <a:r>
              <a:rPr lang="en-US" sz="1600" b="1" i="0" u="none" strike="noStrike" cap="none" dirty="0">
                <a:solidFill>
                  <a:schemeClr val="accent2"/>
                </a:solidFill>
                <a:latin typeface="Calibri" panose="020F0502020204030204" pitchFamily="34" charset="0"/>
                <a:ea typeface="Calibri"/>
                <a:cs typeface="Calibri" panose="020F0502020204030204" pitchFamily="34" charset="0"/>
                <a:sym typeface="Calibri"/>
              </a:rPr>
              <a:t>Legal obligation</a:t>
            </a:r>
            <a:endParaRPr lang="en-US" sz="1600" b="0" i="0" u="none" strike="noStrike" cap="none" dirty="0">
              <a:solidFill>
                <a:schemeClr val="accent2"/>
              </a:solidFill>
              <a:latin typeface="Calibri" panose="020F0502020204030204" pitchFamily="34" charset="0"/>
              <a:ea typeface="Calibri"/>
              <a:cs typeface="Calibri" panose="020F0502020204030204" pitchFamily="34" charset="0"/>
              <a:sym typeface="Calibri"/>
            </a:endParaRPr>
          </a:p>
          <a:p>
            <a:pPr marL="311150" indent="-285750">
              <a:spcBef>
                <a:spcPts val="600"/>
              </a:spcBef>
              <a:buClr>
                <a:schemeClr val="tx1"/>
              </a:buClr>
              <a:buSzPts val="2400"/>
              <a:buFont typeface="Arial" panose="020B0604020202020204" pitchFamily="34" charset="0"/>
              <a:buChar char="•"/>
            </a:pPr>
            <a:r>
              <a:rPr lang="en-US" sz="1600" b="1" i="0" u="none" strike="noStrike" cap="none" dirty="0">
                <a:solidFill>
                  <a:schemeClr val="accent2"/>
                </a:solidFill>
                <a:latin typeface="Calibri" panose="020F0502020204030204" pitchFamily="34" charset="0"/>
                <a:ea typeface="Calibri"/>
                <a:cs typeface="Calibri" panose="020F0502020204030204" pitchFamily="34" charset="0"/>
                <a:sym typeface="Calibri"/>
              </a:rPr>
              <a:t>Protecting vital interests </a:t>
            </a:r>
            <a:r>
              <a:rPr lang="en-US" sz="1600" b="0" i="0" u="none" strike="noStrike" cap="none" dirty="0">
                <a:solidFill>
                  <a:schemeClr val="accent2"/>
                </a:solidFill>
                <a:latin typeface="Calibri" panose="020F0502020204030204" pitchFamily="34" charset="0"/>
                <a:ea typeface="Calibri"/>
                <a:cs typeface="Calibri" panose="020F0502020204030204" pitchFamily="34" charset="0"/>
                <a:sym typeface="Calibri"/>
              </a:rPr>
              <a:t>(medical)</a:t>
            </a:r>
          </a:p>
          <a:p>
            <a:pPr marL="311150" indent="-285750">
              <a:spcBef>
                <a:spcPts val="600"/>
              </a:spcBef>
              <a:buClr>
                <a:schemeClr val="tx1"/>
              </a:buClr>
              <a:buSzPts val="2400"/>
              <a:buFont typeface="Arial" panose="020B0604020202020204" pitchFamily="34" charset="0"/>
              <a:buChar char="•"/>
            </a:pPr>
            <a:r>
              <a:rPr lang="en-US" sz="1600" b="1" i="0" u="none" strike="noStrike" cap="none" dirty="0">
                <a:solidFill>
                  <a:schemeClr val="accent2"/>
                </a:solidFill>
                <a:latin typeface="Calibri" panose="020F0502020204030204" pitchFamily="34" charset="0"/>
                <a:ea typeface="Calibri"/>
                <a:cs typeface="Calibri" panose="020F0502020204030204" pitchFamily="34" charset="0"/>
                <a:sym typeface="Calibri"/>
              </a:rPr>
              <a:t>Public interest </a:t>
            </a:r>
            <a:r>
              <a:rPr lang="en-US" sz="1600" b="0" i="0" u="none" strike="noStrike" cap="none" dirty="0">
                <a:solidFill>
                  <a:schemeClr val="accent2"/>
                </a:solidFill>
                <a:latin typeface="Calibri" panose="020F0502020204030204" pitchFamily="34" charset="0"/>
                <a:ea typeface="Calibri"/>
                <a:cs typeface="Calibri" panose="020F0502020204030204" pitchFamily="34" charset="0"/>
                <a:sym typeface="Calibri"/>
              </a:rPr>
              <a:t>(most of your da</a:t>
            </a:r>
            <a:r>
              <a:rPr lang="en-US" sz="1600" dirty="0">
                <a:solidFill>
                  <a:schemeClr val="accent2"/>
                </a:solidFill>
                <a:latin typeface="Calibri" panose="020F0502020204030204" pitchFamily="34" charset="0"/>
                <a:cs typeface="Calibri" panose="020F0502020204030204" pitchFamily="34" charset="0"/>
              </a:rPr>
              <a:t>ta)</a:t>
            </a:r>
            <a:endParaRPr lang="en-US" sz="1600" dirty="0">
              <a:solidFill>
                <a:schemeClr val="accent2"/>
              </a:solidFill>
              <a:latin typeface="Calibri" panose="020F0502020204030204" pitchFamily="34" charset="0"/>
              <a:cs typeface="Calibri" panose="020F0502020204030204" pitchFamily="34" charset="0"/>
              <a:sym typeface="Calibri"/>
            </a:endParaRPr>
          </a:p>
          <a:p>
            <a:pPr marL="311150" indent="-285750">
              <a:spcBef>
                <a:spcPts val="600"/>
              </a:spcBef>
              <a:buClr>
                <a:schemeClr val="tx1"/>
              </a:buClr>
              <a:buSzPts val="2400"/>
              <a:buFont typeface="Arial" panose="020B0604020202020204" pitchFamily="34" charset="0"/>
              <a:buChar char="•"/>
            </a:pPr>
            <a:r>
              <a:rPr lang="en-US" sz="1600" b="1" i="0" u="none" strike="noStrike" cap="none" dirty="0">
                <a:solidFill>
                  <a:schemeClr val="accent2"/>
                </a:solidFill>
                <a:latin typeface="Calibri" panose="020F0502020204030204" pitchFamily="34" charset="0"/>
                <a:ea typeface="Calibri"/>
                <a:cs typeface="Calibri" panose="020F0502020204030204" pitchFamily="34" charset="0"/>
                <a:sym typeface="Calibri"/>
              </a:rPr>
              <a:t>Legitimate interest </a:t>
            </a:r>
            <a:r>
              <a:rPr lang="en-US" sz="1600" b="0" i="0" u="none" strike="noStrike" cap="none" dirty="0">
                <a:solidFill>
                  <a:schemeClr val="accent2"/>
                </a:solidFill>
                <a:latin typeface="Calibri" panose="020F0502020204030204" pitchFamily="34" charset="0"/>
                <a:ea typeface="Calibri"/>
                <a:cs typeface="Calibri" panose="020F0502020204030204" pitchFamily="34" charset="0"/>
                <a:sym typeface="Calibri"/>
              </a:rPr>
              <a:t>(Not </a:t>
            </a:r>
            <a:r>
              <a:rPr lang="en-US" sz="1600" dirty="0">
                <a:solidFill>
                  <a:schemeClr val="accent2"/>
                </a:solidFill>
                <a:latin typeface="Calibri" panose="020F0502020204030204" pitchFamily="34" charset="0"/>
                <a:cs typeface="Calibri" panose="020F0502020204030204" pitchFamily="34" charset="0"/>
              </a:rPr>
              <a:t>n</a:t>
            </a:r>
            <a:r>
              <a:rPr lang="en-US" sz="1600" b="0" i="0" u="none" strike="noStrike" cap="none" dirty="0">
                <a:solidFill>
                  <a:schemeClr val="accent2"/>
                </a:solidFill>
                <a:latin typeface="Calibri" panose="020F0502020204030204" pitchFamily="34" charset="0"/>
                <a:ea typeface="Calibri"/>
                <a:cs typeface="Calibri" panose="020F0502020204030204" pitchFamily="34" charset="0"/>
                <a:sym typeface="Calibri"/>
              </a:rPr>
              <a:t>ormally p</a:t>
            </a:r>
            <a:r>
              <a:rPr lang="en-US" sz="1600" dirty="0">
                <a:solidFill>
                  <a:schemeClr val="accent2"/>
                </a:solidFill>
                <a:latin typeface="Calibri" panose="020F0502020204030204" pitchFamily="34" charset="0"/>
                <a:cs typeface="Calibri" panose="020F0502020204030204" pitchFamily="34" charset="0"/>
              </a:rPr>
              <a:t>ublic authorities. Must have a legitimate reason other than performing their tasks as a public authority)</a:t>
            </a:r>
          </a:p>
        </p:txBody>
      </p:sp>
      <p:sp>
        <p:nvSpPr>
          <p:cNvPr id="164" name="Shape 164"/>
          <p:cNvSpPr txBox="1"/>
          <p:nvPr/>
        </p:nvSpPr>
        <p:spPr>
          <a:xfrm>
            <a:off x="5122015" y="1499079"/>
            <a:ext cx="3303861" cy="2942292"/>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4000"/>
              <a:buFont typeface="Calibri"/>
              <a:buNone/>
            </a:pPr>
            <a:r>
              <a:rPr lang="en-US" sz="4000" b="1" i="0" u="none" strike="noStrike" cap="none" dirty="0">
                <a:solidFill>
                  <a:schemeClr val="accent2"/>
                </a:solidFill>
                <a:latin typeface="Calibri"/>
                <a:ea typeface="Calibri"/>
                <a:cs typeface="Calibri"/>
                <a:sym typeface="Calibri"/>
              </a:rPr>
              <a:t>6 Lawful Basis</a:t>
            </a:r>
            <a:endParaRPr sz="1400" b="1" i="0" u="none" strike="noStrike" cap="none" dirty="0">
              <a:solidFill>
                <a:schemeClr val="accent2"/>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4000"/>
              <a:buFont typeface="Calibri"/>
              <a:buNone/>
            </a:pPr>
            <a:r>
              <a:rPr lang="en-US" sz="4000" b="1" i="0" u="none" strike="noStrike" cap="none" dirty="0">
                <a:solidFill>
                  <a:schemeClr val="accent2"/>
                </a:solidFill>
                <a:latin typeface="Calibri"/>
                <a:ea typeface="Calibri"/>
                <a:cs typeface="Calibri"/>
                <a:sym typeface="Calibri"/>
              </a:rPr>
              <a:t>for Data Processing</a:t>
            </a:r>
            <a:endParaRPr sz="4000" b="1" i="0" u="none" strike="noStrike" cap="none" dirty="0">
              <a:solidFill>
                <a:schemeClr val="accent2"/>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pic>
        <p:nvPicPr>
          <p:cNvPr id="178" name="Shape 178"/>
          <p:cNvPicPr preferRelativeResize="0"/>
          <p:nvPr/>
        </p:nvPicPr>
        <p:blipFill rotWithShape="1">
          <a:blip r:embed="rId3">
            <a:alphaModFix/>
          </a:blip>
          <a:srcRect/>
          <a:stretch/>
        </p:blipFill>
        <p:spPr>
          <a:xfrm>
            <a:off x="4685190" y="1031051"/>
            <a:ext cx="3867150" cy="3363912"/>
          </a:xfrm>
          <a:prstGeom prst="rect">
            <a:avLst/>
          </a:prstGeom>
          <a:noFill/>
          <a:ln>
            <a:noFill/>
          </a:ln>
        </p:spPr>
      </p:pic>
      <p:sp>
        <p:nvSpPr>
          <p:cNvPr id="179" name="Shape 179"/>
          <p:cNvSpPr txBox="1">
            <a:spLocks noGrp="1"/>
          </p:cNvSpPr>
          <p:nvPr>
            <p:ph type="title"/>
          </p:nvPr>
        </p:nvSpPr>
        <p:spPr>
          <a:xfrm>
            <a:off x="171264" y="185426"/>
            <a:ext cx="6447501" cy="9906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dk1"/>
              </a:buClr>
              <a:buSzPts val="4400"/>
              <a:buFont typeface="Calibri"/>
              <a:buNone/>
            </a:pPr>
            <a:r>
              <a:rPr lang="en-US" sz="2800" b="1" i="0" u="none" strike="noStrike" cap="none" dirty="0">
                <a:solidFill>
                  <a:schemeClr val="accent2"/>
                </a:solidFill>
                <a:latin typeface="Calibri"/>
                <a:ea typeface="Calibri"/>
                <a:cs typeface="Calibri"/>
                <a:sym typeface="Calibri"/>
              </a:rPr>
              <a:t>Preparing for Compliance</a:t>
            </a:r>
            <a:endParaRPr sz="2800" b="0" i="0" u="none" strike="noStrike" cap="none" dirty="0">
              <a:solidFill>
                <a:schemeClr val="accent2"/>
              </a:solidFill>
              <a:latin typeface="Calibri"/>
              <a:ea typeface="Calibri"/>
              <a:cs typeface="Calibri"/>
              <a:sym typeface="Calibri"/>
            </a:endParaRPr>
          </a:p>
        </p:txBody>
      </p:sp>
      <p:sp>
        <p:nvSpPr>
          <p:cNvPr id="181" name="Shape 181"/>
          <p:cNvSpPr txBox="1"/>
          <p:nvPr/>
        </p:nvSpPr>
        <p:spPr>
          <a:xfrm>
            <a:off x="4940234" y="1694587"/>
            <a:ext cx="3357062" cy="1754326"/>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dirty="0">
                <a:solidFill>
                  <a:schemeClr val="accent2"/>
                </a:solidFill>
                <a:latin typeface="Arial"/>
                <a:ea typeface="Arial"/>
                <a:cs typeface="Arial"/>
                <a:sym typeface="Arial"/>
              </a:rPr>
              <a:t>The</a:t>
            </a:r>
            <a:endParaRPr sz="1400" b="0" i="0" u="none" strike="noStrike" cap="none" dirty="0">
              <a:solidFill>
                <a:schemeClr val="accent2"/>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3600"/>
              <a:buFont typeface="Arial"/>
              <a:buNone/>
            </a:pPr>
            <a:r>
              <a:rPr lang="en-US" sz="3600" b="0" i="0" u="none" strike="noStrike" cap="none" dirty="0">
                <a:solidFill>
                  <a:schemeClr val="accent2"/>
                </a:solidFill>
                <a:latin typeface="Arial"/>
                <a:ea typeface="Arial"/>
                <a:cs typeface="Arial"/>
                <a:sym typeface="Arial"/>
              </a:rPr>
              <a:t>Rights of Data Subjects</a:t>
            </a:r>
            <a:endParaRPr sz="3600" b="0" i="0" u="none" strike="noStrike" cap="none" dirty="0">
              <a:solidFill>
                <a:schemeClr val="accent2"/>
              </a:solidFill>
              <a:latin typeface="Arial"/>
              <a:ea typeface="Arial"/>
              <a:cs typeface="Arial"/>
              <a:sym typeface="Arial"/>
            </a:endParaRPr>
          </a:p>
        </p:txBody>
      </p:sp>
      <p:sp>
        <p:nvSpPr>
          <p:cNvPr id="2" name="TextBox 1">
            <a:extLst>
              <a:ext uri="{FF2B5EF4-FFF2-40B4-BE49-F238E27FC236}">
                <a16:creationId xmlns:a16="http://schemas.microsoft.com/office/drawing/2014/main" id="{8A986B52-C6C3-425B-89AB-8F4D8938BA6D}"/>
              </a:ext>
            </a:extLst>
          </p:cNvPr>
          <p:cNvSpPr txBox="1"/>
          <p:nvPr/>
        </p:nvSpPr>
        <p:spPr>
          <a:xfrm>
            <a:off x="272215" y="943586"/>
            <a:ext cx="4228028" cy="3785652"/>
          </a:xfrm>
          <a:prstGeom prst="rect">
            <a:avLst/>
          </a:prstGeom>
          <a:noFill/>
        </p:spPr>
        <p:txBody>
          <a:bodyPr wrap="square" rtlCol="0">
            <a:spAutoFit/>
          </a:bodyPr>
          <a:lstStyle/>
          <a:p>
            <a:pPr marL="342900" indent="-342900">
              <a:buClr>
                <a:schemeClr val="accent2"/>
              </a:buClr>
              <a:buFont typeface="+mj-lt"/>
              <a:buAutoNum type="arabicPeriod"/>
            </a:pPr>
            <a:r>
              <a:rPr lang="en-US" sz="1600" i="0" u="none" strike="noStrike" cap="none" dirty="0">
                <a:solidFill>
                  <a:schemeClr val="accent2"/>
                </a:solidFill>
                <a:latin typeface="Calibri" panose="020F0502020204030204" pitchFamily="34" charset="0"/>
                <a:cs typeface="Calibri" panose="020F0502020204030204" pitchFamily="34" charset="0"/>
              </a:rPr>
              <a:t>Right to be </a:t>
            </a:r>
            <a:r>
              <a:rPr lang="en-US" sz="1600" b="1" i="0" u="none" strike="noStrike" cap="none" dirty="0">
                <a:solidFill>
                  <a:schemeClr val="accent2"/>
                </a:solidFill>
                <a:latin typeface="Calibri" panose="020F0502020204030204" pitchFamily="34" charset="0"/>
                <a:cs typeface="Calibri" panose="020F0502020204030204" pitchFamily="34" charset="0"/>
              </a:rPr>
              <a:t>informed</a:t>
            </a:r>
            <a:r>
              <a:rPr lang="en-US" sz="1600" i="0" u="none" strike="noStrike" cap="none" dirty="0">
                <a:solidFill>
                  <a:schemeClr val="accent2"/>
                </a:solidFill>
                <a:latin typeface="Calibri" panose="020F0502020204030204" pitchFamily="34" charset="0"/>
                <a:cs typeface="Calibri" panose="020F0502020204030204" pitchFamily="34" charset="0"/>
              </a:rPr>
              <a:t> (privacy statement)</a:t>
            </a:r>
          </a:p>
          <a:p>
            <a:pPr marL="342900" indent="-342900">
              <a:buClr>
                <a:schemeClr val="accent2"/>
              </a:buClr>
              <a:buFont typeface="+mj-lt"/>
              <a:buAutoNum type="arabicPeriod"/>
            </a:pPr>
            <a:r>
              <a:rPr lang="en-US" sz="1600" i="0" u="none" strike="noStrike" cap="none" dirty="0">
                <a:solidFill>
                  <a:schemeClr val="accent2"/>
                </a:solidFill>
                <a:latin typeface="Calibri" panose="020F0502020204030204" pitchFamily="34" charset="0"/>
                <a:cs typeface="Calibri" panose="020F0502020204030204" pitchFamily="34" charset="0"/>
              </a:rPr>
              <a:t>Right of </a:t>
            </a:r>
            <a:r>
              <a:rPr lang="en-US" sz="1600" b="1" i="0" u="none" strike="noStrike" cap="none" dirty="0">
                <a:solidFill>
                  <a:schemeClr val="accent2"/>
                </a:solidFill>
                <a:latin typeface="Calibri" panose="020F0502020204030204" pitchFamily="34" charset="0"/>
                <a:cs typeface="Calibri" panose="020F0502020204030204" pitchFamily="34" charset="0"/>
              </a:rPr>
              <a:t>access</a:t>
            </a:r>
            <a:r>
              <a:rPr lang="en-US" sz="1600" i="0" u="none" strike="noStrike" cap="none" dirty="0">
                <a:solidFill>
                  <a:schemeClr val="accent2"/>
                </a:solidFill>
                <a:latin typeface="Calibri" panose="020F0502020204030204" pitchFamily="34" charset="0"/>
                <a:cs typeface="Calibri" panose="020F0502020204030204" pitchFamily="34" charset="0"/>
              </a:rPr>
              <a:t> (SAR)</a:t>
            </a:r>
          </a:p>
          <a:p>
            <a:pPr marL="342900" indent="-342900">
              <a:buClr>
                <a:schemeClr val="accent2"/>
              </a:buClr>
              <a:buFont typeface="+mj-lt"/>
              <a:buAutoNum type="arabicPeriod"/>
            </a:pPr>
            <a:r>
              <a:rPr lang="en-US" sz="1600" i="0" u="none" strike="noStrike" cap="none" dirty="0">
                <a:solidFill>
                  <a:schemeClr val="accent2"/>
                </a:solidFill>
                <a:latin typeface="Calibri" panose="020F0502020204030204" pitchFamily="34" charset="0"/>
                <a:ea typeface="Calibri"/>
                <a:cs typeface="Calibri" panose="020F0502020204030204" pitchFamily="34" charset="0"/>
                <a:sym typeface="Calibri"/>
              </a:rPr>
              <a:t>Right of </a:t>
            </a:r>
            <a:r>
              <a:rPr lang="en-US" sz="1600" b="1" i="0" u="none" strike="noStrike" cap="none" dirty="0">
                <a:solidFill>
                  <a:schemeClr val="accent2"/>
                </a:solidFill>
                <a:latin typeface="Calibri" panose="020F0502020204030204" pitchFamily="34" charset="0"/>
                <a:ea typeface="Calibri"/>
                <a:cs typeface="Calibri" panose="020F0502020204030204" pitchFamily="34" charset="0"/>
                <a:sym typeface="Calibri"/>
              </a:rPr>
              <a:t>rectification</a:t>
            </a:r>
            <a:r>
              <a:rPr lang="en-US" sz="1600" i="0" u="none" strike="noStrike" cap="none" dirty="0">
                <a:solidFill>
                  <a:schemeClr val="accent2"/>
                </a:solidFill>
                <a:latin typeface="Calibri" panose="020F0502020204030204" pitchFamily="34" charset="0"/>
                <a:ea typeface="Calibri"/>
                <a:cs typeface="Calibri" panose="020F0502020204030204" pitchFamily="34" charset="0"/>
                <a:sym typeface="Calibri"/>
              </a:rPr>
              <a:t> (i.e. sent to third party)</a:t>
            </a:r>
          </a:p>
          <a:p>
            <a:pPr marL="342900" indent="-342900">
              <a:buClr>
                <a:schemeClr val="accent2"/>
              </a:buClr>
              <a:buFont typeface="+mj-lt"/>
              <a:buAutoNum type="arabicPeriod"/>
            </a:pPr>
            <a:r>
              <a:rPr lang="en-US" sz="1600" i="0" u="none" strike="noStrike" cap="none" dirty="0">
                <a:solidFill>
                  <a:schemeClr val="accent2"/>
                </a:solidFill>
                <a:latin typeface="Calibri" panose="020F0502020204030204" pitchFamily="34" charset="0"/>
                <a:cs typeface="Calibri" panose="020F0502020204030204" pitchFamily="34" charset="0"/>
              </a:rPr>
              <a:t>Right of </a:t>
            </a:r>
            <a:r>
              <a:rPr lang="en-US" sz="1600" b="1" i="0" u="none" strike="noStrike" cap="none" dirty="0">
                <a:solidFill>
                  <a:schemeClr val="accent2"/>
                </a:solidFill>
                <a:latin typeface="Calibri" panose="020F0502020204030204" pitchFamily="34" charset="0"/>
                <a:cs typeface="Calibri" panose="020F0502020204030204" pitchFamily="34" charset="0"/>
              </a:rPr>
              <a:t>erasure</a:t>
            </a:r>
            <a:r>
              <a:rPr lang="en-US" sz="1600" i="0" u="none" strike="noStrike" cap="none" dirty="0">
                <a:solidFill>
                  <a:schemeClr val="accent2"/>
                </a:solidFill>
                <a:latin typeface="Calibri" panose="020F0502020204030204" pitchFamily="34" charset="0"/>
                <a:cs typeface="Calibri" panose="020F0502020204030204" pitchFamily="34" charset="0"/>
              </a:rPr>
              <a:t> (does not apply when processing for a public task)</a:t>
            </a:r>
          </a:p>
          <a:p>
            <a:pPr marL="342900" indent="-342900">
              <a:buClr>
                <a:schemeClr val="accent2"/>
              </a:buClr>
              <a:buFont typeface="+mj-lt"/>
              <a:buAutoNum type="arabicPeriod"/>
            </a:pPr>
            <a:r>
              <a:rPr lang="en-US" sz="1600" i="0" u="none" strike="noStrike" cap="none" dirty="0">
                <a:solidFill>
                  <a:schemeClr val="accent2"/>
                </a:solidFill>
                <a:latin typeface="Calibri" panose="020F0502020204030204" pitchFamily="34" charset="0"/>
                <a:ea typeface="Calibri"/>
                <a:cs typeface="Calibri" panose="020F0502020204030204" pitchFamily="34" charset="0"/>
                <a:sym typeface="Calibri"/>
              </a:rPr>
              <a:t>Right to </a:t>
            </a:r>
            <a:r>
              <a:rPr lang="en-US" sz="1600" b="1" i="0" u="none" strike="noStrike" cap="none" dirty="0">
                <a:solidFill>
                  <a:schemeClr val="accent2"/>
                </a:solidFill>
                <a:latin typeface="Calibri" panose="020F0502020204030204" pitchFamily="34" charset="0"/>
                <a:ea typeface="Calibri"/>
                <a:cs typeface="Calibri" panose="020F0502020204030204" pitchFamily="34" charset="0"/>
                <a:sym typeface="Calibri"/>
              </a:rPr>
              <a:t>restrict processing </a:t>
            </a:r>
            <a:r>
              <a:rPr lang="en-US" sz="1600" i="0" u="none" strike="noStrike" cap="none" dirty="0">
                <a:solidFill>
                  <a:schemeClr val="accent2"/>
                </a:solidFill>
                <a:latin typeface="Calibri" panose="020F0502020204030204" pitchFamily="34" charset="0"/>
                <a:ea typeface="Calibri"/>
                <a:cs typeface="Calibri" panose="020F0502020204030204" pitchFamily="34" charset="0"/>
                <a:sym typeface="Calibri"/>
              </a:rPr>
              <a:t>(i.e. the data subject has contested accuracy)</a:t>
            </a:r>
          </a:p>
          <a:p>
            <a:pPr marL="342900" indent="-342900">
              <a:buClr>
                <a:schemeClr val="accent2"/>
              </a:buClr>
              <a:buFont typeface="+mj-lt"/>
              <a:buAutoNum type="arabicPeriod"/>
            </a:pPr>
            <a:r>
              <a:rPr lang="en-US" sz="1600" i="0" u="none" strike="noStrike" cap="none" dirty="0">
                <a:solidFill>
                  <a:schemeClr val="accent2"/>
                </a:solidFill>
                <a:latin typeface="Calibri" panose="020F0502020204030204" pitchFamily="34" charset="0"/>
                <a:ea typeface="Calibri"/>
                <a:cs typeface="Calibri" panose="020F0502020204030204" pitchFamily="34" charset="0"/>
                <a:sym typeface="Calibri"/>
              </a:rPr>
              <a:t>Right to </a:t>
            </a:r>
            <a:r>
              <a:rPr lang="en-US" sz="1600" b="1" i="0" u="none" strike="noStrike" cap="none" dirty="0">
                <a:solidFill>
                  <a:schemeClr val="accent2"/>
                </a:solidFill>
                <a:latin typeface="Calibri" panose="020F0502020204030204" pitchFamily="34" charset="0"/>
                <a:ea typeface="Calibri"/>
                <a:cs typeface="Calibri" panose="020F0502020204030204" pitchFamily="34" charset="0"/>
                <a:sym typeface="Calibri"/>
              </a:rPr>
              <a:t>object</a:t>
            </a:r>
            <a:r>
              <a:rPr lang="en-US" sz="1600" i="0" u="none" strike="noStrike" cap="none" dirty="0">
                <a:solidFill>
                  <a:schemeClr val="accent2"/>
                </a:solidFill>
                <a:latin typeface="Calibri" panose="020F0502020204030204" pitchFamily="34" charset="0"/>
                <a:ea typeface="Calibri"/>
                <a:cs typeface="Calibri" panose="020F0502020204030204" pitchFamily="34" charset="0"/>
                <a:sym typeface="Calibri"/>
              </a:rPr>
              <a:t> (i.e. consent)</a:t>
            </a:r>
          </a:p>
          <a:p>
            <a:pPr marL="342900" indent="-342900">
              <a:buClr>
                <a:schemeClr val="accent2"/>
              </a:buClr>
              <a:buFont typeface="+mj-lt"/>
              <a:buAutoNum type="arabicPeriod"/>
            </a:pPr>
            <a:r>
              <a:rPr lang="en-US" sz="1600" i="0" u="none" strike="noStrike" cap="none" dirty="0">
                <a:solidFill>
                  <a:schemeClr val="accent2"/>
                </a:solidFill>
                <a:latin typeface="Calibri" panose="020F0502020204030204" pitchFamily="34" charset="0"/>
                <a:ea typeface="Calibri"/>
                <a:cs typeface="Calibri" panose="020F0502020204030204" pitchFamily="34" charset="0"/>
                <a:sym typeface="Calibri"/>
              </a:rPr>
              <a:t>Right to </a:t>
            </a:r>
            <a:r>
              <a:rPr lang="en-US" sz="1600" b="1" i="0" u="none" strike="noStrike" cap="none" dirty="0">
                <a:solidFill>
                  <a:schemeClr val="accent2"/>
                </a:solidFill>
                <a:latin typeface="Calibri" panose="020F0502020204030204" pitchFamily="34" charset="0"/>
                <a:ea typeface="Calibri"/>
                <a:cs typeface="Calibri" panose="020F0502020204030204" pitchFamily="34" charset="0"/>
                <a:sym typeface="Calibri"/>
              </a:rPr>
              <a:t>data portability </a:t>
            </a:r>
            <a:r>
              <a:rPr lang="en-US" sz="1600" i="0" u="none" strike="noStrike" cap="none" dirty="0">
                <a:solidFill>
                  <a:schemeClr val="accent2"/>
                </a:solidFill>
                <a:latin typeface="Calibri" panose="020F0502020204030204" pitchFamily="34" charset="0"/>
                <a:ea typeface="Calibri"/>
                <a:cs typeface="Calibri" panose="020F0502020204030204" pitchFamily="34" charset="0"/>
                <a:sym typeface="Calibri"/>
              </a:rPr>
              <a:t>(i.e. </a:t>
            </a:r>
            <a:r>
              <a:rPr lang="en-US" sz="1600" dirty="0">
                <a:solidFill>
                  <a:schemeClr val="accent2"/>
                </a:solidFill>
                <a:latin typeface="Calibri" panose="020F0502020204030204" pitchFamily="34" charset="0"/>
                <a:cs typeface="Calibri" panose="020F0502020204030204" pitchFamily="34" charset="0"/>
              </a:rPr>
              <a:t>move, copy or transfer personal data safely, securely and easily from one IT environment to another)</a:t>
            </a:r>
          </a:p>
          <a:p>
            <a:pPr marL="342900" indent="-342900">
              <a:buClr>
                <a:schemeClr val="accent2"/>
              </a:buClr>
              <a:buFont typeface="+mj-lt"/>
              <a:buAutoNum type="arabicPeriod"/>
            </a:pPr>
            <a:r>
              <a:rPr lang="en-US" sz="1600" i="0" u="none" strike="noStrike" cap="none" dirty="0">
                <a:solidFill>
                  <a:schemeClr val="accent2"/>
                </a:solidFill>
                <a:latin typeface="Calibri" panose="020F0502020204030204" pitchFamily="34" charset="0"/>
                <a:ea typeface="Calibri"/>
                <a:cs typeface="Calibri" panose="020F0502020204030204" pitchFamily="34" charset="0"/>
                <a:sym typeface="Calibri"/>
              </a:rPr>
              <a:t>Rights in relation to </a:t>
            </a:r>
            <a:r>
              <a:rPr lang="en-US" sz="1600" b="1" i="0" u="none" strike="noStrike" cap="none" dirty="0">
                <a:solidFill>
                  <a:schemeClr val="accent2"/>
                </a:solidFill>
                <a:latin typeface="Calibri" panose="020F0502020204030204" pitchFamily="34" charset="0"/>
                <a:ea typeface="Calibri"/>
                <a:cs typeface="Calibri" panose="020F0502020204030204" pitchFamily="34" charset="0"/>
                <a:sym typeface="Calibri"/>
              </a:rPr>
              <a:t>automated decision making</a:t>
            </a:r>
            <a:r>
              <a:rPr lang="en-US" sz="1600" i="0" u="none" strike="noStrike" cap="none" dirty="0">
                <a:solidFill>
                  <a:schemeClr val="accent2"/>
                </a:solidFill>
                <a:latin typeface="Calibri" panose="020F0502020204030204" pitchFamily="34" charset="0"/>
                <a:ea typeface="Calibri"/>
                <a:cs typeface="Calibri" panose="020F0502020204030204" pitchFamily="34" charset="0"/>
                <a:sym typeface="Calibri"/>
              </a:rPr>
              <a:t> (</a:t>
            </a:r>
            <a:r>
              <a:rPr lang="en-US" sz="1600" dirty="0">
                <a:solidFill>
                  <a:schemeClr val="accent2"/>
                </a:solidFill>
                <a:latin typeface="Calibri" panose="020F0502020204030204" pitchFamily="34" charset="0"/>
                <a:cs typeface="Calibri" panose="020F0502020204030204" pitchFamily="34" charset="0"/>
              </a:rPr>
              <a:t>i.e. computer algorithms, based upon existing data, without any human involvement</a:t>
            </a:r>
            <a:r>
              <a:rPr lang="en-US" sz="1600" i="0" u="none" strike="noStrike" cap="none" dirty="0">
                <a:solidFill>
                  <a:schemeClr val="accent2"/>
                </a:solidFill>
                <a:latin typeface="Calibri" panose="020F0502020204030204" pitchFamily="34" charset="0"/>
                <a:ea typeface="Calibri"/>
                <a:cs typeface="Calibri" panose="020F0502020204030204" pitchFamily="34" charset="0"/>
                <a:sym typeface="Calibri"/>
              </a:rPr>
              <a: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pic>
        <p:nvPicPr>
          <p:cNvPr id="195" name="Shape 195"/>
          <p:cNvPicPr preferRelativeResize="0"/>
          <p:nvPr/>
        </p:nvPicPr>
        <p:blipFill rotWithShape="1">
          <a:blip r:embed="rId3">
            <a:alphaModFix/>
          </a:blip>
          <a:srcRect/>
          <a:stretch/>
        </p:blipFill>
        <p:spPr>
          <a:xfrm>
            <a:off x="1" y="0"/>
            <a:ext cx="3288344" cy="3495759"/>
          </a:xfrm>
          <a:prstGeom prst="rect">
            <a:avLst/>
          </a:prstGeom>
          <a:noFill/>
          <a:ln>
            <a:noFill/>
          </a:ln>
        </p:spPr>
      </p:pic>
      <p:sp>
        <p:nvSpPr>
          <p:cNvPr id="196" name="Shape 196"/>
          <p:cNvSpPr/>
          <p:nvPr/>
        </p:nvSpPr>
        <p:spPr>
          <a:xfrm>
            <a:off x="2137883" y="1849570"/>
            <a:ext cx="6182315" cy="3031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r>
              <a:rPr lang="en-US" sz="2800" b="0" i="0" u="none" strike="noStrike" cap="none" dirty="0">
                <a:solidFill>
                  <a:schemeClr val="accent2"/>
                </a:solidFill>
                <a:latin typeface="Calibri"/>
                <a:ea typeface="Calibri"/>
                <a:cs typeface="Calibri"/>
                <a:sym typeface="Calibri"/>
              </a:rPr>
              <a:t>How do you expect others to look after your data?</a:t>
            </a:r>
          </a:p>
          <a:p>
            <a:pPr marL="0" marR="0" lvl="0" indent="0" algn="l" rtl="0">
              <a:lnSpc>
                <a:spcPct val="100000"/>
              </a:lnSpc>
              <a:spcBef>
                <a:spcPts val="0"/>
              </a:spcBef>
              <a:spcAft>
                <a:spcPts val="0"/>
              </a:spcAft>
              <a:buClr>
                <a:srgbClr val="000000"/>
              </a:buClr>
              <a:buSzPts val="1800"/>
              <a:buFont typeface="Calibri"/>
              <a:buNone/>
            </a:pPr>
            <a:endParaRPr lang="en-US" sz="2800" dirty="0">
              <a:solidFill>
                <a:schemeClr val="accent2"/>
              </a:solidFill>
              <a:latin typeface="Calibri"/>
              <a:cs typeface="Calibri"/>
              <a:sym typeface="Calibri"/>
            </a:endParaRPr>
          </a:p>
          <a:p>
            <a:pPr marL="0" marR="0" lvl="0" indent="0" algn="l" rtl="0">
              <a:lnSpc>
                <a:spcPct val="100000"/>
              </a:lnSpc>
              <a:spcBef>
                <a:spcPts val="0"/>
              </a:spcBef>
              <a:spcAft>
                <a:spcPts val="0"/>
              </a:spcAft>
              <a:buClr>
                <a:srgbClr val="000000"/>
              </a:buClr>
              <a:buSzPts val="1800"/>
              <a:buFont typeface="Calibri"/>
              <a:buNone/>
            </a:pPr>
            <a:r>
              <a:rPr lang="en-US" sz="2800" b="0" i="0" u="none" strike="noStrike" cap="none" dirty="0">
                <a:solidFill>
                  <a:schemeClr val="accent2"/>
                </a:solidFill>
                <a:latin typeface="Calibri"/>
                <a:ea typeface="Arial"/>
                <a:cs typeface="Calibri"/>
                <a:sym typeface="Calibri"/>
              </a:rPr>
              <a:t>What would you do if you had a serious data  breach? </a:t>
            </a:r>
            <a:endParaRPr lang="en-US" sz="2800" b="0" i="0" u="none" strike="noStrike" cap="none" dirty="0">
              <a:solidFill>
                <a:schemeClr val="accent2"/>
              </a:solidFill>
              <a:latin typeface="Arial"/>
              <a:ea typeface="Arial"/>
              <a:cs typeface="Arial"/>
              <a:sym typeface="Arial"/>
            </a:endParaRPr>
          </a:p>
          <a:p>
            <a:pPr marL="342900" marR="0" lvl="0" indent="-342900" algn="l" rtl="0">
              <a:lnSpc>
                <a:spcPct val="100000"/>
              </a:lnSpc>
              <a:spcBef>
                <a:spcPts val="0"/>
              </a:spcBef>
              <a:spcAft>
                <a:spcPts val="0"/>
              </a:spcAft>
              <a:buClr>
                <a:srgbClr val="000000"/>
              </a:buClr>
              <a:buSzPts val="1800"/>
              <a:buFont typeface="Arial"/>
              <a:buNone/>
            </a:pPr>
            <a:endParaRPr sz="3000" b="0" i="0" u="none" strike="noStrike" cap="none" dirty="0">
              <a:solidFill>
                <a:srgbClr val="000000"/>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8" name="Picture 6" descr="See the source image">
            <a:extLst>
              <a:ext uri="{FF2B5EF4-FFF2-40B4-BE49-F238E27FC236}">
                <a16:creationId xmlns:a16="http://schemas.microsoft.com/office/drawing/2014/main" id="{3316C810-C7C5-48A8-B073-0BF19D85C4C8}"/>
              </a:ext>
            </a:extLst>
          </p:cNvPr>
          <p:cNvPicPr>
            <a:picLocks noChangeAspect="1" noChangeArrowheads="1"/>
          </p:cNvPicPr>
          <p:nvPr/>
        </p:nvPicPr>
        <p:blipFill>
          <a:blip r:embed="rId3">
            <a:duotone>
              <a:schemeClr val="bg2">
                <a:shade val="45000"/>
                <a:satMod val="135000"/>
              </a:schemeClr>
              <a:prstClr val="white"/>
            </a:duotone>
            <a:extLst>
              <a:ext uri="{BEBA8EAE-BF5A-486C-A8C5-ECC9F3942E4B}">
                <a14:imgProps xmlns:a14="http://schemas.microsoft.com/office/drawing/2010/main">
                  <a14:imgLayer r:embed="rId4">
                    <a14:imgEffect>
                      <a14:sharpenSoften amount="-33000"/>
                    </a14:imgEffect>
                    <a14:imgEffect>
                      <a14:colorTemperature colorTemp="4004"/>
                    </a14:imgEffect>
                    <a14:imgEffect>
                      <a14:saturation sat="0"/>
                    </a14:imgEffect>
                    <a14:imgEffect>
                      <a14:brightnessContrast bright="49000" contrast="-31000"/>
                    </a14:imgEffect>
                  </a14:imgLayer>
                </a14:imgProps>
              </a:ext>
              <a:ext uri="{28A0092B-C50C-407E-A947-70E740481C1C}">
                <a14:useLocalDpi xmlns:a14="http://schemas.microsoft.com/office/drawing/2010/main" val="0"/>
              </a:ext>
            </a:extLst>
          </a:blip>
          <a:srcRect/>
          <a:stretch>
            <a:fillRect/>
          </a:stretch>
        </p:blipFill>
        <p:spPr bwMode="auto">
          <a:xfrm>
            <a:off x="604299" y="359424"/>
            <a:ext cx="6400800" cy="380706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ACAD2E2-6265-4BB4-9AA0-A28C3FEE1AEC}"/>
              </a:ext>
            </a:extLst>
          </p:cNvPr>
          <p:cNvSpPr>
            <a:spLocks noGrp="1"/>
          </p:cNvSpPr>
          <p:nvPr>
            <p:ph type="title"/>
          </p:nvPr>
        </p:nvSpPr>
        <p:spPr>
          <a:xfrm>
            <a:off x="508002" y="449516"/>
            <a:ext cx="6565829" cy="4400780"/>
          </a:xfrm>
        </p:spPr>
        <p:txBody>
          <a:bodyPr>
            <a:normAutofit/>
          </a:bodyPr>
          <a:lstStyle/>
          <a:p>
            <a:pPr algn="ctr"/>
            <a:r>
              <a:rPr lang="en-US" sz="2800" b="1" dirty="0">
                <a:solidFill>
                  <a:srgbClr val="0070C0"/>
                </a:solidFill>
                <a:latin typeface="Calibri" panose="020F0502020204030204" pitchFamily="34" charset="0"/>
                <a:cs typeface="Calibri" panose="020F0502020204030204" pitchFamily="34" charset="0"/>
              </a:rPr>
              <a:t>Employees and data users are typically the most common cause of data breaches.</a:t>
            </a:r>
            <a:br>
              <a:rPr lang="en-US" sz="2800" b="1" dirty="0">
                <a:solidFill>
                  <a:srgbClr val="0070C0"/>
                </a:solidFill>
                <a:latin typeface="Calibri" panose="020F0502020204030204" pitchFamily="34" charset="0"/>
                <a:cs typeface="Calibri" panose="020F0502020204030204" pitchFamily="34" charset="0"/>
              </a:rPr>
            </a:br>
            <a:br>
              <a:rPr lang="en-US" sz="2800" b="1" dirty="0">
                <a:solidFill>
                  <a:srgbClr val="0070C0"/>
                </a:solidFill>
                <a:latin typeface="Calibri" panose="020F0502020204030204" pitchFamily="34" charset="0"/>
                <a:cs typeface="Calibri" panose="020F0502020204030204" pitchFamily="34" charset="0"/>
              </a:rPr>
            </a:br>
            <a:br>
              <a:rPr lang="en-US" sz="2800" b="1" dirty="0">
                <a:solidFill>
                  <a:srgbClr val="0070C0"/>
                </a:solidFill>
                <a:latin typeface="Calibri" panose="020F0502020204030204" pitchFamily="34" charset="0"/>
                <a:cs typeface="Calibri" panose="020F0502020204030204" pitchFamily="34" charset="0"/>
              </a:rPr>
            </a:br>
            <a:r>
              <a:rPr lang="en-US" sz="2800" b="1" dirty="0">
                <a:solidFill>
                  <a:srgbClr val="0070C0"/>
                </a:solidFill>
                <a:latin typeface="Calibri" panose="020F0502020204030204" pitchFamily="34" charset="0"/>
                <a:cs typeface="Calibri" panose="020F0502020204030204" pitchFamily="34" charset="0"/>
              </a:rPr>
              <a:t>Personal data is any information relating to an identified or identifiable natural person (data subject), either directly or indirectly.</a:t>
            </a:r>
            <a:br>
              <a:rPr lang="en-GB" sz="2800" b="1" i="0" dirty="0">
                <a:solidFill>
                  <a:srgbClr val="0070C0"/>
                </a:solidFill>
                <a:effectLst/>
                <a:latin typeface="Calibri" panose="020F0502020204030204" pitchFamily="34" charset="0"/>
                <a:cs typeface="Calibri" panose="020F0502020204030204" pitchFamily="34" charset="0"/>
              </a:rPr>
            </a:br>
            <a:br>
              <a:rPr lang="en-US" sz="2800" b="1" dirty="0">
                <a:solidFill>
                  <a:srgbClr val="0070C0"/>
                </a:solidFill>
                <a:latin typeface="Calibri" panose="020F0502020204030204" pitchFamily="34" charset="0"/>
                <a:cs typeface="Calibri" panose="020F0502020204030204" pitchFamily="34" charset="0"/>
              </a:rPr>
            </a:br>
            <a:endParaRPr lang="en-GB" sz="2800" b="1" dirty="0">
              <a:solidFill>
                <a:srgbClr val="0070C0"/>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882119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pic>
        <p:nvPicPr>
          <p:cNvPr id="202" name="Shape 202"/>
          <p:cNvPicPr preferRelativeResize="0"/>
          <p:nvPr/>
        </p:nvPicPr>
        <p:blipFill rotWithShape="1">
          <a:blip r:embed="rId3">
            <a:alphaModFix/>
          </a:blip>
          <a:srcRect/>
          <a:stretch/>
        </p:blipFill>
        <p:spPr>
          <a:xfrm>
            <a:off x="220002" y="80920"/>
            <a:ext cx="1529285" cy="1596805"/>
          </a:xfrm>
          <a:prstGeom prst="rect">
            <a:avLst/>
          </a:prstGeom>
          <a:noFill/>
          <a:ln>
            <a:noFill/>
          </a:ln>
        </p:spPr>
      </p:pic>
      <p:sp>
        <p:nvSpPr>
          <p:cNvPr id="203" name="Shape 203"/>
          <p:cNvSpPr txBox="1"/>
          <p:nvPr/>
        </p:nvSpPr>
        <p:spPr>
          <a:xfrm>
            <a:off x="1988882" y="162762"/>
            <a:ext cx="4976601" cy="707886"/>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4000" b="1" i="0" u="none" strike="noStrike" cap="none" dirty="0">
                <a:solidFill>
                  <a:schemeClr val="accent2"/>
                </a:solidFill>
                <a:latin typeface="Calibri" panose="020F0502020204030204" pitchFamily="34" charset="0"/>
                <a:cs typeface="Calibri" panose="020F0502020204030204" pitchFamily="34" charset="0"/>
                <a:sym typeface="Arial"/>
              </a:rPr>
              <a:t>Breach Alert!</a:t>
            </a:r>
            <a:endParaRPr dirty="0">
              <a:solidFill>
                <a:schemeClr val="accent2"/>
              </a:solidFill>
              <a:latin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A7EDF1B8-CF81-4820-B1F1-2C2CCEB27736}"/>
              </a:ext>
            </a:extLst>
          </p:cNvPr>
          <p:cNvPicPr>
            <a:picLocks noChangeAspect="1"/>
          </p:cNvPicPr>
          <p:nvPr/>
        </p:nvPicPr>
        <p:blipFill rotWithShape="1">
          <a:blip r:embed="rId4"/>
          <a:srcRect l="10348" t="6620" r="69130" b="36852"/>
          <a:stretch/>
        </p:blipFill>
        <p:spPr>
          <a:xfrm>
            <a:off x="389614" y="1871100"/>
            <a:ext cx="3553794" cy="2755695"/>
          </a:xfrm>
          <a:prstGeom prst="rect">
            <a:avLst/>
          </a:prstGeom>
        </p:spPr>
      </p:pic>
      <p:pic>
        <p:nvPicPr>
          <p:cNvPr id="5" name="Picture 4">
            <a:extLst>
              <a:ext uri="{FF2B5EF4-FFF2-40B4-BE49-F238E27FC236}">
                <a16:creationId xmlns:a16="http://schemas.microsoft.com/office/drawing/2014/main" id="{DC21CAED-0535-4FDB-9F18-17AA86DEFD59}"/>
              </a:ext>
            </a:extLst>
          </p:cNvPr>
          <p:cNvPicPr>
            <a:picLocks noChangeAspect="1"/>
          </p:cNvPicPr>
          <p:nvPr/>
        </p:nvPicPr>
        <p:blipFill rotWithShape="1">
          <a:blip r:embed="rId5"/>
          <a:srcRect l="11217" t="7238" r="70783" b="15041"/>
          <a:stretch/>
        </p:blipFill>
        <p:spPr>
          <a:xfrm>
            <a:off x="4206857" y="777522"/>
            <a:ext cx="3450866" cy="419454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Shape 251"/>
          <p:cNvSpPr txBox="1"/>
          <p:nvPr/>
        </p:nvSpPr>
        <p:spPr>
          <a:xfrm>
            <a:off x="207483" y="203534"/>
            <a:ext cx="7705200" cy="708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A5A5A5"/>
              </a:buClr>
              <a:buSzPts val="1000"/>
              <a:buFont typeface="Arial"/>
              <a:buNone/>
            </a:pPr>
            <a:r>
              <a:rPr lang="en-US" sz="3200" b="1" i="0" u="none" strike="noStrike" cap="none" dirty="0">
                <a:solidFill>
                  <a:schemeClr val="accent2"/>
                </a:solidFill>
                <a:latin typeface="Calibri"/>
                <a:ea typeface="Calibri"/>
                <a:cs typeface="Calibri"/>
                <a:sym typeface="Calibri"/>
              </a:rPr>
              <a:t>Protecting personal data</a:t>
            </a:r>
            <a:endParaRPr sz="3200" b="0" i="0" u="none" strike="noStrike" cap="none" dirty="0">
              <a:solidFill>
                <a:schemeClr val="accent2"/>
              </a:solidFill>
              <a:latin typeface="Arial"/>
              <a:ea typeface="Arial"/>
              <a:cs typeface="Arial"/>
              <a:sym typeface="Arial"/>
            </a:endParaRPr>
          </a:p>
        </p:txBody>
      </p:sp>
      <p:pic>
        <p:nvPicPr>
          <p:cNvPr id="252" name="Shape 252"/>
          <p:cNvPicPr preferRelativeResize="0"/>
          <p:nvPr/>
        </p:nvPicPr>
        <p:blipFill rotWithShape="1">
          <a:blip r:embed="rId3">
            <a:alphaModFix/>
          </a:blip>
          <a:srcRect/>
          <a:stretch/>
        </p:blipFill>
        <p:spPr>
          <a:xfrm>
            <a:off x="6019846" y="0"/>
            <a:ext cx="918836" cy="936847"/>
          </a:xfrm>
          <a:prstGeom prst="rect">
            <a:avLst/>
          </a:prstGeom>
          <a:noFill/>
          <a:ln>
            <a:noFill/>
          </a:ln>
        </p:spPr>
      </p:pic>
      <p:sp>
        <p:nvSpPr>
          <p:cNvPr id="253" name="Shape 253"/>
          <p:cNvSpPr/>
          <p:nvPr/>
        </p:nvSpPr>
        <p:spPr>
          <a:xfrm>
            <a:off x="207483" y="911534"/>
            <a:ext cx="4455699" cy="30318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1000"/>
              </a:spcBef>
              <a:spcAft>
                <a:spcPts val="0"/>
              </a:spcAft>
              <a:buClr>
                <a:schemeClr val="dk1"/>
              </a:buClr>
              <a:buSzPts val="2400"/>
              <a:buNone/>
            </a:pPr>
            <a:r>
              <a:rPr lang="en-US" sz="2400" b="1" i="0" u="none" strike="noStrike" cap="none" dirty="0">
                <a:solidFill>
                  <a:srgbClr val="0070C0"/>
                </a:solidFill>
                <a:latin typeface="Calibri"/>
                <a:ea typeface="Calibri"/>
                <a:cs typeface="Calibri"/>
                <a:sym typeface="Calibri"/>
              </a:rPr>
              <a:t>Serious breaches must be reported to the </a:t>
            </a:r>
            <a:r>
              <a:rPr lang="en-US" sz="2400" b="1" i="0" u="none" strike="noStrike" cap="none" dirty="0" err="1">
                <a:solidFill>
                  <a:srgbClr val="0070C0"/>
                </a:solidFill>
                <a:latin typeface="Calibri"/>
                <a:ea typeface="Calibri"/>
                <a:cs typeface="Calibri"/>
                <a:sym typeface="Calibri"/>
              </a:rPr>
              <a:t>ICO</a:t>
            </a:r>
            <a:r>
              <a:rPr lang="en-US" sz="2400" b="1" i="0" u="none" strike="noStrike" cap="none" dirty="0">
                <a:solidFill>
                  <a:srgbClr val="0070C0"/>
                </a:solidFill>
                <a:latin typeface="Calibri"/>
                <a:ea typeface="Calibri"/>
                <a:cs typeface="Calibri"/>
                <a:sym typeface="Calibri"/>
              </a:rPr>
              <a:t> within 72 hours</a:t>
            </a:r>
            <a:r>
              <a:rPr lang="en-US" sz="2400" b="1" dirty="0">
                <a:solidFill>
                  <a:srgbClr val="0070C0"/>
                </a:solidFill>
                <a:latin typeface="Calibri"/>
                <a:ea typeface="Calibri"/>
                <a:cs typeface="Calibri"/>
                <a:sym typeface="Calibri"/>
              </a:rPr>
              <a:t>.</a:t>
            </a:r>
            <a:endParaRPr lang="en-US" sz="2400" b="1" i="0" u="none" strike="noStrike" cap="none" dirty="0">
              <a:solidFill>
                <a:srgbClr val="0070C0"/>
              </a:solidFill>
              <a:latin typeface="Calibri"/>
              <a:ea typeface="Calibri"/>
              <a:cs typeface="Calibri"/>
              <a:sym typeface="Calibri"/>
            </a:endParaRPr>
          </a:p>
          <a:p>
            <a:pPr marL="0" indent="0">
              <a:buNone/>
            </a:pPr>
            <a:endParaRPr lang="en-US" sz="2400" dirty="0">
              <a:solidFill>
                <a:srgbClr val="0070C0"/>
              </a:solidFill>
              <a:latin typeface="Calibri"/>
              <a:ea typeface="Calibri"/>
              <a:cs typeface="Calibri"/>
              <a:sym typeface="Calibri"/>
            </a:endParaRPr>
          </a:p>
          <a:p>
            <a:pPr marL="0" indent="0">
              <a:buNone/>
            </a:pPr>
            <a:r>
              <a:rPr lang="en-US" sz="2400" b="1" i="0" u="none" strike="noStrike" cap="none" dirty="0">
                <a:solidFill>
                  <a:srgbClr val="0070C0"/>
                </a:solidFill>
                <a:latin typeface="Calibri"/>
                <a:ea typeface="Calibri"/>
                <a:cs typeface="Calibri"/>
                <a:sym typeface="Calibri"/>
              </a:rPr>
              <a:t>Report all breaches to your </a:t>
            </a:r>
            <a:r>
              <a:rPr lang="en-US" sz="2400" b="1" i="0" u="none" strike="noStrike" cap="none" dirty="0" err="1">
                <a:solidFill>
                  <a:srgbClr val="0070C0"/>
                </a:solidFill>
                <a:latin typeface="Calibri"/>
                <a:ea typeface="Calibri"/>
                <a:cs typeface="Calibri"/>
                <a:sym typeface="Calibri"/>
              </a:rPr>
              <a:t>DPO</a:t>
            </a:r>
            <a:r>
              <a:rPr lang="en-US" sz="2400" b="0" i="0" u="none" strike="noStrike" cap="none" dirty="0">
                <a:solidFill>
                  <a:srgbClr val="0070C0"/>
                </a:solidFill>
                <a:latin typeface="Calibri"/>
                <a:ea typeface="Calibri"/>
                <a:cs typeface="Calibri"/>
                <a:sym typeface="Calibri"/>
              </a:rPr>
              <a:t>, DPE will work with you to decide if it needs reporting to the </a:t>
            </a:r>
            <a:r>
              <a:rPr lang="en-US" sz="2400" b="0" i="0" u="none" strike="noStrike" cap="none" dirty="0" err="1">
                <a:solidFill>
                  <a:srgbClr val="0070C0"/>
                </a:solidFill>
                <a:latin typeface="Calibri"/>
                <a:ea typeface="Calibri"/>
                <a:cs typeface="Calibri"/>
                <a:sym typeface="Calibri"/>
              </a:rPr>
              <a:t>ICO</a:t>
            </a:r>
            <a:endParaRPr lang="en-US" sz="2400" b="0" i="0" u="none" strike="noStrike" cap="none" dirty="0">
              <a:solidFill>
                <a:srgbClr val="0070C0"/>
              </a:solidFill>
              <a:latin typeface="Calibri"/>
              <a:ea typeface="Calibri"/>
              <a:cs typeface="Calibri"/>
              <a:sym typeface="Calibri"/>
            </a:endParaRPr>
          </a:p>
          <a:p>
            <a:pPr marL="342900" marR="0" lvl="0" indent="-342900" algn="l" rtl="0">
              <a:lnSpc>
                <a:spcPct val="100000"/>
              </a:lnSpc>
              <a:spcBef>
                <a:spcPts val="0"/>
              </a:spcBef>
              <a:spcAft>
                <a:spcPts val="0"/>
              </a:spcAft>
              <a:buClr>
                <a:srgbClr val="000000"/>
              </a:buClr>
              <a:buSzPts val="1800"/>
              <a:buFont typeface="Arial"/>
              <a:buNone/>
            </a:pPr>
            <a:endParaRPr sz="2000" b="0" i="0" u="none" strike="noStrike" cap="none" dirty="0">
              <a:solidFill>
                <a:srgbClr val="000000"/>
              </a:solidFill>
              <a:latin typeface="Calibri"/>
              <a:ea typeface="Calibri"/>
              <a:cs typeface="Calibri"/>
            </a:endParaRPr>
          </a:p>
        </p:txBody>
      </p:sp>
      <p:pic>
        <p:nvPicPr>
          <p:cNvPr id="2" name="Picture 1" descr="Diagram&#10;&#10;Description automatically generated">
            <a:extLst>
              <a:ext uri="{FF2B5EF4-FFF2-40B4-BE49-F238E27FC236}">
                <a16:creationId xmlns:a16="http://schemas.microsoft.com/office/drawing/2014/main" id="{D4150F16-2BFF-4417-92BF-3840B01E398B}"/>
              </a:ext>
            </a:extLst>
          </p:cNvPr>
          <p:cNvPicPr/>
          <p:nvPr/>
        </p:nvPicPr>
        <p:blipFill rotWithShape="1">
          <a:blip r:embed="rId4"/>
          <a:srcRect l="8642" t="14966" r="73079" b="20835"/>
          <a:stretch/>
        </p:blipFill>
        <p:spPr bwMode="auto">
          <a:xfrm>
            <a:off x="4663182" y="831891"/>
            <a:ext cx="4361487" cy="4193467"/>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3387C-65D9-4B0A-8717-CE7ED9E80D8B}"/>
              </a:ext>
            </a:extLst>
          </p:cNvPr>
          <p:cNvSpPr>
            <a:spLocks noGrp="1"/>
          </p:cNvSpPr>
          <p:nvPr>
            <p:ph type="title"/>
          </p:nvPr>
        </p:nvSpPr>
        <p:spPr>
          <a:xfrm>
            <a:off x="558763" y="-831158"/>
            <a:ext cx="7886700" cy="832790"/>
          </a:xfrm>
        </p:spPr>
        <p:txBody>
          <a:bodyPr vert="horz" lIns="91440" tIns="45720" rIns="91440" bIns="45720" rtlCol="0" anchor="t">
            <a:noAutofit/>
          </a:bodyPr>
          <a:lstStyle/>
          <a:p>
            <a:br>
              <a:rPr lang="en-US" sz="4800" b="1" dirty="0">
                <a:latin typeface="Calibri" panose="020F0502020204030204" pitchFamily="34" charset="0"/>
                <a:ea typeface="Ebrima" panose="02000000000000000000" pitchFamily="2" charset="0"/>
                <a:cs typeface="Calibri" panose="020F0502020204030204" pitchFamily="34" charset="0"/>
              </a:rPr>
            </a:br>
            <a:br>
              <a:rPr lang="en-US" sz="4800" b="1" dirty="0">
                <a:latin typeface="Calibri" panose="020F0502020204030204" pitchFamily="34" charset="0"/>
                <a:ea typeface="Ebrima" panose="02000000000000000000" pitchFamily="2" charset="0"/>
                <a:cs typeface="Calibri" panose="020F0502020204030204" pitchFamily="34" charset="0"/>
              </a:rPr>
            </a:br>
            <a:r>
              <a:rPr lang="en-US" sz="2800" b="1" dirty="0">
                <a:solidFill>
                  <a:schemeClr val="accent2"/>
                </a:solidFill>
                <a:latin typeface="Calibri"/>
                <a:ea typeface="Ebrima"/>
                <a:cs typeface="Calibri"/>
                <a:sym typeface="Lato"/>
              </a:rPr>
              <a:t>Type of data breaches reported to DPE </a:t>
            </a:r>
            <a:br>
              <a:rPr lang="en-US" sz="4400" dirty="0">
                <a:solidFill>
                  <a:schemeClr val="accent2"/>
                </a:solidFill>
                <a:latin typeface="Calibri" panose="020F0502020204030204" pitchFamily="34" charset="0"/>
                <a:ea typeface="Ebrima" panose="02000000000000000000" pitchFamily="2" charset="0"/>
                <a:cs typeface="Calibri" panose="020F0502020204030204" pitchFamily="34" charset="0"/>
              </a:rPr>
            </a:br>
            <a:endParaRPr lang="en-GB" sz="4400" dirty="0">
              <a:solidFill>
                <a:schemeClr val="accent2"/>
              </a:solidFill>
            </a:endParaRPr>
          </a:p>
        </p:txBody>
      </p:sp>
      <p:sp>
        <p:nvSpPr>
          <p:cNvPr id="3" name="Text Placeholder 2">
            <a:extLst>
              <a:ext uri="{FF2B5EF4-FFF2-40B4-BE49-F238E27FC236}">
                <a16:creationId xmlns:a16="http://schemas.microsoft.com/office/drawing/2014/main" id="{70784D6F-6325-4D78-B548-442460102070}"/>
              </a:ext>
            </a:extLst>
          </p:cNvPr>
          <p:cNvSpPr>
            <a:spLocks noGrp="1"/>
          </p:cNvSpPr>
          <p:nvPr>
            <p:ph sz="half" idx="1"/>
          </p:nvPr>
        </p:nvSpPr>
        <p:spPr>
          <a:xfrm>
            <a:off x="558763" y="1379531"/>
            <a:ext cx="7886699" cy="3262312"/>
          </a:xfrm>
        </p:spPr>
        <p:txBody>
          <a:bodyPr/>
          <a:lstStyle/>
          <a:p>
            <a:pPr marL="400050" indent="-285750">
              <a:lnSpc>
                <a:spcPct val="90000"/>
              </a:lnSpc>
              <a:buClr>
                <a:srgbClr val="000000"/>
              </a:buClr>
              <a:buSzPts val="1800"/>
              <a:buFont typeface="Wingdings" panose="05000000000000000000" pitchFamily="2" charset="2"/>
              <a:buChar char="§"/>
            </a:pPr>
            <a:r>
              <a:rPr lang="en-US" sz="1800" dirty="0">
                <a:solidFill>
                  <a:schemeClr val="accent2"/>
                </a:solidFill>
                <a:latin typeface="Calibri" panose="020F0502020204030204" pitchFamily="34" charset="0"/>
                <a:ea typeface="Calibri"/>
                <a:cs typeface="Calibri" panose="020F0502020204030204" pitchFamily="34" charset="0"/>
                <a:sym typeface="Calibri"/>
              </a:rPr>
              <a:t>23 lost GCSE assessment papers</a:t>
            </a:r>
          </a:p>
          <a:p>
            <a:pPr marL="400050" indent="-285750">
              <a:lnSpc>
                <a:spcPct val="90000"/>
              </a:lnSpc>
              <a:spcBef>
                <a:spcPts val="0"/>
              </a:spcBef>
              <a:buClr>
                <a:srgbClr val="000000"/>
              </a:buClr>
              <a:buSzPts val="1800"/>
              <a:buFont typeface="Wingdings" panose="05000000000000000000" pitchFamily="2" charset="2"/>
              <a:buChar char="§"/>
            </a:pPr>
            <a:r>
              <a:rPr lang="en-US" sz="1800" dirty="0">
                <a:solidFill>
                  <a:schemeClr val="accent2"/>
                </a:solidFill>
                <a:latin typeface="Calibri" panose="020F0502020204030204" pitchFamily="34" charset="0"/>
                <a:ea typeface="Calibri"/>
                <a:cs typeface="Calibri" panose="020F0502020204030204" pitchFamily="34" charset="0"/>
                <a:sym typeface="Calibri"/>
              </a:rPr>
              <a:t>Missing / stolen laptops</a:t>
            </a:r>
          </a:p>
          <a:p>
            <a:pPr marL="400050" indent="-285750">
              <a:lnSpc>
                <a:spcPct val="90000"/>
              </a:lnSpc>
              <a:spcBef>
                <a:spcPts val="0"/>
              </a:spcBef>
              <a:buClr>
                <a:srgbClr val="000000"/>
              </a:buClr>
              <a:buSzPts val="1800"/>
              <a:buFont typeface="Wingdings" panose="05000000000000000000" pitchFamily="2" charset="2"/>
              <a:buChar char="§"/>
            </a:pPr>
            <a:r>
              <a:rPr lang="en-US" sz="1800" dirty="0">
                <a:solidFill>
                  <a:schemeClr val="accent2"/>
                </a:solidFill>
                <a:latin typeface="Calibri" panose="020F0502020204030204" pitchFamily="34" charset="0"/>
                <a:cs typeface="Calibri" panose="020F0502020204030204" pitchFamily="34" charset="0"/>
              </a:rPr>
              <a:t>Lost Safeguarding files</a:t>
            </a:r>
            <a:endParaRPr lang="en-US" sz="1800" dirty="0">
              <a:solidFill>
                <a:schemeClr val="accent2"/>
              </a:solidFill>
              <a:latin typeface="Calibri" panose="020F0502020204030204" pitchFamily="34" charset="0"/>
              <a:ea typeface="Calibri"/>
              <a:cs typeface="Calibri" panose="020F0502020204030204" pitchFamily="34" charset="0"/>
              <a:sym typeface="Calibri"/>
            </a:endParaRPr>
          </a:p>
          <a:p>
            <a:pPr marL="400050" indent="-285750">
              <a:lnSpc>
                <a:spcPct val="90000"/>
              </a:lnSpc>
              <a:spcBef>
                <a:spcPts val="0"/>
              </a:spcBef>
              <a:buClr>
                <a:srgbClr val="000000"/>
              </a:buClr>
              <a:buSzPts val="1800"/>
              <a:buFont typeface="Wingdings" panose="05000000000000000000" pitchFamily="2" charset="2"/>
              <a:buChar char="§"/>
            </a:pPr>
            <a:r>
              <a:rPr lang="en-US" sz="1800" dirty="0">
                <a:solidFill>
                  <a:schemeClr val="accent2"/>
                </a:solidFill>
                <a:latin typeface="Calibri" panose="020F0502020204030204" pitchFamily="34" charset="0"/>
                <a:ea typeface="Calibri"/>
                <a:cs typeface="Calibri" panose="020F0502020204030204" pitchFamily="34" charset="0"/>
                <a:sym typeface="Calibri"/>
              </a:rPr>
              <a:t>BCC emails</a:t>
            </a:r>
          </a:p>
          <a:p>
            <a:pPr marL="400050" indent="-285750">
              <a:lnSpc>
                <a:spcPct val="90000"/>
              </a:lnSpc>
              <a:spcBef>
                <a:spcPts val="0"/>
              </a:spcBef>
              <a:buClr>
                <a:srgbClr val="000000"/>
              </a:buClr>
              <a:buSzPts val="1800"/>
              <a:buFont typeface="Wingdings" panose="05000000000000000000" pitchFamily="2" charset="2"/>
              <a:buChar char="§"/>
            </a:pPr>
            <a:r>
              <a:rPr lang="en-US" sz="1800" dirty="0">
                <a:solidFill>
                  <a:schemeClr val="accent2"/>
                </a:solidFill>
                <a:latin typeface="Calibri" panose="020F0502020204030204" pitchFamily="34" charset="0"/>
                <a:cs typeface="Calibri" panose="020F0502020204030204" pitchFamily="34" charset="0"/>
              </a:rPr>
              <a:t>Sharing confidential information in online folders with parents</a:t>
            </a:r>
            <a:endParaRPr lang="en-US" sz="1800" dirty="0">
              <a:solidFill>
                <a:schemeClr val="accent2"/>
              </a:solidFill>
              <a:latin typeface="Calibri" panose="020F0502020204030204" pitchFamily="34" charset="0"/>
              <a:ea typeface="Calibri"/>
              <a:cs typeface="Calibri" panose="020F0502020204030204" pitchFamily="34" charset="0"/>
              <a:sym typeface="Calibri"/>
            </a:endParaRPr>
          </a:p>
          <a:p>
            <a:pPr marL="400050" indent="-285750">
              <a:lnSpc>
                <a:spcPct val="90000"/>
              </a:lnSpc>
              <a:spcBef>
                <a:spcPts val="0"/>
              </a:spcBef>
              <a:buClr>
                <a:srgbClr val="000000"/>
              </a:buClr>
              <a:buSzPts val="1800"/>
              <a:buFont typeface="Wingdings" panose="05000000000000000000" pitchFamily="2" charset="2"/>
              <a:buChar char="§"/>
            </a:pPr>
            <a:r>
              <a:rPr lang="en-US" sz="1800" dirty="0">
                <a:solidFill>
                  <a:schemeClr val="accent2"/>
                </a:solidFill>
                <a:latin typeface="Calibri" panose="020F0502020204030204" pitchFamily="34" charset="0"/>
                <a:ea typeface="Calibri"/>
                <a:cs typeface="Calibri" panose="020F0502020204030204" pitchFamily="34" charset="0"/>
                <a:sym typeface="Calibri"/>
              </a:rPr>
              <a:t>PC monitors in offices being viewed by members of the public</a:t>
            </a:r>
          </a:p>
          <a:p>
            <a:pPr marL="400050" indent="-285750">
              <a:lnSpc>
                <a:spcPct val="90000"/>
              </a:lnSpc>
              <a:spcBef>
                <a:spcPts val="0"/>
              </a:spcBef>
              <a:buClr>
                <a:srgbClr val="000000"/>
              </a:buClr>
              <a:buSzPts val="1800"/>
              <a:buFont typeface="Wingdings" panose="05000000000000000000" pitchFamily="2" charset="2"/>
              <a:buChar char="§"/>
            </a:pPr>
            <a:r>
              <a:rPr lang="en-US" sz="1800" dirty="0" err="1">
                <a:solidFill>
                  <a:schemeClr val="accent2"/>
                </a:solidFill>
                <a:latin typeface="Calibri" panose="020F0502020204030204" pitchFamily="34" charset="0"/>
                <a:ea typeface="Calibri"/>
                <a:cs typeface="Calibri" panose="020F0502020204030204" pitchFamily="34" charset="0"/>
                <a:sym typeface="Calibri"/>
              </a:rPr>
              <a:t>Unauthorised</a:t>
            </a:r>
            <a:r>
              <a:rPr lang="en-US" sz="1800" dirty="0">
                <a:solidFill>
                  <a:schemeClr val="accent2"/>
                </a:solidFill>
                <a:latin typeface="Calibri" panose="020F0502020204030204" pitchFamily="34" charset="0"/>
                <a:ea typeface="Calibri"/>
                <a:cs typeface="Calibri" panose="020F0502020204030204" pitchFamily="34" charset="0"/>
                <a:sym typeface="Calibri"/>
              </a:rPr>
              <a:t> access to payroll system</a:t>
            </a:r>
          </a:p>
          <a:p>
            <a:pPr marL="400050" indent="-285750">
              <a:lnSpc>
                <a:spcPct val="90000"/>
              </a:lnSpc>
              <a:spcBef>
                <a:spcPts val="0"/>
              </a:spcBef>
              <a:buClr>
                <a:srgbClr val="000000"/>
              </a:buClr>
              <a:buSzPts val="1800"/>
              <a:buFont typeface="Wingdings" panose="05000000000000000000" pitchFamily="2" charset="2"/>
              <a:buChar char="§"/>
            </a:pPr>
            <a:r>
              <a:rPr lang="en-US" sz="1800" dirty="0">
                <a:solidFill>
                  <a:schemeClr val="accent2"/>
                </a:solidFill>
                <a:latin typeface="Calibri" panose="020F0502020204030204" pitchFamily="34" charset="0"/>
                <a:ea typeface="Calibri"/>
                <a:cs typeface="Calibri" panose="020F0502020204030204" pitchFamily="34" charset="0"/>
                <a:sym typeface="Calibri"/>
              </a:rPr>
              <a:t>SEN letter sent to wrong parent</a:t>
            </a:r>
          </a:p>
          <a:p>
            <a:pPr marL="400050" indent="-285750">
              <a:lnSpc>
                <a:spcPct val="90000"/>
              </a:lnSpc>
              <a:spcBef>
                <a:spcPts val="0"/>
              </a:spcBef>
              <a:buClr>
                <a:srgbClr val="000000"/>
              </a:buClr>
              <a:buSzPts val="1800"/>
              <a:buFont typeface="Wingdings" panose="05000000000000000000" pitchFamily="2" charset="2"/>
              <a:buChar char="§"/>
            </a:pPr>
            <a:r>
              <a:rPr lang="en-US" sz="1800" dirty="0">
                <a:solidFill>
                  <a:schemeClr val="accent2"/>
                </a:solidFill>
                <a:latin typeface="Calibri" panose="020F0502020204030204" pitchFamily="34" charset="0"/>
                <a:ea typeface="Calibri"/>
                <a:cs typeface="Calibri" panose="020F0502020204030204" pitchFamily="34" charset="0"/>
                <a:sym typeface="Calibri"/>
              </a:rPr>
              <a:t>Lost paperwork/job applications</a:t>
            </a:r>
          </a:p>
          <a:p>
            <a:pPr marL="400050" indent="-285750">
              <a:lnSpc>
                <a:spcPct val="90000"/>
              </a:lnSpc>
              <a:spcBef>
                <a:spcPts val="0"/>
              </a:spcBef>
              <a:buClr>
                <a:srgbClr val="000000"/>
              </a:buClr>
              <a:buSzPts val="1800"/>
              <a:buFont typeface="Wingdings" panose="05000000000000000000" pitchFamily="2" charset="2"/>
              <a:buChar char="§"/>
            </a:pPr>
            <a:r>
              <a:rPr lang="en-US" sz="1800" dirty="0">
                <a:solidFill>
                  <a:schemeClr val="accent2"/>
                </a:solidFill>
                <a:latin typeface="Calibri" panose="020F0502020204030204" pitchFamily="34" charset="0"/>
                <a:ea typeface="Calibri"/>
                <a:cs typeface="Calibri" panose="020F0502020204030204" pitchFamily="34" charset="0"/>
                <a:sym typeface="Calibri"/>
              </a:rPr>
              <a:t>Lost memory sticks</a:t>
            </a:r>
          </a:p>
          <a:p>
            <a:pPr marL="400050" indent="-285750">
              <a:lnSpc>
                <a:spcPct val="90000"/>
              </a:lnSpc>
              <a:spcBef>
                <a:spcPts val="0"/>
              </a:spcBef>
              <a:buClr>
                <a:srgbClr val="000000"/>
              </a:buClr>
              <a:buSzPts val="1800"/>
              <a:buFont typeface="Wingdings" panose="05000000000000000000" pitchFamily="2" charset="2"/>
              <a:buChar char="§"/>
            </a:pPr>
            <a:r>
              <a:rPr lang="en-US" sz="1800" dirty="0">
                <a:solidFill>
                  <a:schemeClr val="accent2"/>
                </a:solidFill>
                <a:latin typeface="Calibri" panose="020F0502020204030204" pitchFamily="34" charset="0"/>
                <a:ea typeface="Calibri"/>
                <a:cs typeface="Calibri" panose="020F0502020204030204" pitchFamily="34" charset="0"/>
                <a:sym typeface="Calibri"/>
              </a:rPr>
              <a:t>Incorrect group email configuration</a:t>
            </a:r>
          </a:p>
          <a:p>
            <a:pPr marL="400050" indent="-285750">
              <a:lnSpc>
                <a:spcPct val="90000"/>
              </a:lnSpc>
              <a:spcBef>
                <a:spcPts val="0"/>
              </a:spcBef>
              <a:buClr>
                <a:srgbClr val="000000"/>
              </a:buClr>
              <a:buSzPts val="1800"/>
              <a:buFont typeface="Wingdings" panose="05000000000000000000" pitchFamily="2" charset="2"/>
              <a:buChar char="§"/>
            </a:pPr>
            <a:r>
              <a:rPr lang="en-US" sz="1800" dirty="0">
                <a:solidFill>
                  <a:schemeClr val="accent2"/>
                </a:solidFill>
                <a:latin typeface="Calibri" panose="020F0502020204030204" pitchFamily="34" charset="0"/>
                <a:ea typeface="Calibri"/>
                <a:cs typeface="Calibri" panose="020F0502020204030204" pitchFamily="34" charset="0"/>
                <a:sym typeface="Calibri"/>
              </a:rPr>
              <a:t>Incorrect Google classroom configuration</a:t>
            </a:r>
          </a:p>
          <a:p>
            <a:endParaRPr lang="en-GB" dirty="0"/>
          </a:p>
        </p:txBody>
      </p:sp>
    </p:spTree>
    <p:extLst>
      <p:ext uri="{BB962C8B-B14F-4D97-AF65-F5344CB8AC3E}">
        <p14:creationId xmlns:p14="http://schemas.microsoft.com/office/powerpoint/2010/main" val="769685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Shape 274"/>
          <p:cNvSpPr txBox="1"/>
          <p:nvPr/>
        </p:nvSpPr>
        <p:spPr>
          <a:xfrm>
            <a:off x="175272" y="316638"/>
            <a:ext cx="8006619" cy="708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A5A5A5"/>
              </a:buClr>
              <a:buSzPts val="1000"/>
              <a:buFont typeface="Arial"/>
              <a:buNone/>
            </a:pPr>
            <a:r>
              <a:rPr lang="en-US" sz="3200" b="1" i="0" u="none" strike="noStrike" cap="none" dirty="0">
                <a:solidFill>
                  <a:schemeClr val="accent2"/>
                </a:solidFill>
                <a:latin typeface="Calibri"/>
                <a:ea typeface="Calibri"/>
                <a:cs typeface="Calibri"/>
                <a:sym typeface="Calibri"/>
              </a:rPr>
              <a:t>What the ICO and auditors look for…</a:t>
            </a:r>
            <a:endParaRPr sz="3200" b="0" i="0" u="none" strike="noStrike" cap="none" dirty="0">
              <a:solidFill>
                <a:schemeClr val="accent2"/>
              </a:solidFill>
              <a:latin typeface="Arial"/>
              <a:ea typeface="Arial"/>
              <a:cs typeface="Arial"/>
              <a:sym typeface="Arial"/>
            </a:endParaRPr>
          </a:p>
        </p:txBody>
      </p:sp>
      <p:sp>
        <p:nvSpPr>
          <p:cNvPr id="275" name="Shape 275"/>
          <p:cNvSpPr/>
          <p:nvPr/>
        </p:nvSpPr>
        <p:spPr>
          <a:xfrm>
            <a:off x="2549225" y="1603876"/>
            <a:ext cx="5566500" cy="3031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Calibri"/>
              <a:buNone/>
            </a:pPr>
            <a:endParaRPr sz="48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Calibri"/>
              <a:buNone/>
            </a:pPr>
            <a:endParaRPr sz="48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Calibri"/>
              <a:buNone/>
            </a:pPr>
            <a:endParaRPr sz="3000" b="0" i="0" u="none" strike="noStrike" cap="none">
              <a:solidFill>
                <a:srgbClr val="000000"/>
              </a:solidFill>
              <a:latin typeface="Calibri"/>
              <a:ea typeface="Calibri"/>
              <a:cs typeface="Calibri"/>
              <a:sym typeface="Calibri"/>
            </a:endParaRPr>
          </a:p>
          <a:p>
            <a:pPr marL="342900" marR="0" lvl="0" indent="-342900" algn="l" rtl="0">
              <a:lnSpc>
                <a:spcPct val="100000"/>
              </a:lnSpc>
              <a:spcBef>
                <a:spcPts val="0"/>
              </a:spcBef>
              <a:spcAft>
                <a:spcPts val="0"/>
              </a:spcAft>
              <a:buClr>
                <a:srgbClr val="000000"/>
              </a:buClr>
              <a:buSzPts val="1800"/>
              <a:buFont typeface="Arial"/>
              <a:buNone/>
            </a:pPr>
            <a:endParaRPr sz="3000" b="0" i="0" u="none" strike="noStrike" cap="none">
              <a:solidFill>
                <a:srgbClr val="000000"/>
              </a:solidFill>
              <a:latin typeface="Calibri"/>
              <a:ea typeface="Calibri"/>
              <a:cs typeface="Calibri"/>
              <a:sym typeface="Calibri"/>
            </a:endParaRPr>
          </a:p>
        </p:txBody>
      </p:sp>
      <p:sp>
        <p:nvSpPr>
          <p:cNvPr id="276" name="Shape 276"/>
          <p:cNvSpPr txBox="1"/>
          <p:nvPr/>
        </p:nvSpPr>
        <p:spPr>
          <a:xfrm>
            <a:off x="439139" y="1024638"/>
            <a:ext cx="7676586" cy="3802224"/>
          </a:xfrm>
          <a:prstGeom prst="rect">
            <a:avLst/>
          </a:prstGeom>
          <a:noFill/>
          <a:ln>
            <a:noFill/>
          </a:ln>
        </p:spPr>
        <p:txBody>
          <a:bodyPr spcFirstLastPara="1" wrap="square" lIns="91425" tIns="91425" rIns="91425" bIns="91425" numCol="2" anchor="t" anchorCtr="0">
            <a:noAutofit/>
          </a:bodyPr>
          <a:lstStyle/>
          <a:p>
            <a:pPr marL="323850" marR="0" lvl="0" indent="-285750" algn="l" rtl="0">
              <a:lnSpc>
                <a:spcPct val="100000"/>
              </a:lnSpc>
              <a:spcBef>
                <a:spcPts val="0"/>
              </a:spcBef>
              <a:spcAft>
                <a:spcPts val="0"/>
              </a:spcAft>
              <a:buClrTx/>
              <a:buSzPct val="100000"/>
              <a:buFont typeface="Arial" panose="020B0604020202020204" pitchFamily="34" charset="0"/>
              <a:buChar char="•"/>
            </a:pPr>
            <a:r>
              <a:rPr lang="en-US" sz="1600" b="0" i="0" u="none" strike="noStrike" cap="none" dirty="0">
                <a:solidFill>
                  <a:schemeClr val="accent2"/>
                </a:solidFill>
                <a:latin typeface="Calibri" panose="020F0502020204030204" pitchFamily="34" charset="0"/>
                <a:cs typeface="Calibri" panose="020F0502020204030204" pitchFamily="34" charset="0"/>
                <a:sym typeface="Arial"/>
              </a:rPr>
              <a:t>Data protection policies </a:t>
            </a:r>
          </a:p>
          <a:p>
            <a:pPr marL="323850" indent="-285750">
              <a:buClrTx/>
              <a:buSzPct val="100000"/>
              <a:buFont typeface="Arial" panose="020B0604020202020204" pitchFamily="34" charset="0"/>
              <a:buChar char="•"/>
            </a:pPr>
            <a:r>
              <a:rPr lang="en-US" sz="1600" dirty="0">
                <a:solidFill>
                  <a:schemeClr val="accent2"/>
                </a:solidFill>
                <a:latin typeface="Calibri" panose="020F0502020204030204" pitchFamily="34" charset="0"/>
                <a:cs typeface="Calibri" panose="020F0502020204030204" pitchFamily="34" charset="0"/>
              </a:rPr>
              <a:t>Staff training</a:t>
            </a:r>
          </a:p>
          <a:p>
            <a:pPr marL="323850" indent="-285750">
              <a:buClrTx/>
              <a:buSzPct val="100000"/>
              <a:buFont typeface="Arial" panose="020B0604020202020204" pitchFamily="34" charset="0"/>
              <a:buChar char="•"/>
            </a:pPr>
            <a:r>
              <a:rPr lang="en-US" sz="1600" b="0" i="0" u="none" strike="noStrike" cap="none" dirty="0">
                <a:solidFill>
                  <a:schemeClr val="accent2"/>
                </a:solidFill>
                <a:latin typeface="Calibri" panose="020F0502020204030204" pitchFamily="34" charset="0"/>
                <a:cs typeface="Calibri" panose="020F0502020204030204" pitchFamily="34" charset="0"/>
                <a:sym typeface="Arial"/>
              </a:rPr>
              <a:t>Processes for reporting and investigating incidents</a:t>
            </a:r>
          </a:p>
          <a:p>
            <a:pPr marL="323850" indent="-285750">
              <a:buClrTx/>
              <a:buSzPct val="100000"/>
              <a:buFont typeface="Arial" panose="020B0604020202020204" pitchFamily="34" charset="0"/>
              <a:buChar char="•"/>
            </a:pPr>
            <a:r>
              <a:rPr lang="en-US" sz="1600" b="0" i="0" u="none" strike="noStrike" cap="none" dirty="0">
                <a:solidFill>
                  <a:schemeClr val="accent2"/>
                </a:solidFill>
                <a:latin typeface="Calibri" panose="020F0502020204030204" pitchFamily="34" charset="0"/>
                <a:cs typeface="Calibri" panose="020F0502020204030204" pitchFamily="34" charset="0"/>
                <a:sym typeface="Arial"/>
              </a:rPr>
              <a:t>Process for dealing with subject access requests</a:t>
            </a:r>
          </a:p>
          <a:p>
            <a:pPr marL="323850" indent="-285750">
              <a:buClrTx/>
              <a:buSzPct val="100000"/>
              <a:buFont typeface="Arial" panose="020B0604020202020204" pitchFamily="34" charset="0"/>
              <a:buChar char="•"/>
            </a:pPr>
            <a:r>
              <a:rPr lang="en-US" sz="1600" b="0" i="0" u="none" strike="noStrike" cap="none" dirty="0">
                <a:solidFill>
                  <a:schemeClr val="accent2"/>
                </a:solidFill>
                <a:latin typeface="Calibri" panose="020F0502020204030204" pitchFamily="34" charset="0"/>
                <a:cs typeface="Calibri" panose="020F0502020204030204" pitchFamily="34" charset="0"/>
                <a:sym typeface="Arial"/>
              </a:rPr>
              <a:t>Policies for sharing data with third-parties</a:t>
            </a:r>
          </a:p>
          <a:p>
            <a:pPr marL="323850" indent="-285750">
              <a:buClrTx/>
              <a:buSzPct val="100000"/>
              <a:buFont typeface="Arial" panose="020B0604020202020204" pitchFamily="34" charset="0"/>
              <a:buChar char="•"/>
            </a:pPr>
            <a:r>
              <a:rPr lang="en-US" sz="1600" b="0" i="0" u="none" strike="noStrike" cap="none" dirty="0">
                <a:solidFill>
                  <a:schemeClr val="accent2"/>
                </a:solidFill>
                <a:latin typeface="Calibri" panose="020F0502020204030204" pitchFamily="34" charset="0"/>
                <a:cs typeface="Calibri" panose="020F0502020204030204" pitchFamily="34" charset="0"/>
                <a:sym typeface="Arial"/>
              </a:rPr>
              <a:t>Data retention schedules</a:t>
            </a:r>
          </a:p>
          <a:p>
            <a:pPr marL="323850" indent="-285750">
              <a:buClrTx/>
              <a:buSzPct val="100000"/>
              <a:buFont typeface="Arial" panose="020B0604020202020204" pitchFamily="34" charset="0"/>
              <a:buChar char="•"/>
            </a:pPr>
            <a:r>
              <a:rPr lang="en-US" sz="1600" dirty="0">
                <a:solidFill>
                  <a:schemeClr val="accent2"/>
                </a:solidFill>
                <a:latin typeface="Calibri" panose="020F0502020204030204" pitchFamily="34" charset="0"/>
                <a:cs typeface="Calibri" panose="020F0502020204030204" pitchFamily="34" charset="0"/>
              </a:rPr>
              <a:t>Record of Processing activities </a:t>
            </a:r>
          </a:p>
          <a:p>
            <a:pPr marL="323850" indent="-285750">
              <a:buClrTx/>
              <a:buSzPct val="100000"/>
              <a:buFont typeface="Arial" panose="020B0604020202020204" pitchFamily="34" charset="0"/>
              <a:buChar char="•"/>
            </a:pPr>
            <a:r>
              <a:rPr lang="en-US" sz="1600" dirty="0">
                <a:solidFill>
                  <a:schemeClr val="accent2"/>
                </a:solidFill>
                <a:latin typeface="Calibri" panose="020F0502020204030204" pitchFamily="34" charset="0"/>
                <a:cs typeface="Calibri" panose="020F0502020204030204" pitchFamily="34" charset="0"/>
              </a:rPr>
              <a:t>DPIAs (Risk assessments) – especially with new technologies (due diligence)</a:t>
            </a:r>
          </a:p>
          <a:p>
            <a:pPr marL="323850" indent="-285750">
              <a:buClrTx/>
              <a:buSzPct val="100000"/>
              <a:buFont typeface="Arial" panose="020B0604020202020204" pitchFamily="34" charset="0"/>
              <a:buChar char="•"/>
            </a:pPr>
            <a:r>
              <a:rPr lang="en-US" sz="1600" b="0" i="0" u="none" strike="noStrike" cap="none" dirty="0">
                <a:solidFill>
                  <a:schemeClr val="accent2"/>
                </a:solidFill>
                <a:latin typeface="Calibri" panose="020F0502020204030204" pitchFamily="34" charset="0"/>
                <a:cs typeface="Calibri" panose="020F0502020204030204" pitchFamily="34" charset="0"/>
                <a:sym typeface="Arial"/>
              </a:rPr>
              <a:t>Secure printing and secure disposal</a:t>
            </a:r>
          </a:p>
          <a:p>
            <a:pPr marL="323850" indent="-285750">
              <a:buClrTx/>
              <a:buSzPct val="100000"/>
              <a:buFont typeface="Arial" panose="020B0604020202020204" pitchFamily="34" charset="0"/>
              <a:buChar char="•"/>
            </a:pPr>
            <a:r>
              <a:rPr lang="en-US" sz="1600" b="0" i="0" u="none" strike="noStrike" cap="none" dirty="0">
                <a:solidFill>
                  <a:schemeClr val="accent2"/>
                </a:solidFill>
                <a:latin typeface="Calibri" panose="020F0502020204030204" pitchFamily="34" charset="0"/>
                <a:cs typeface="Calibri" panose="020F0502020204030204" pitchFamily="34" charset="0"/>
                <a:sym typeface="Arial"/>
              </a:rPr>
              <a:t>USB sticks / laptops / device encryption</a:t>
            </a:r>
          </a:p>
          <a:p>
            <a:pPr marL="323850" indent="-285750">
              <a:buClrTx/>
              <a:buSzPct val="100000"/>
              <a:buFont typeface="Arial" panose="020B0604020202020204" pitchFamily="34" charset="0"/>
              <a:buChar char="•"/>
            </a:pPr>
            <a:endParaRPr lang="en-US" sz="1600" b="0" i="0" u="none" strike="noStrike" cap="none" dirty="0">
              <a:solidFill>
                <a:schemeClr val="accent2"/>
              </a:solidFill>
              <a:latin typeface="Calibri" panose="020F0502020204030204" pitchFamily="34" charset="0"/>
              <a:cs typeface="Calibri" panose="020F0502020204030204" pitchFamily="34" charset="0"/>
              <a:sym typeface="Arial"/>
            </a:endParaRPr>
          </a:p>
          <a:p>
            <a:pPr marL="323850" indent="-285750">
              <a:buClrTx/>
              <a:buSzPct val="100000"/>
              <a:buFont typeface="Arial" panose="020B0604020202020204" pitchFamily="34" charset="0"/>
              <a:buChar char="•"/>
            </a:pPr>
            <a:endParaRPr lang="en-US" sz="1600" b="0" i="0" u="none" strike="noStrike" cap="none" dirty="0">
              <a:solidFill>
                <a:schemeClr val="accent2"/>
              </a:solidFill>
              <a:latin typeface="Calibri" panose="020F0502020204030204" pitchFamily="34" charset="0"/>
              <a:cs typeface="Calibri" panose="020F0502020204030204" pitchFamily="34" charset="0"/>
              <a:sym typeface="Arial"/>
            </a:endParaRPr>
          </a:p>
          <a:p>
            <a:pPr marL="323850" indent="-285750">
              <a:buClrTx/>
              <a:buSzPct val="100000"/>
              <a:buFont typeface="Arial" panose="020B0604020202020204" pitchFamily="34" charset="0"/>
              <a:buChar char="•"/>
            </a:pPr>
            <a:r>
              <a:rPr lang="en-US" sz="1600" b="0" i="0" u="none" strike="noStrike" cap="none" dirty="0">
                <a:solidFill>
                  <a:schemeClr val="accent2"/>
                </a:solidFill>
                <a:latin typeface="Calibri" panose="020F0502020204030204" pitchFamily="34" charset="0"/>
                <a:cs typeface="Calibri" panose="020F0502020204030204" pitchFamily="34" charset="0"/>
                <a:sym typeface="Arial"/>
              </a:rPr>
              <a:t>Physical and information security measures</a:t>
            </a:r>
          </a:p>
          <a:p>
            <a:pPr marL="323850" indent="-285750">
              <a:buClrTx/>
              <a:buSzPct val="100000"/>
              <a:buFont typeface="Arial" panose="020B0604020202020204" pitchFamily="34" charset="0"/>
              <a:buChar char="•"/>
            </a:pPr>
            <a:r>
              <a:rPr lang="en-US" sz="1600" b="0" i="0" u="none" strike="noStrike" cap="none" dirty="0">
                <a:solidFill>
                  <a:schemeClr val="accent2"/>
                </a:solidFill>
                <a:latin typeface="Calibri" panose="020F0502020204030204" pitchFamily="34" charset="0"/>
                <a:cs typeface="Calibri" panose="020F0502020204030204" pitchFamily="34" charset="0"/>
                <a:sym typeface="Arial"/>
              </a:rPr>
              <a:t>Consent for photographs</a:t>
            </a:r>
          </a:p>
          <a:p>
            <a:pPr marL="323850" indent="-285750">
              <a:buClrTx/>
              <a:buSzPct val="100000"/>
              <a:buFont typeface="Arial" panose="020B0604020202020204" pitchFamily="34" charset="0"/>
              <a:buChar char="•"/>
            </a:pPr>
            <a:r>
              <a:rPr lang="en-US" sz="1600" b="0" i="0" u="none" strike="noStrike" cap="none" dirty="0">
                <a:solidFill>
                  <a:schemeClr val="accent2"/>
                </a:solidFill>
                <a:latin typeface="Calibri" panose="020F0502020204030204" pitchFamily="34" charset="0"/>
                <a:cs typeface="Calibri" panose="020F0502020204030204" pitchFamily="34" charset="0"/>
                <a:sym typeface="Arial"/>
              </a:rPr>
              <a:t>CCTV policies and best practice</a:t>
            </a:r>
          </a:p>
          <a:p>
            <a:pPr marL="323850" indent="-285750">
              <a:buClrTx/>
              <a:buSzPct val="100000"/>
              <a:buFont typeface="Arial" panose="020B0604020202020204" pitchFamily="34" charset="0"/>
              <a:buChar char="•"/>
            </a:pPr>
            <a:r>
              <a:rPr lang="en-US" sz="1600" b="0" i="0" u="none" strike="noStrike" cap="none" dirty="0">
                <a:solidFill>
                  <a:schemeClr val="accent2"/>
                </a:solidFill>
                <a:latin typeface="Calibri" panose="020F0502020204030204" pitchFamily="34" charset="0"/>
                <a:cs typeface="Calibri" panose="020F0502020204030204" pitchFamily="34" charset="0"/>
                <a:sym typeface="Arial"/>
              </a:rPr>
              <a:t>Email - content and cc’ing too many people</a:t>
            </a:r>
          </a:p>
          <a:p>
            <a:pPr marL="323850" indent="-285750">
              <a:buClrTx/>
              <a:buSzPct val="100000"/>
              <a:buFont typeface="Arial" panose="020B0604020202020204" pitchFamily="34" charset="0"/>
              <a:buChar char="•"/>
            </a:pPr>
            <a:r>
              <a:rPr lang="en-US" sz="1600" b="0" i="0" u="none" strike="noStrike" cap="none" dirty="0">
                <a:solidFill>
                  <a:schemeClr val="accent2"/>
                </a:solidFill>
                <a:latin typeface="Calibri" panose="020F0502020204030204" pitchFamily="34" charset="0"/>
                <a:cs typeface="Calibri" panose="020F0502020204030204" pitchFamily="34" charset="0"/>
                <a:sym typeface="Arial"/>
              </a:rPr>
              <a:t>Not enough use of encrypted email where appropriate</a:t>
            </a:r>
          </a:p>
          <a:p>
            <a:pPr marL="323850" indent="-285750">
              <a:buClrTx/>
              <a:buSzPct val="100000"/>
              <a:buFont typeface="Arial" panose="020B0604020202020204" pitchFamily="34" charset="0"/>
              <a:buChar char="•"/>
            </a:pPr>
            <a:r>
              <a:rPr lang="en-US" sz="1600" b="0" i="0" u="none" strike="noStrike" cap="none" dirty="0">
                <a:solidFill>
                  <a:schemeClr val="accent2"/>
                </a:solidFill>
                <a:latin typeface="Calibri" panose="020F0502020204030204" pitchFamily="34" charset="0"/>
                <a:cs typeface="Calibri" panose="020F0502020204030204" pitchFamily="34" charset="0"/>
                <a:sym typeface="Arial"/>
              </a:rPr>
              <a:t>Weak passwords / </a:t>
            </a:r>
            <a:r>
              <a:rPr lang="en-US" sz="1600" b="0" i="0" u="sng" strike="noStrike" cap="none" dirty="0">
                <a:solidFill>
                  <a:schemeClr val="accent2"/>
                </a:solidFill>
                <a:latin typeface="Calibri" panose="020F0502020204030204" pitchFamily="34" charset="0"/>
                <a:cs typeface="Calibri" panose="020F0502020204030204" pitchFamily="34" charset="0"/>
                <a:sym typeface="Arial"/>
                <a:hlinkClick r:id="rId3">
                  <a:extLst>
                    <a:ext uri="{A12FA001-AC4F-418D-AE19-62706E023703}">
                      <ahyp:hlinkClr xmlns:ahyp="http://schemas.microsoft.com/office/drawing/2018/hyperlinkcolor" val="tx"/>
                    </a:ext>
                  </a:extLst>
                </a:hlinkClick>
              </a:rPr>
              <a:t>not changed regularly</a:t>
            </a:r>
            <a:endParaRPr lang="en-US" sz="1600" dirty="0">
              <a:solidFill>
                <a:schemeClr val="accent2"/>
              </a:solidFill>
              <a:latin typeface="Calibri" panose="020F0502020204030204" pitchFamily="34" charset="0"/>
              <a:cs typeface="Calibri" panose="020F0502020204030204" pitchFamily="34" charset="0"/>
            </a:endParaRPr>
          </a:p>
          <a:p>
            <a:pPr marL="323850" indent="-285750">
              <a:buClrTx/>
              <a:buSzPct val="100000"/>
              <a:buFont typeface="Arial" panose="020B0604020202020204" pitchFamily="34" charset="0"/>
              <a:buChar char="•"/>
            </a:pPr>
            <a:r>
              <a:rPr lang="en-US" sz="1600" b="0" i="0" u="none" strike="noStrike" cap="none" dirty="0">
                <a:solidFill>
                  <a:schemeClr val="accent2"/>
                </a:solidFill>
                <a:latin typeface="Calibri" panose="020F0502020204030204" pitchFamily="34" charset="0"/>
                <a:cs typeface="Calibri" panose="020F0502020204030204" pitchFamily="34" charset="0"/>
                <a:sym typeface="Arial"/>
              </a:rPr>
              <a:t>Antivirus / firewalls / malware</a:t>
            </a:r>
          </a:p>
          <a:p>
            <a:pPr marL="323850" indent="-285750">
              <a:buClrTx/>
              <a:buSzPct val="100000"/>
              <a:buFont typeface="Arial" panose="020B0604020202020204" pitchFamily="34" charset="0"/>
              <a:buChar char="•"/>
            </a:pPr>
            <a:r>
              <a:rPr lang="en-US" sz="1600" b="0" i="0" u="none" strike="noStrike" cap="none" dirty="0">
                <a:solidFill>
                  <a:schemeClr val="accent2"/>
                </a:solidFill>
                <a:latin typeface="Calibri" panose="020F0502020204030204" pitchFamily="34" charset="0"/>
                <a:cs typeface="Calibri" panose="020F0502020204030204" pitchFamily="34" charset="0"/>
                <a:sym typeface="Arial"/>
              </a:rPr>
              <a:t>Secure disposal </a:t>
            </a:r>
          </a:p>
          <a:p>
            <a:pPr marL="323850" indent="-285750">
              <a:buClrTx/>
              <a:buSzPct val="100000"/>
              <a:buFont typeface="Arial" panose="020B0604020202020204" pitchFamily="34" charset="0"/>
              <a:buChar char="•"/>
            </a:pPr>
            <a:r>
              <a:rPr lang="en-US" sz="1600" b="0" i="0" u="none" strike="noStrike" cap="none" dirty="0">
                <a:solidFill>
                  <a:schemeClr val="accent2"/>
                </a:solidFill>
                <a:latin typeface="Calibri" panose="020F0502020204030204" pitchFamily="34" charset="0"/>
                <a:cs typeface="Calibri" panose="020F0502020204030204" pitchFamily="34" charset="0"/>
                <a:sym typeface="Arial"/>
              </a:rPr>
              <a:t>Offsite data handling &amp; bring-your-own device</a:t>
            </a:r>
          </a:p>
          <a:p>
            <a:pPr marL="323850" indent="-285750">
              <a:buClrTx/>
              <a:buSzPct val="100000"/>
              <a:buFont typeface="Arial" panose="020B0604020202020204" pitchFamily="34" charset="0"/>
              <a:buChar char="•"/>
            </a:pPr>
            <a:r>
              <a:rPr lang="en-US" sz="1600" b="0" i="0" u="none" strike="noStrike" cap="none" dirty="0">
                <a:solidFill>
                  <a:schemeClr val="accent2"/>
                </a:solidFill>
                <a:latin typeface="Calibri" panose="020F0502020204030204" pitchFamily="34" charset="0"/>
                <a:cs typeface="Calibri" panose="020F0502020204030204" pitchFamily="34" charset="0"/>
                <a:sym typeface="Arial"/>
              </a:rPr>
              <a:t>Secure paper storage</a:t>
            </a:r>
          </a:p>
          <a:p>
            <a:pPr marL="323850" indent="-285750">
              <a:buClrTx/>
              <a:buSzPct val="100000"/>
              <a:buFont typeface="Arial" panose="020B0604020202020204" pitchFamily="34" charset="0"/>
              <a:buChar char="•"/>
            </a:pPr>
            <a:endParaRPr lang="en-US" sz="1800" b="0" i="0" u="none" strike="noStrike" cap="none" dirty="0">
              <a:solidFill>
                <a:schemeClr val="accent2"/>
              </a:solidFill>
              <a:latin typeface="Calibri" panose="020F0502020204030204" pitchFamily="34" charset="0"/>
              <a:cs typeface="Calibri" panose="020F0502020204030204" pitchFamily="34" charset="0"/>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Shape 251"/>
          <p:cNvSpPr txBox="1"/>
          <p:nvPr/>
        </p:nvSpPr>
        <p:spPr>
          <a:xfrm>
            <a:off x="207483" y="203534"/>
            <a:ext cx="7705200" cy="708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A5A5A5"/>
              </a:buClr>
              <a:buSzPts val="1000"/>
              <a:buFont typeface="Arial"/>
              <a:buNone/>
            </a:pPr>
            <a:r>
              <a:rPr lang="en-US" sz="3200" b="1" i="0" u="none" strike="noStrike" cap="none" dirty="0">
                <a:solidFill>
                  <a:schemeClr val="accent2"/>
                </a:solidFill>
                <a:latin typeface="Calibri"/>
                <a:ea typeface="Calibri"/>
                <a:cs typeface="Calibri"/>
                <a:sym typeface="Calibri"/>
              </a:rPr>
              <a:t>Subject Access Requests</a:t>
            </a:r>
            <a:endParaRPr sz="3200" b="0" i="0" u="none" strike="noStrike" cap="none" dirty="0">
              <a:solidFill>
                <a:schemeClr val="accent2"/>
              </a:solidFill>
              <a:latin typeface="Arial"/>
              <a:ea typeface="Arial"/>
              <a:cs typeface="Arial"/>
              <a:sym typeface="Arial"/>
            </a:endParaRPr>
          </a:p>
        </p:txBody>
      </p:sp>
      <p:pic>
        <p:nvPicPr>
          <p:cNvPr id="252" name="Shape 252"/>
          <p:cNvPicPr preferRelativeResize="0"/>
          <p:nvPr/>
        </p:nvPicPr>
        <p:blipFill rotWithShape="1">
          <a:blip r:embed="rId3">
            <a:alphaModFix/>
          </a:blip>
          <a:srcRect/>
          <a:stretch/>
        </p:blipFill>
        <p:spPr>
          <a:xfrm>
            <a:off x="343716" y="853692"/>
            <a:ext cx="2551504" cy="1839985"/>
          </a:xfrm>
          <a:prstGeom prst="rect">
            <a:avLst/>
          </a:prstGeom>
          <a:noFill/>
          <a:ln>
            <a:noFill/>
          </a:ln>
        </p:spPr>
      </p:pic>
      <p:sp>
        <p:nvSpPr>
          <p:cNvPr id="253" name="Shape 253"/>
          <p:cNvSpPr/>
          <p:nvPr/>
        </p:nvSpPr>
        <p:spPr>
          <a:xfrm>
            <a:off x="2895220" y="1009512"/>
            <a:ext cx="4455699" cy="30318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000000"/>
              </a:buClr>
              <a:buSzPts val="1800"/>
              <a:buFont typeface="+mj-lt"/>
              <a:buAutoNum type="arabicPeriod"/>
            </a:pPr>
            <a:r>
              <a:rPr lang="en-US" sz="1800" dirty="0" err="1">
                <a:solidFill>
                  <a:schemeClr val="accent2"/>
                </a:solidFill>
                <a:latin typeface="Calibri"/>
                <a:ea typeface="Calibri"/>
                <a:cs typeface="Calibri"/>
                <a:sym typeface="Calibri"/>
              </a:rPr>
              <a:t>Recognise</a:t>
            </a:r>
            <a:r>
              <a:rPr lang="en-US" sz="1800" dirty="0">
                <a:solidFill>
                  <a:schemeClr val="accent2"/>
                </a:solidFill>
                <a:latin typeface="Calibri"/>
                <a:ea typeface="Calibri"/>
                <a:cs typeface="Calibri"/>
                <a:sym typeface="Calibri"/>
              </a:rPr>
              <a:t> it as a SAR</a:t>
            </a:r>
          </a:p>
          <a:p>
            <a:pPr marL="342900" marR="0" lvl="0" indent="-342900" algn="l" rtl="0">
              <a:lnSpc>
                <a:spcPct val="100000"/>
              </a:lnSpc>
              <a:spcBef>
                <a:spcPts val="0"/>
              </a:spcBef>
              <a:spcAft>
                <a:spcPts val="0"/>
              </a:spcAft>
              <a:buClr>
                <a:srgbClr val="000000"/>
              </a:buClr>
              <a:buSzPts val="1800"/>
              <a:buFont typeface="+mj-lt"/>
              <a:buAutoNum type="arabicPeriod"/>
            </a:pPr>
            <a:r>
              <a:rPr lang="en-US" sz="1800" b="0" i="0" u="none" strike="noStrike" cap="none" dirty="0">
                <a:solidFill>
                  <a:schemeClr val="accent2"/>
                </a:solidFill>
                <a:latin typeface="Calibri"/>
                <a:cs typeface="Calibri"/>
                <a:sym typeface="Calibri"/>
              </a:rPr>
              <a:t>Validate identity and determine exactly what is required</a:t>
            </a:r>
          </a:p>
          <a:p>
            <a:pPr marL="342900" marR="0" lvl="0" indent="-342900" algn="l" rtl="0">
              <a:lnSpc>
                <a:spcPct val="100000"/>
              </a:lnSpc>
              <a:spcBef>
                <a:spcPts val="0"/>
              </a:spcBef>
              <a:spcAft>
                <a:spcPts val="0"/>
              </a:spcAft>
              <a:buClr>
                <a:srgbClr val="000000"/>
              </a:buClr>
              <a:buSzPts val="1800"/>
              <a:buFont typeface="+mj-lt"/>
              <a:buAutoNum type="arabicPeriod"/>
            </a:pPr>
            <a:r>
              <a:rPr lang="en-US" sz="1800" dirty="0">
                <a:solidFill>
                  <a:schemeClr val="accent2"/>
                </a:solidFill>
                <a:latin typeface="Calibri"/>
                <a:ea typeface="Arial"/>
                <a:cs typeface="Calibri"/>
                <a:sym typeface="Calibri"/>
              </a:rPr>
              <a:t>Inform your </a:t>
            </a:r>
            <a:r>
              <a:rPr lang="en-US" sz="1800" dirty="0" err="1">
                <a:solidFill>
                  <a:schemeClr val="accent2"/>
                </a:solidFill>
                <a:latin typeface="Calibri"/>
                <a:ea typeface="Arial"/>
                <a:cs typeface="Calibri"/>
                <a:sym typeface="Calibri"/>
              </a:rPr>
              <a:t>DPO</a:t>
            </a:r>
            <a:r>
              <a:rPr lang="en-US" sz="1800" dirty="0">
                <a:solidFill>
                  <a:schemeClr val="accent2"/>
                </a:solidFill>
                <a:latin typeface="Calibri"/>
                <a:ea typeface="Arial"/>
                <a:cs typeface="Calibri"/>
                <a:sym typeface="Calibri"/>
              </a:rPr>
              <a:t>/log the SAR</a:t>
            </a:r>
          </a:p>
          <a:p>
            <a:pPr marL="342900" marR="0" lvl="0" indent="-342900" algn="l" rtl="0">
              <a:lnSpc>
                <a:spcPct val="100000"/>
              </a:lnSpc>
              <a:spcBef>
                <a:spcPts val="0"/>
              </a:spcBef>
              <a:spcAft>
                <a:spcPts val="0"/>
              </a:spcAft>
              <a:buClr>
                <a:srgbClr val="000000"/>
              </a:buClr>
              <a:buSzPts val="1800"/>
              <a:buFont typeface="+mj-lt"/>
              <a:buAutoNum type="arabicPeriod"/>
            </a:pPr>
            <a:r>
              <a:rPr lang="en-US" sz="1800" b="0" i="0" u="none" strike="noStrike" cap="none" dirty="0">
                <a:solidFill>
                  <a:schemeClr val="accent2"/>
                </a:solidFill>
                <a:latin typeface="Calibri"/>
                <a:cs typeface="Calibri"/>
                <a:sym typeface="Calibri"/>
              </a:rPr>
              <a:t>Plan and compl</a:t>
            </a:r>
            <a:r>
              <a:rPr lang="en-US" sz="1800" dirty="0">
                <a:solidFill>
                  <a:schemeClr val="accent2"/>
                </a:solidFill>
                <a:latin typeface="Calibri"/>
                <a:cs typeface="Calibri"/>
                <a:sym typeface="Calibri"/>
              </a:rPr>
              <a:t>ete </a:t>
            </a:r>
            <a:r>
              <a:rPr lang="en-US" sz="1800" b="0" i="0" u="none" strike="noStrike" cap="none" dirty="0">
                <a:solidFill>
                  <a:schemeClr val="accent2"/>
                </a:solidFill>
                <a:latin typeface="Calibri"/>
                <a:cs typeface="Calibri"/>
                <a:sym typeface="Calibri"/>
              </a:rPr>
              <a:t>collection and redaction of data</a:t>
            </a:r>
          </a:p>
          <a:p>
            <a:pPr marL="342900" marR="0" lvl="0" indent="-342900" algn="l" rtl="0">
              <a:lnSpc>
                <a:spcPct val="100000"/>
              </a:lnSpc>
              <a:spcBef>
                <a:spcPts val="0"/>
              </a:spcBef>
              <a:spcAft>
                <a:spcPts val="0"/>
              </a:spcAft>
              <a:buClr>
                <a:srgbClr val="000000"/>
              </a:buClr>
              <a:buSzPts val="1800"/>
              <a:buFont typeface="+mj-lt"/>
              <a:buAutoNum type="arabicPeriod"/>
            </a:pPr>
            <a:r>
              <a:rPr lang="en-US" sz="1800" dirty="0">
                <a:solidFill>
                  <a:schemeClr val="accent2"/>
                </a:solidFill>
                <a:latin typeface="Calibri"/>
                <a:ea typeface="Arial"/>
                <a:cs typeface="Calibri"/>
                <a:sym typeface="Calibri"/>
              </a:rPr>
              <a:t>Use the DPE response letter (if appropriate)</a:t>
            </a:r>
          </a:p>
          <a:p>
            <a:pPr marL="342900" marR="0" lvl="0" indent="-342900" algn="l" rtl="0">
              <a:lnSpc>
                <a:spcPct val="100000"/>
              </a:lnSpc>
              <a:spcBef>
                <a:spcPts val="0"/>
              </a:spcBef>
              <a:spcAft>
                <a:spcPts val="0"/>
              </a:spcAft>
              <a:buClr>
                <a:srgbClr val="000000"/>
              </a:buClr>
              <a:buSzPts val="1800"/>
              <a:buFont typeface="+mj-lt"/>
              <a:buAutoNum type="arabicPeriod"/>
            </a:pPr>
            <a:r>
              <a:rPr lang="en-US" sz="1800" dirty="0">
                <a:solidFill>
                  <a:schemeClr val="accent2"/>
                </a:solidFill>
                <a:latin typeface="Calibri"/>
                <a:cs typeface="Calibri"/>
                <a:sym typeface="Calibri"/>
              </a:rPr>
              <a:t>SEND information</a:t>
            </a:r>
          </a:p>
          <a:p>
            <a:pPr marL="342900" marR="0" lvl="0" indent="-342900" algn="l" rtl="0">
              <a:lnSpc>
                <a:spcPct val="100000"/>
              </a:lnSpc>
              <a:spcBef>
                <a:spcPts val="0"/>
              </a:spcBef>
              <a:spcAft>
                <a:spcPts val="0"/>
              </a:spcAft>
              <a:buClr>
                <a:srgbClr val="000000"/>
              </a:buClr>
              <a:buSzPts val="1800"/>
              <a:buFont typeface="+mj-lt"/>
              <a:buAutoNum type="arabicPeriod"/>
            </a:pPr>
            <a:r>
              <a:rPr lang="en-US" sz="1800" dirty="0">
                <a:solidFill>
                  <a:schemeClr val="accent2"/>
                </a:solidFill>
                <a:latin typeface="Calibri"/>
                <a:ea typeface="Arial"/>
                <a:cs typeface="Calibri"/>
                <a:sym typeface="Calibri"/>
              </a:rPr>
              <a:t>Keep a copy of what was sent</a:t>
            </a:r>
          </a:p>
          <a:p>
            <a:pPr marL="0" marR="0" lvl="0" indent="0" algn="l" rtl="0">
              <a:lnSpc>
                <a:spcPct val="100000"/>
              </a:lnSpc>
              <a:spcBef>
                <a:spcPts val="0"/>
              </a:spcBef>
              <a:spcAft>
                <a:spcPts val="0"/>
              </a:spcAft>
              <a:buClr>
                <a:srgbClr val="000000"/>
              </a:buClr>
              <a:buSzPts val="1800"/>
              <a:buFont typeface="Calibri"/>
              <a:buNone/>
            </a:pPr>
            <a:endParaRPr lang="en-US" sz="1800" b="0" i="0" u="none" strike="noStrike" cap="none" dirty="0">
              <a:solidFill>
                <a:srgbClr val="FF0000"/>
              </a:solidFill>
              <a:latin typeface="Arial"/>
              <a:ea typeface="Arial"/>
              <a:cs typeface="Arial"/>
            </a:endParaRPr>
          </a:p>
          <a:p>
            <a:pPr marL="342900" marR="0" lvl="0" indent="-342900" algn="l" rtl="0">
              <a:lnSpc>
                <a:spcPct val="100000"/>
              </a:lnSpc>
              <a:spcBef>
                <a:spcPts val="0"/>
              </a:spcBef>
              <a:spcAft>
                <a:spcPts val="0"/>
              </a:spcAft>
              <a:buClr>
                <a:srgbClr val="000000"/>
              </a:buClr>
              <a:buSzPts val="1800"/>
              <a:buFont typeface="Arial"/>
              <a:buNone/>
            </a:pPr>
            <a:r>
              <a:rPr lang="en-US" sz="2000" b="1" dirty="0">
                <a:solidFill>
                  <a:srgbClr val="7030A0"/>
                </a:solidFill>
                <a:latin typeface="Calibri"/>
                <a:ea typeface="Calibri"/>
                <a:cs typeface="Calibri"/>
              </a:rPr>
              <a:t>You would n</a:t>
            </a:r>
            <a:r>
              <a:rPr lang="en-US" sz="2000" b="1" i="0" u="none" strike="noStrike" cap="none" dirty="0">
                <a:solidFill>
                  <a:srgbClr val="7030A0"/>
                </a:solidFill>
                <a:latin typeface="Calibri"/>
                <a:ea typeface="Calibri"/>
                <a:cs typeface="Calibri"/>
              </a:rPr>
              <a:t>ormally have 1 month to respond to a SAR</a:t>
            </a:r>
            <a:endParaRPr sz="2000" b="1" i="0" u="none" strike="noStrike" cap="none" dirty="0">
              <a:solidFill>
                <a:srgbClr val="7030A0"/>
              </a:solidFill>
              <a:latin typeface="Calibri"/>
              <a:ea typeface="Calibri"/>
              <a:cs typeface="Calibri"/>
            </a:endParaRPr>
          </a:p>
        </p:txBody>
      </p:sp>
    </p:spTree>
    <p:extLst>
      <p:ext uri="{BB962C8B-B14F-4D97-AF65-F5344CB8AC3E}">
        <p14:creationId xmlns:p14="http://schemas.microsoft.com/office/powerpoint/2010/main" val="29135745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90">
            <a:extLst>
              <a:ext uri="{FF2B5EF4-FFF2-40B4-BE49-F238E27FC236}">
                <a16:creationId xmlns:a16="http://schemas.microsoft.com/office/drawing/2014/main" id="{F2EE1B9F-7B32-405F-B7DE-5DFBFFB06A6C}"/>
              </a:ext>
            </a:extLst>
          </p:cNvPr>
          <p:cNvSpPr txBox="1"/>
          <p:nvPr/>
        </p:nvSpPr>
        <p:spPr>
          <a:xfrm>
            <a:off x="556593" y="650790"/>
            <a:ext cx="7642271" cy="223072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A5A5A5"/>
              </a:buClr>
              <a:buSzPts val="1000"/>
              <a:buFont typeface="Arial"/>
              <a:buNone/>
            </a:pPr>
            <a:r>
              <a:rPr lang="en-US" sz="4000" b="1" i="0" u="none" strike="noStrike" cap="none" dirty="0">
                <a:solidFill>
                  <a:schemeClr val="accent2"/>
                </a:solidFill>
                <a:latin typeface="Calibri"/>
                <a:ea typeface="Calibri"/>
                <a:cs typeface="Calibri"/>
                <a:sym typeface="Calibri"/>
              </a:rPr>
              <a:t>Quiz:</a:t>
            </a:r>
          </a:p>
          <a:p>
            <a:pPr marL="0" marR="0" lvl="0" indent="0" algn="l" rtl="0">
              <a:lnSpc>
                <a:spcPct val="100000"/>
              </a:lnSpc>
              <a:spcBef>
                <a:spcPts val="0"/>
              </a:spcBef>
              <a:spcAft>
                <a:spcPts val="0"/>
              </a:spcAft>
              <a:buClr>
                <a:srgbClr val="A5A5A5"/>
              </a:buClr>
              <a:buSzPts val="1000"/>
              <a:buFont typeface="Arial"/>
              <a:buNone/>
            </a:pPr>
            <a:r>
              <a:rPr lang="en-US" sz="1600" b="1" dirty="0">
                <a:solidFill>
                  <a:schemeClr val="accent2"/>
                </a:solidFill>
                <a:latin typeface="Calibri"/>
                <a:cs typeface="Calibri"/>
                <a:sym typeface="Calibri"/>
              </a:rPr>
              <a:t>Is a processor an </a:t>
            </a:r>
            <a:r>
              <a:rPr lang="en-US" sz="1600" b="1" dirty="0" err="1">
                <a:solidFill>
                  <a:schemeClr val="accent2"/>
                </a:solidFill>
                <a:latin typeface="Calibri"/>
                <a:cs typeface="Calibri"/>
                <a:sym typeface="Calibri"/>
              </a:rPr>
              <a:t>organisation</a:t>
            </a:r>
            <a:r>
              <a:rPr lang="en-US" sz="1600" b="1" dirty="0">
                <a:solidFill>
                  <a:schemeClr val="accent2"/>
                </a:solidFill>
                <a:latin typeface="Calibri"/>
                <a:cs typeface="Calibri"/>
                <a:sym typeface="Calibri"/>
              </a:rPr>
              <a:t> or a person?</a:t>
            </a:r>
          </a:p>
          <a:p>
            <a:pPr marL="0" marR="0" lvl="0" indent="0" algn="l" rtl="0">
              <a:lnSpc>
                <a:spcPct val="100000"/>
              </a:lnSpc>
              <a:spcBef>
                <a:spcPts val="0"/>
              </a:spcBef>
              <a:spcAft>
                <a:spcPts val="0"/>
              </a:spcAft>
              <a:buClr>
                <a:srgbClr val="A5A5A5"/>
              </a:buClr>
              <a:buSzPts val="1000"/>
              <a:buFont typeface="Arial"/>
              <a:buNone/>
            </a:pPr>
            <a:r>
              <a:rPr lang="en-US" sz="1600" b="1" i="0" u="none" strike="noStrike" cap="none" dirty="0">
                <a:solidFill>
                  <a:schemeClr val="accent2"/>
                </a:solidFill>
                <a:latin typeface="Calibri"/>
                <a:ea typeface="Arial"/>
                <a:cs typeface="Calibri"/>
                <a:sym typeface="Calibri"/>
              </a:rPr>
              <a:t>What is the time limit to report a serious data breach to the </a:t>
            </a:r>
            <a:r>
              <a:rPr lang="en-US" sz="1600" b="1" i="0" u="none" strike="noStrike" cap="none" dirty="0" err="1">
                <a:solidFill>
                  <a:schemeClr val="accent2"/>
                </a:solidFill>
                <a:latin typeface="Calibri"/>
                <a:ea typeface="Arial"/>
                <a:cs typeface="Calibri"/>
                <a:sym typeface="Calibri"/>
              </a:rPr>
              <a:t>ICO</a:t>
            </a:r>
            <a:r>
              <a:rPr lang="en-US" sz="1600" b="1" i="0" u="none" strike="noStrike" cap="none" dirty="0">
                <a:solidFill>
                  <a:schemeClr val="accent2"/>
                </a:solidFill>
                <a:latin typeface="Calibri"/>
                <a:ea typeface="Arial"/>
                <a:cs typeface="Calibri"/>
                <a:sym typeface="Calibri"/>
              </a:rPr>
              <a:t>?</a:t>
            </a:r>
          </a:p>
          <a:p>
            <a:pPr marL="0" marR="0" lvl="0" indent="0" algn="l" rtl="0">
              <a:lnSpc>
                <a:spcPct val="100000"/>
              </a:lnSpc>
              <a:spcBef>
                <a:spcPts val="0"/>
              </a:spcBef>
              <a:spcAft>
                <a:spcPts val="0"/>
              </a:spcAft>
              <a:buClr>
                <a:srgbClr val="A5A5A5"/>
              </a:buClr>
              <a:buSzPts val="1000"/>
              <a:buFont typeface="Arial"/>
              <a:buNone/>
            </a:pPr>
            <a:r>
              <a:rPr lang="en-US" sz="1600" b="1" dirty="0">
                <a:solidFill>
                  <a:schemeClr val="accent2"/>
                </a:solidFill>
                <a:latin typeface="Calibri"/>
                <a:cs typeface="Calibri"/>
                <a:sym typeface="Calibri"/>
              </a:rPr>
              <a:t>What is the first step to take when a data breach has been identified: </a:t>
            </a:r>
          </a:p>
          <a:p>
            <a:pPr marL="342900" marR="0" lvl="0" indent="-342900" algn="l" rtl="0">
              <a:lnSpc>
                <a:spcPct val="100000"/>
              </a:lnSpc>
              <a:spcBef>
                <a:spcPts val="0"/>
              </a:spcBef>
              <a:spcAft>
                <a:spcPts val="0"/>
              </a:spcAft>
              <a:buClr>
                <a:srgbClr val="A5A5A5"/>
              </a:buClr>
              <a:buSzPts val="1000"/>
              <a:buFont typeface="+mj-lt"/>
              <a:buAutoNum type="arabicPeriod"/>
            </a:pPr>
            <a:r>
              <a:rPr lang="en-US" sz="1600" b="1" i="0" u="none" strike="noStrike" cap="none" dirty="0">
                <a:solidFill>
                  <a:schemeClr val="accent2"/>
                </a:solidFill>
                <a:latin typeface="Calibri"/>
                <a:ea typeface="Arial"/>
                <a:cs typeface="Calibri"/>
                <a:sym typeface="Calibri"/>
              </a:rPr>
              <a:t>Log it</a:t>
            </a:r>
          </a:p>
          <a:p>
            <a:pPr marL="342900" marR="0" lvl="0" indent="-342900" algn="l" rtl="0">
              <a:lnSpc>
                <a:spcPct val="100000"/>
              </a:lnSpc>
              <a:spcBef>
                <a:spcPts val="0"/>
              </a:spcBef>
              <a:spcAft>
                <a:spcPts val="0"/>
              </a:spcAft>
              <a:buClr>
                <a:srgbClr val="A5A5A5"/>
              </a:buClr>
              <a:buSzPts val="1000"/>
              <a:buFont typeface="+mj-lt"/>
              <a:buAutoNum type="arabicPeriod"/>
            </a:pPr>
            <a:r>
              <a:rPr lang="en-US" sz="1600" b="1" i="0" u="none" strike="noStrike" cap="none" dirty="0">
                <a:solidFill>
                  <a:schemeClr val="accent2"/>
                </a:solidFill>
                <a:latin typeface="Calibri"/>
                <a:ea typeface="Arial"/>
                <a:cs typeface="Calibri"/>
                <a:sym typeface="Calibri"/>
              </a:rPr>
              <a:t>Hide it</a:t>
            </a:r>
          </a:p>
          <a:p>
            <a:pPr marL="342900" marR="0" lvl="0" indent="-342900" algn="l" rtl="0">
              <a:lnSpc>
                <a:spcPct val="100000"/>
              </a:lnSpc>
              <a:spcBef>
                <a:spcPts val="0"/>
              </a:spcBef>
              <a:spcAft>
                <a:spcPts val="0"/>
              </a:spcAft>
              <a:buClr>
                <a:srgbClr val="A5A5A5"/>
              </a:buClr>
              <a:buSzPts val="1000"/>
              <a:buFont typeface="+mj-lt"/>
              <a:buAutoNum type="arabicPeriod"/>
            </a:pPr>
            <a:r>
              <a:rPr lang="en-US" sz="1600" b="1" dirty="0">
                <a:solidFill>
                  <a:schemeClr val="accent2"/>
                </a:solidFill>
                <a:latin typeface="Calibri"/>
                <a:cs typeface="Calibri"/>
                <a:sym typeface="Calibri"/>
              </a:rPr>
              <a:t>Report it</a:t>
            </a:r>
          </a:p>
          <a:p>
            <a:pPr marL="0" marR="0" lvl="0" indent="0" algn="l" rtl="0">
              <a:lnSpc>
                <a:spcPct val="100000"/>
              </a:lnSpc>
              <a:spcBef>
                <a:spcPts val="0"/>
              </a:spcBef>
              <a:spcAft>
                <a:spcPts val="0"/>
              </a:spcAft>
              <a:buClr>
                <a:srgbClr val="A5A5A5"/>
              </a:buClr>
              <a:buSzPts val="1000"/>
              <a:buFont typeface="Arial"/>
              <a:buNone/>
            </a:pPr>
            <a:endParaRPr lang="en-US" sz="1600" b="1" i="0" u="none" strike="noStrike" cap="none" dirty="0">
              <a:solidFill>
                <a:schemeClr val="accent2"/>
              </a:solidFill>
              <a:latin typeface="Calibri"/>
              <a:ea typeface="Arial"/>
              <a:cs typeface="Calibri"/>
              <a:sym typeface="Calibri"/>
            </a:endParaRPr>
          </a:p>
          <a:p>
            <a:pPr marL="0" marR="0" lvl="0" indent="0" algn="l" rtl="0">
              <a:lnSpc>
                <a:spcPct val="100000"/>
              </a:lnSpc>
              <a:spcBef>
                <a:spcPts val="0"/>
              </a:spcBef>
              <a:spcAft>
                <a:spcPts val="0"/>
              </a:spcAft>
              <a:buClr>
                <a:srgbClr val="A5A5A5"/>
              </a:buClr>
              <a:buSzPts val="1000"/>
              <a:buFont typeface="Arial"/>
              <a:buNone/>
            </a:pPr>
            <a:r>
              <a:rPr lang="en-US" sz="1600" b="1" dirty="0">
                <a:solidFill>
                  <a:schemeClr val="accent2"/>
                </a:solidFill>
                <a:latin typeface="Calibri"/>
                <a:cs typeface="Calibri"/>
                <a:sym typeface="Calibri"/>
              </a:rPr>
              <a:t>How many lawful basis are there?</a:t>
            </a:r>
          </a:p>
          <a:p>
            <a:pPr marL="0" marR="0" lvl="0" indent="0" algn="l" rtl="0">
              <a:lnSpc>
                <a:spcPct val="100000"/>
              </a:lnSpc>
              <a:spcBef>
                <a:spcPts val="0"/>
              </a:spcBef>
              <a:spcAft>
                <a:spcPts val="0"/>
              </a:spcAft>
              <a:buClr>
                <a:srgbClr val="A5A5A5"/>
              </a:buClr>
              <a:buSzPts val="1000"/>
              <a:buFont typeface="Arial"/>
              <a:buNone/>
            </a:pPr>
            <a:r>
              <a:rPr lang="en-US" sz="1600" b="1" i="0" u="none" strike="noStrike" cap="none" dirty="0">
                <a:solidFill>
                  <a:schemeClr val="accent2"/>
                </a:solidFill>
                <a:latin typeface="Calibri"/>
                <a:ea typeface="Arial"/>
                <a:cs typeface="Calibri"/>
                <a:sym typeface="Calibri"/>
              </a:rPr>
              <a:t>What is the lawful basis used most in schools for processing data:</a:t>
            </a:r>
          </a:p>
          <a:p>
            <a:pPr marL="342900" marR="0" lvl="0" indent="-342900" algn="l" rtl="0">
              <a:lnSpc>
                <a:spcPct val="100000"/>
              </a:lnSpc>
              <a:spcBef>
                <a:spcPts val="0"/>
              </a:spcBef>
              <a:spcAft>
                <a:spcPts val="0"/>
              </a:spcAft>
              <a:buClr>
                <a:srgbClr val="A5A5A5"/>
              </a:buClr>
              <a:buSzPts val="1000"/>
              <a:buFont typeface="+mj-lt"/>
              <a:buAutoNum type="arabicPeriod"/>
            </a:pPr>
            <a:r>
              <a:rPr lang="en-US" sz="1600" b="1" dirty="0">
                <a:solidFill>
                  <a:schemeClr val="accent2"/>
                </a:solidFill>
                <a:latin typeface="Calibri"/>
                <a:cs typeface="Calibri"/>
                <a:sym typeface="Calibri"/>
              </a:rPr>
              <a:t>Consent</a:t>
            </a:r>
          </a:p>
          <a:p>
            <a:pPr marL="342900" marR="0" lvl="0" indent="-342900" algn="l" rtl="0">
              <a:lnSpc>
                <a:spcPct val="100000"/>
              </a:lnSpc>
              <a:spcBef>
                <a:spcPts val="0"/>
              </a:spcBef>
              <a:spcAft>
                <a:spcPts val="0"/>
              </a:spcAft>
              <a:buClr>
                <a:srgbClr val="A5A5A5"/>
              </a:buClr>
              <a:buSzPts val="1000"/>
              <a:buFont typeface="+mj-lt"/>
              <a:buAutoNum type="arabicPeriod"/>
            </a:pPr>
            <a:r>
              <a:rPr lang="en-US" sz="1600" b="1" dirty="0">
                <a:solidFill>
                  <a:schemeClr val="accent2"/>
                </a:solidFill>
                <a:latin typeface="Calibri"/>
                <a:cs typeface="Calibri"/>
                <a:sym typeface="Calibri"/>
              </a:rPr>
              <a:t>Public task</a:t>
            </a:r>
          </a:p>
          <a:p>
            <a:pPr marL="342900" marR="0" lvl="0" indent="-342900" algn="l" rtl="0">
              <a:lnSpc>
                <a:spcPct val="100000"/>
              </a:lnSpc>
              <a:spcBef>
                <a:spcPts val="0"/>
              </a:spcBef>
              <a:spcAft>
                <a:spcPts val="0"/>
              </a:spcAft>
              <a:buClr>
                <a:srgbClr val="A5A5A5"/>
              </a:buClr>
              <a:buSzPts val="1000"/>
              <a:buFont typeface="+mj-lt"/>
              <a:buAutoNum type="arabicPeriod"/>
            </a:pPr>
            <a:r>
              <a:rPr lang="en-US" sz="1600" b="1" i="0" u="none" strike="noStrike" cap="none" dirty="0">
                <a:solidFill>
                  <a:schemeClr val="accent2"/>
                </a:solidFill>
                <a:latin typeface="Calibri"/>
                <a:ea typeface="Arial"/>
                <a:cs typeface="Calibri"/>
                <a:sym typeface="Calibri"/>
              </a:rPr>
              <a:t>Contractual </a:t>
            </a:r>
          </a:p>
          <a:p>
            <a:pPr marL="0" marR="0" lvl="0" indent="0" algn="l" rtl="0">
              <a:lnSpc>
                <a:spcPct val="100000"/>
              </a:lnSpc>
              <a:spcBef>
                <a:spcPts val="0"/>
              </a:spcBef>
              <a:spcAft>
                <a:spcPts val="0"/>
              </a:spcAft>
              <a:buClr>
                <a:srgbClr val="A5A5A5"/>
              </a:buClr>
              <a:buSzPts val="1000"/>
              <a:buFont typeface="Arial"/>
              <a:buNone/>
            </a:pPr>
            <a:endParaRPr lang="en-US" sz="1600" b="1" i="0" u="none" strike="noStrike" cap="none" dirty="0">
              <a:solidFill>
                <a:schemeClr val="accent2"/>
              </a:solidFill>
              <a:latin typeface="Calibri"/>
              <a:ea typeface="Arial"/>
              <a:cs typeface="Calibri"/>
              <a:sym typeface="Calibri"/>
            </a:endParaRPr>
          </a:p>
          <a:p>
            <a:pPr marL="0" marR="0" lvl="0" indent="0" algn="l" rtl="0">
              <a:lnSpc>
                <a:spcPct val="100000"/>
              </a:lnSpc>
              <a:spcBef>
                <a:spcPts val="0"/>
              </a:spcBef>
              <a:spcAft>
                <a:spcPts val="0"/>
              </a:spcAft>
              <a:buClr>
                <a:srgbClr val="A5A5A5"/>
              </a:buClr>
              <a:buSzPts val="1000"/>
              <a:buFont typeface="Arial"/>
              <a:buNone/>
            </a:pPr>
            <a:endParaRPr sz="1600" b="0" i="0" u="none" strike="noStrike" cap="none" dirty="0">
              <a:solidFill>
                <a:schemeClr val="accent2"/>
              </a:solidFill>
              <a:latin typeface="Arial"/>
              <a:ea typeface="Arial"/>
              <a:cs typeface="Arial"/>
              <a:sym typeface="Arial"/>
            </a:endParaRPr>
          </a:p>
        </p:txBody>
      </p:sp>
    </p:spTree>
    <p:extLst>
      <p:ext uri="{BB962C8B-B14F-4D97-AF65-F5344CB8AC3E}">
        <p14:creationId xmlns:p14="http://schemas.microsoft.com/office/powerpoint/2010/main" val="25214776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90">
            <a:extLst>
              <a:ext uri="{FF2B5EF4-FFF2-40B4-BE49-F238E27FC236}">
                <a16:creationId xmlns:a16="http://schemas.microsoft.com/office/drawing/2014/main" id="{F2EE1B9F-7B32-405F-B7DE-5DFBFFB06A6C}"/>
              </a:ext>
            </a:extLst>
          </p:cNvPr>
          <p:cNvSpPr txBox="1"/>
          <p:nvPr/>
        </p:nvSpPr>
        <p:spPr>
          <a:xfrm>
            <a:off x="848586" y="958084"/>
            <a:ext cx="5846412" cy="149238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A5A5A5"/>
              </a:buClr>
              <a:buSzPts val="1000"/>
              <a:buFont typeface="Arial"/>
              <a:buNone/>
            </a:pPr>
            <a:r>
              <a:rPr lang="en-US" sz="4000" b="1" i="0" u="none" strike="noStrike" cap="none" dirty="0">
                <a:solidFill>
                  <a:schemeClr val="accent2"/>
                </a:solidFill>
                <a:latin typeface="Calibri"/>
                <a:ea typeface="Calibri"/>
                <a:cs typeface="Calibri"/>
                <a:sym typeface="Calibri"/>
              </a:rPr>
              <a:t>The role of  core </a:t>
            </a:r>
            <a:r>
              <a:rPr lang="en-US" sz="4000" b="1" dirty="0">
                <a:solidFill>
                  <a:schemeClr val="accent2"/>
                </a:solidFill>
                <a:latin typeface="Calibri"/>
                <a:ea typeface="Calibri"/>
                <a:cs typeface="Calibri"/>
                <a:sym typeface="Calibri"/>
              </a:rPr>
              <a:t>staff and champions</a:t>
            </a:r>
            <a:endParaRPr sz="1400" b="0" i="0" u="none" strike="noStrike" cap="none" dirty="0">
              <a:solidFill>
                <a:schemeClr val="accent2"/>
              </a:solidFill>
              <a:latin typeface="Arial"/>
              <a:ea typeface="Arial"/>
              <a:cs typeface="Arial"/>
              <a:sym typeface="Arial"/>
            </a:endParaRPr>
          </a:p>
        </p:txBody>
      </p:sp>
    </p:spTree>
    <p:extLst>
      <p:ext uri="{BB962C8B-B14F-4D97-AF65-F5344CB8AC3E}">
        <p14:creationId xmlns:p14="http://schemas.microsoft.com/office/powerpoint/2010/main" val="11830321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pic>
        <p:nvPicPr>
          <p:cNvPr id="297" name="Shape 297" descr="A view of a mountain&#10;&#10;Description generated with very high confidence"/>
          <p:cNvPicPr preferRelativeResize="0"/>
          <p:nvPr/>
        </p:nvPicPr>
        <p:blipFill rotWithShape="1">
          <a:blip r:embed="rId3">
            <a:alphaModFix/>
          </a:blip>
          <a:srcRect/>
          <a:stretch/>
        </p:blipFill>
        <p:spPr>
          <a:xfrm>
            <a:off x="0" y="11430"/>
            <a:ext cx="9144000" cy="512064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90">
            <a:extLst>
              <a:ext uri="{FF2B5EF4-FFF2-40B4-BE49-F238E27FC236}">
                <a16:creationId xmlns:a16="http://schemas.microsoft.com/office/drawing/2014/main" id="{F2EE1B9F-7B32-405F-B7DE-5DFBFFB06A6C}"/>
              </a:ext>
            </a:extLst>
          </p:cNvPr>
          <p:cNvSpPr txBox="1"/>
          <p:nvPr/>
        </p:nvSpPr>
        <p:spPr>
          <a:xfrm>
            <a:off x="875481" y="1042147"/>
            <a:ext cx="7705200" cy="3638341"/>
          </a:xfrm>
          <a:prstGeom prst="rect">
            <a:avLst/>
          </a:prstGeom>
          <a:noFill/>
          <a:ln>
            <a:noFill/>
          </a:ln>
        </p:spPr>
        <p:txBody>
          <a:bodyPr spcFirstLastPara="1" wrap="square" lIns="91425" tIns="45700" rIns="91425" bIns="45700" anchor="t" anchorCtr="0">
            <a:noAutofit/>
          </a:bodyPr>
          <a:lstStyle/>
          <a:p>
            <a:pPr marL="285750" marR="0" lvl="0" indent="-285750" algn="l" rtl="0">
              <a:lnSpc>
                <a:spcPct val="100000"/>
              </a:lnSpc>
              <a:spcBef>
                <a:spcPts val="0"/>
              </a:spcBef>
              <a:spcAft>
                <a:spcPts val="0"/>
              </a:spcAft>
              <a:buClr>
                <a:srgbClr val="A5A5A5"/>
              </a:buClr>
              <a:buSzPts val="1000"/>
              <a:buFont typeface="Arial" panose="020B0604020202020204" pitchFamily="34" charset="0"/>
              <a:buChar char="•"/>
            </a:pPr>
            <a:endParaRPr lang="en-US" sz="1800" b="1" dirty="0">
              <a:latin typeface="Calibri"/>
              <a:cs typeface="Calibri"/>
              <a:sym typeface="Calibri"/>
            </a:endParaRPr>
          </a:p>
          <a:p>
            <a:pPr marL="285750" marR="0" lvl="0" indent="-285750" algn="l" rtl="0">
              <a:lnSpc>
                <a:spcPct val="100000"/>
              </a:lnSpc>
              <a:spcBef>
                <a:spcPts val="0"/>
              </a:spcBef>
              <a:spcAft>
                <a:spcPts val="0"/>
              </a:spcAft>
              <a:buClr>
                <a:srgbClr val="A5A5A5"/>
              </a:buClr>
              <a:buSzPts val="1000"/>
              <a:buFont typeface="Arial" panose="020B0604020202020204" pitchFamily="34" charset="0"/>
              <a:buChar char="•"/>
            </a:pPr>
            <a:endParaRPr lang="en-US" sz="1800" b="1" dirty="0">
              <a:latin typeface="Calibri"/>
              <a:cs typeface="Calibri"/>
              <a:sym typeface="Calibri"/>
            </a:endParaRPr>
          </a:p>
          <a:p>
            <a:pPr marL="285750" marR="0" lvl="0" indent="-285750" algn="l" rtl="0">
              <a:lnSpc>
                <a:spcPct val="100000"/>
              </a:lnSpc>
              <a:spcBef>
                <a:spcPts val="0"/>
              </a:spcBef>
              <a:spcAft>
                <a:spcPts val="0"/>
              </a:spcAft>
              <a:buClr>
                <a:srgbClr val="A5A5A5"/>
              </a:buClr>
              <a:buSzPts val="1000"/>
              <a:buFont typeface="Arial" panose="020B0604020202020204" pitchFamily="34" charset="0"/>
              <a:buChar char="•"/>
            </a:pPr>
            <a:endParaRPr lang="en-US" sz="1800" b="1" dirty="0">
              <a:latin typeface="Calibri"/>
              <a:cs typeface="Calibri"/>
              <a:sym typeface="Calibri"/>
            </a:endParaRPr>
          </a:p>
          <a:p>
            <a:pPr marL="285750" marR="0" lvl="0" indent="-285750" algn="l" rtl="0">
              <a:lnSpc>
                <a:spcPct val="100000"/>
              </a:lnSpc>
              <a:spcBef>
                <a:spcPts val="0"/>
              </a:spcBef>
              <a:spcAft>
                <a:spcPts val="0"/>
              </a:spcAft>
              <a:buClrTx/>
              <a:buSzPts val="1000"/>
              <a:buFont typeface="Wingdings" panose="05000000000000000000" pitchFamily="2" charset="2"/>
              <a:buChar char="§"/>
            </a:pPr>
            <a:r>
              <a:rPr lang="en-US" sz="1800" b="1" dirty="0">
                <a:solidFill>
                  <a:schemeClr val="accent2"/>
                </a:solidFill>
                <a:latin typeface="Calibri"/>
                <a:cs typeface="Calibri"/>
                <a:sym typeface="Calibri"/>
              </a:rPr>
              <a:t>Complete e-learning training</a:t>
            </a:r>
          </a:p>
          <a:p>
            <a:pPr marL="285750" marR="0" lvl="0" indent="-285750" algn="l" rtl="0">
              <a:lnSpc>
                <a:spcPct val="100000"/>
              </a:lnSpc>
              <a:spcBef>
                <a:spcPts val="0"/>
              </a:spcBef>
              <a:spcAft>
                <a:spcPts val="0"/>
              </a:spcAft>
              <a:buClrTx/>
              <a:buSzPts val="1000"/>
              <a:buFont typeface="Wingdings" panose="05000000000000000000" pitchFamily="2" charset="2"/>
              <a:buChar char="§"/>
            </a:pPr>
            <a:r>
              <a:rPr lang="en-US" sz="1800" b="1" i="0" u="none" strike="noStrike" cap="none" dirty="0" err="1">
                <a:solidFill>
                  <a:schemeClr val="accent2"/>
                </a:solidFill>
                <a:latin typeface="Calibri"/>
                <a:ea typeface="Arial"/>
                <a:cs typeface="Calibri"/>
                <a:sym typeface="Calibri"/>
              </a:rPr>
              <a:t>Familiarise</a:t>
            </a:r>
            <a:r>
              <a:rPr lang="en-US" sz="1800" b="1" i="0" u="none" strike="noStrike" cap="none" dirty="0">
                <a:solidFill>
                  <a:schemeClr val="accent2"/>
                </a:solidFill>
                <a:latin typeface="Calibri"/>
                <a:ea typeface="Arial"/>
                <a:cs typeface="Calibri"/>
                <a:sym typeface="Calibri"/>
              </a:rPr>
              <a:t> yourselves with using the GDPR reporting platform (</a:t>
            </a:r>
            <a:r>
              <a:rPr lang="en-US" sz="1800" b="1" i="0" u="none" strike="noStrike" cap="none" dirty="0" err="1">
                <a:solidFill>
                  <a:schemeClr val="accent2"/>
                </a:solidFill>
                <a:latin typeface="Calibri"/>
                <a:ea typeface="Arial"/>
                <a:cs typeface="Calibri"/>
                <a:sym typeface="Calibri"/>
              </a:rPr>
              <a:t>GDPRiS</a:t>
            </a:r>
            <a:r>
              <a:rPr lang="en-US" sz="1800" b="1" i="0" u="none" strike="noStrike" cap="none" dirty="0">
                <a:solidFill>
                  <a:schemeClr val="accent2"/>
                </a:solidFill>
                <a:latin typeface="Calibri"/>
                <a:ea typeface="Arial"/>
                <a:cs typeface="Calibri"/>
                <a:sym typeface="Calibri"/>
              </a:rPr>
              <a:t>) and reporting arrangements</a:t>
            </a:r>
          </a:p>
          <a:p>
            <a:pPr marL="285750" marR="0" lvl="0" indent="-285750" algn="l" rtl="0">
              <a:lnSpc>
                <a:spcPct val="100000"/>
              </a:lnSpc>
              <a:spcBef>
                <a:spcPts val="0"/>
              </a:spcBef>
              <a:spcAft>
                <a:spcPts val="0"/>
              </a:spcAft>
              <a:buClrTx/>
              <a:buSzPts val="1000"/>
              <a:buFont typeface="Wingdings" panose="05000000000000000000" pitchFamily="2" charset="2"/>
              <a:buChar char="§"/>
            </a:pPr>
            <a:r>
              <a:rPr lang="en-US" sz="1800" b="1" dirty="0">
                <a:solidFill>
                  <a:schemeClr val="accent2"/>
                </a:solidFill>
                <a:latin typeface="Calibri"/>
                <a:cs typeface="Calibri"/>
                <a:sym typeface="Calibri"/>
              </a:rPr>
              <a:t>Raising awareness in school and be advocates for data protection and best  practice in handling personal and sensitive data</a:t>
            </a:r>
            <a:endParaRPr lang="en-US" sz="1800" b="1" i="0" u="none" strike="noStrike" cap="none" dirty="0">
              <a:solidFill>
                <a:schemeClr val="accent2"/>
              </a:solidFill>
              <a:latin typeface="Calibri"/>
              <a:ea typeface="Arial"/>
              <a:cs typeface="Calibri"/>
              <a:sym typeface="Calibri"/>
            </a:endParaRPr>
          </a:p>
          <a:p>
            <a:pPr marL="285750" marR="0" lvl="0" indent="-285750" algn="l" rtl="0">
              <a:lnSpc>
                <a:spcPct val="100000"/>
              </a:lnSpc>
              <a:spcBef>
                <a:spcPts val="0"/>
              </a:spcBef>
              <a:spcAft>
                <a:spcPts val="0"/>
              </a:spcAft>
              <a:buClrTx/>
              <a:buSzPts val="1000"/>
              <a:buFont typeface="Wingdings" panose="05000000000000000000" pitchFamily="2" charset="2"/>
              <a:buChar char="§"/>
            </a:pPr>
            <a:r>
              <a:rPr lang="en-US" sz="1800" b="1" dirty="0">
                <a:solidFill>
                  <a:schemeClr val="accent2"/>
                </a:solidFill>
                <a:latin typeface="Calibri"/>
                <a:cs typeface="Calibri"/>
                <a:sym typeface="Calibri"/>
              </a:rPr>
              <a:t>We are here to support you: </a:t>
            </a:r>
            <a:r>
              <a:rPr lang="en-US" sz="1800" b="1" dirty="0" err="1">
                <a:solidFill>
                  <a:schemeClr val="accent2"/>
                </a:solidFill>
                <a:latin typeface="Calibri"/>
                <a:cs typeface="Calibri"/>
                <a:sym typeface="Calibri"/>
                <a:hlinkClick r:id="rId3">
                  <a:extLst>
                    <a:ext uri="{A12FA001-AC4F-418D-AE19-62706E023703}">
                      <ahyp:hlinkClr xmlns:ahyp="http://schemas.microsoft.com/office/drawing/2018/hyperlinkcolor" val="tx"/>
                    </a:ext>
                  </a:extLst>
                </a:hlinkClick>
              </a:rPr>
              <a:t>dpo@dataprotection.education</a:t>
            </a:r>
            <a:r>
              <a:rPr lang="en-US" sz="1800" b="1" dirty="0">
                <a:solidFill>
                  <a:schemeClr val="accent2"/>
                </a:solidFill>
                <a:latin typeface="Calibri"/>
                <a:cs typeface="Calibri"/>
                <a:sym typeface="Calibri"/>
              </a:rPr>
              <a:t> </a:t>
            </a:r>
          </a:p>
          <a:p>
            <a:pPr marR="0" lvl="0" algn="l" rtl="0">
              <a:lnSpc>
                <a:spcPct val="100000"/>
              </a:lnSpc>
              <a:spcBef>
                <a:spcPts val="0"/>
              </a:spcBef>
              <a:spcAft>
                <a:spcPts val="0"/>
              </a:spcAft>
              <a:buClr>
                <a:srgbClr val="A5A5A5"/>
              </a:buClr>
              <a:buSzPts val="1000"/>
            </a:pPr>
            <a:endParaRPr lang="en-US" sz="1800" b="1" i="0" u="none" strike="noStrike" cap="none" dirty="0">
              <a:solidFill>
                <a:schemeClr val="accent2"/>
              </a:solidFill>
              <a:latin typeface="Calibri"/>
              <a:ea typeface="Arial"/>
              <a:cs typeface="Calibri"/>
              <a:sym typeface="Calibri"/>
            </a:endParaRPr>
          </a:p>
        </p:txBody>
      </p:sp>
      <p:sp>
        <p:nvSpPr>
          <p:cNvPr id="3" name="Shape 290">
            <a:extLst>
              <a:ext uri="{FF2B5EF4-FFF2-40B4-BE49-F238E27FC236}">
                <a16:creationId xmlns:a16="http://schemas.microsoft.com/office/drawing/2014/main" id="{045696EF-45B1-4FC9-BC48-5E9C835354CA}"/>
              </a:ext>
            </a:extLst>
          </p:cNvPr>
          <p:cNvSpPr txBox="1"/>
          <p:nvPr/>
        </p:nvSpPr>
        <p:spPr>
          <a:xfrm>
            <a:off x="402912" y="233295"/>
            <a:ext cx="7342594" cy="80885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A5A5A5"/>
              </a:buClr>
              <a:buSzPts val="1000"/>
              <a:buFont typeface="Arial"/>
              <a:buNone/>
            </a:pPr>
            <a:r>
              <a:rPr lang="en-US" sz="4000" b="1" i="0" u="none" strike="noStrike" cap="none" dirty="0">
                <a:solidFill>
                  <a:schemeClr val="accent2"/>
                </a:solidFill>
                <a:latin typeface="Calibri"/>
                <a:ea typeface="Calibri"/>
                <a:cs typeface="Calibri"/>
                <a:sym typeface="Calibri"/>
              </a:rPr>
              <a:t>The role of core staff and champions – S</a:t>
            </a:r>
            <a:r>
              <a:rPr lang="en-US" sz="4000" b="1" dirty="0">
                <a:solidFill>
                  <a:schemeClr val="accent2"/>
                </a:solidFill>
                <a:latin typeface="Calibri"/>
                <a:ea typeface="Calibri"/>
                <a:cs typeface="Calibri"/>
                <a:sym typeface="Calibri"/>
              </a:rPr>
              <a:t>tep 1</a:t>
            </a:r>
            <a:r>
              <a:rPr lang="en-US" sz="4000" b="1" i="0" u="none" strike="noStrike" cap="none" dirty="0">
                <a:solidFill>
                  <a:schemeClr val="accent2"/>
                </a:solidFill>
                <a:latin typeface="Calibri"/>
                <a:ea typeface="Calibri"/>
                <a:cs typeface="Calibri"/>
                <a:sym typeface="Calibri"/>
              </a:rPr>
              <a:t>:</a:t>
            </a:r>
            <a:endParaRPr sz="1400" b="0" i="0" u="none" strike="noStrike" cap="none" dirty="0">
              <a:solidFill>
                <a:schemeClr val="accent2"/>
              </a:solidFill>
              <a:latin typeface="Arial"/>
              <a:ea typeface="Arial"/>
              <a:cs typeface="Arial"/>
              <a:sym typeface="Arial"/>
            </a:endParaRPr>
          </a:p>
        </p:txBody>
      </p:sp>
    </p:spTree>
    <p:extLst>
      <p:ext uri="{BB962C8B-B14F-4D97-AF65-F5344CB8AC3E}">
        <p14:creationId xmlns:p14="http://schemas.microsoft.com/office/powerpoint/2010/main" val="15795909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56;p24">
            <a:extLst>
              <a:ext uri="{FF2B5EF4-FFF2-40B4-BE49-F238E27FC236}">
                <a16:creationId xmlns:a16="http://schemas.microsoft.com/office/drawing/2014/main" id="{F4452F52-1AD1-4F75-A90C-BAB3CCCAE633}"/>
              </a:ext>
            </a:extLst>
          </p:cNvPr>
          <p:cNvSpPr txBox="1">
            <a:spLocks/>
          </p:cNvSpPr>
          <p:nvPr/>
        </p:nvSpPr>
        <p:spPr>
          <a:xfrm>
            <a:off x="342403" y="376113"/>
            <a:ext cx="5867566" cy="9939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4000" b="1" dirty="0">
                <a:solidFill>
                  <a:schemeClr val="accent2"/>
                </a:solidFill>
                <a:latin typeface="Calibri" panose="020F0502020204030204" pitchFamily="34" charset="0"/>
                <a:cs typeface="Calibri" panose="020F0502020204030204" pitchFamily="34" charset="0"/>
              </a:rPr>
              <a:t>Raising awareness across the Trust – step 2</a:t>
            </a:r>
          </a:p>
        </p:txBody>
      </p:sp>
      <p:sp>
        <p:nvSpPr>
          <p:cNvPr id="4" name="Text Placeholder 2">
            <a:extLst>
              <a:ext uri="{FF2B5EF4-FFF2-40B4-BE49-F238E27FC236}">
                <a16:creationId xmlns:a16="http://schemas.microsoft.com/office/drawing/2014/main" id="{C275DA98-E20E-42FB-94CF-3FEF5D15B78D}"/>
              </a:ext>
            </a:extLst>
          </p:cNvPr>
          <p:cNvSpPr txBox="1">
            <a:spLocks/>
          </p:cNvSpPr>
          <p:nvPr/>
        </p:nvSpPr>
        <p:spPr>
          <a:xfrm>
            <a:off x="628650" y="1370013"/>
            <a:ext cx="6766064" cy="3262312"/>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endParaRPr lang="en-US" sz="1600" dirty="0">
              <a:latin typeface="Calibri" panose="020F0502020204030204" pitchFamily="34" charset="0"/>
              <a:cs typeface="Calibri" panose="020F0502020204030204" pitchFamily="34" charset="0"/>
            </a:endParaRPr>
          </a:p>
          <a:p>
            <a:pPr marL="285750" indent="-285750">
              <a:buFont typeface="Wingdings" panose="05000000000000000000" pitchFamily="2" charset="2"/>
              <a:buChar char="§"/>
            </a:pPr>
            <a:r>
              <a:rPr lang="en-US" sz="1600" dirty="0">
                <a:solidFill>
                  <a:schemeClr val="accent2"/>
                </a:solidFill>
                <a:latin typeface="Calibri" panose="020F0502020204030204" pitchFamily="34" charset="0"/>
                <a:cs typeface="Calibri" panose="020F0502020204030204" pitchFamily="34" charset="0"/>
              </a:rPr>
              <a:t>Data protection training for all staff</a:t>
            </a:r>
          </a:p>
          <a:p>
            <a:pPr marL="285750" indent="-285750">
              <a:buFont typeface="Wingdings" panose="05000000000000000000" pitchFamily="2" charset="2"/>
              <a:buChar char="§"/>
            </a:pPr>
            <a:r>
              <a:rPr lang="en-US" sz="1600" dirty="0">
                <a:solidFill>
                  <a:schemeClr val="accent2"/>
                </a:solidFill>
                <a:latin typeface="Calibri" panose="020F0502020204030204" pitchFamily="34" charset="0"/>
                <a:cs typeface="Calibri" panose="020F0502020204030204" pitchFamily="34" charset="0"/>
              </a:rPr>
              <a:t>Disseminate the data breach procedure to all staff</a:t>
            </a:r>
          </a:p>
          <a:p>
            <a:pPr marL="285750" indent="-285750">
              <a:buFont typeface="Wingdings" panose="05000000000000000000" pitchFamily="2" charset="2"/>
              <a:buChar char="§"/>
            </a:pPr>
            <a:r>
              <a:rPr lang="en-US" sz="1600" dirty="0">
                <a:solidFill>
                  <a:schemeClr val="accent2"/>
                </a:solidFill>
                <a:latin typeface="Calibri" panose="020F0502020204030204" pitchFamily="34" charset="0"/>
                <a:cs typeface="Calibri" panose="020F0502020204030204" pitchFamily="34" charset="0"/>
              </a:rPr>
              <a:t>Disseminate the SAR procedure to key staff</a:t>
            </a:r>
          </a:p>
          <a:p>
            <a:pPr marL="285750" indent="-285750">
              <a:buFont typeface="Wingdings" panose="05000000000000000000" pitchFamily="2" charset="2"/>
              <a:buChar char="§"/>
            </a:pPr>
            <a:r>
              <a:rPr lang="en-US" sz="1600" dirty="0">
                <a:solidFill>
                  <a:schemeClr val="accent2"/>
                </a:solidFill>
                <a:latin typeface="Calibri" panose="020F0502020204030204" pitchFamily="34" charset="0"/>
                <a:cs typeface="Calibri" panose="020F0502020204030204" pitchFamily="34" charset="0"/>
              </a:rPr>
              <a:t>Use staff briefings and communication tools to continue to raise awareness, especially when issues have been identified </a:t>
            </a:r>
          </a:p>
          <a:p>
            <a:pPr marL="285750" indent="-285750">
              <a:buFont typeface="Wingdings" panose="05000000000000000000" pitchFamily="2" charset="2"/>
              <a:buChar char="§"/>
            </a:pPr>
            <a:r>
              <a:rPr lang="en-US" sz="1600" dirty="0">
                <a:solidFill>
                  <a:schemeClr val="accent2"/>
                </a:solidFill>
                <a:latin typeface="Calibri" panose="020F0502020204030204" pitchFamily="34" charset="0"/>
                <a:cs typeface="Calibri" panose="020F0502020204030204" pitchFamily="34" charset="0"/>
              </a:rPr>
              <a:t>Display DPE posters in schools</a:t>
            </a:r>
          </a:p>
          <a:p>
            <a:pPr marL="285750" indent="-285750">
              <a:buFont typeface="Wingdings" panose="05000000000000000000" pitchFamily="2" charset="2"/>
              <a:buChar char="§"/>
            </a:pPr>
            <a:r>
              <a:rPr lang="en-US" sz="1600" dirty="0">
                <a:solidFill>
                  <a:schemeClr val="accent2"/>
                </a:solidFill>
                <a:latin typeface="Calibri" panose="020F0502020204030204" pitchFamily="34" charset="0"/>
                <a:cs typeface="Calibri" panose="020F0502020204030204" pitchFamily="34" charset="0"/>
              </a:rPr>
              <a:t>Keep a record of data breaches and SAR requests in your school by logging these on your GDPR Platform (</a:t>
            </a:r>
            <a:r>
              <a:rPr lang="en-US" sz="1600" dirty="0" err="1">
                <a:solidFill>
                  <a:schemeClr val="accent2"/>
                </a:solidFill>
                <a:latin typeface="Calibri" panose="020F0502020204030204" pitchFamily="34" charset="0"/>
                <a:cs typeface="Calibri" panose="020F0502020204030204" pitchFamily="34" charset="0"/>
              </a:rPr>
              <a:t>GDPRiS</a:t>
            </a:r>
            <a:r>
              <a:rPr lang="en-US" sz="1600" dirty="0">
                <a:solidFill>
                  <a:schemeClr val="accent2"/>
                </a:solidFill>
                <a:latin typeface="Calibri" panose="020F0502020204030204" pitchFamily="34" charset="0"/>
                <a:cs typeface="Calibri" panose="020F0502020204030204" pitchFamily="34" charset="0"/>
              </a:rPr>
              <a:t>)</a:t>
            </a:r>
            <a:endParaRPr lang="en-US" sz="1600" dirty="0">
              <a:latin typeface="Calibri" panose="020F0502020204030204" pitchFamily="34" charset="0"/>
              <a:cs typeface="Calibri" panose="020F0502020204030204" pitchFamily="34" charset="0"/>
            </a:endParaRPr>
          </a:p>
          <a:p>
            <a:pPr marL="285750" indent="-285750">
              <a:buFont typeface="Wingdings" panose="05000000000000000000" pitchFamily="2" charset="2"/>
              <a:buChar char="§"/>
            </a:pPr>
            <a:r>
              <a:rPr lang="en-US" sz="1600" dirty="0">
                <a:solidFill>
                  <a:schemeClr val="accent2"/>
                </a:solidFill>
                <a:latin typeface="Calibri" panose="020F0502020204030204" pitchFamily="34" charset="0"/>
                <a:cs typeface="Calibri" panose="020F0502020204030204" pitchFamily="34" charset="0"/>
              </a:rPr>
              <a:t>If in doubt email: </a:t>
            </a:r>
            <a:r>
              <a:rPr lang="en-US" sz="1600" dirty="0" err="1">
                <a:solidFill>
                  <a:schemeClr val="accent2"/>
                </a:solidFill>
                <a:latin typeface="Calibri" panose="020F0502020204030204" pitchFamily="34" charset="0"/>
                <a:cs typeface="Calibri" panose="020F0502020204030204" pitchFamily="34" charset="0"/>
              </a:rPr>
              <a:t>dpo@dataprotection.education</a:t>
            </a:r>
            <a:r>
              <a:rPr lang="en-US" sz="1600" dirty="0">
                <a:solidFill>
                  <a:schemeClr val="accent2"/>
                </a:solidFill>
                <a:latin typeface="Calibri" panose="020F0502020204030204" pitchFamily="34" charset="0"/>
                <a:cs typeface="Calibri" panose="020F0502020204030204" pitchFamily="34" charset="0"/>
              </a:rPr>
              <a:t> </a:t>
            </a:r>
          </a:p>
          <a:p>
            <a:pPr marL="285750" indent="-285750">
              <a:buFont typeface="Wingdings" panose="05000000000000000000" pitchFamily="2" charset="2"/>
              <a:buChar char="§"/>
            </a:pPr>
            <a:r>
              <a:rPr lang="en-US" sz="1600" dirty="0">
                <a:solidFill>
                  <a:schemeClr val="accent2"/>
                </a:solidFill>
                <a:latin typeface="Calibri" panose="020F0502020204030204" pitchFamily="34" charset="0"/>
                <a:cs typeface="Calibri" panose="020F0502020204030204" pitchFamily="34" charset="0"/>
              </a:rPr>
              <a:t>Never ignore!</a:t>
            </a:r>
          </a:p>
          <a:p>
            <a:r>
              <a:rPr lang="en-US" dirty="0"/>
              <a:t> </a:t>
            </a:r>
          </a:p>
          <a:p>
            <a:endParaRPr lang="en-GB" dirty="0"/>
          </a:p>
          <a:p>
            <a:endParaRPr lang="en-US" dirty="0"/>
          </a:p>
        </p:txBody>
      </p:sp>
    </p:spTree>
    <p:extLst>
      <p:ext uri="{BB962C8B-B14F-4D97-AF65-F5344CB8AC3E}">
        <p14:creationId xmlns:p14="http://schemas.microsoft.com/office/powerpoint/2010/main" val="37817501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pic>
        <p:nvPicPr>
          <p:cNvPr id="313" name="Shape 313"/>
          <p:cNvPicPr preferRelativeResize="0"/>
          <p:nvPr/>
        </p:nvPicPr>
        <p:blipFill rotWithShape="1">
          <a:blip r:embed="rId3">
            <a:alphaModFix/>
          </a:blip>
          <a:srcRect/>
          <a:stretch/>
        </p:blipFill>
        <p:spPr>
          <a:xfrm rot="1720739">
            <a:off x="5482341" y="571873"/>
            <a:ext cx="3985045" cy="4236405"/>
          </a:xfrm>
          <a:prstGeom prst="rect">
            <a:avLst/>
          </a:prstGeom>
          <a:noFill/>
          <a:ln>
            <a:noFill/>
          </a:ln>
        </p:spPr>
      </p:pic>
      <p:sp>
        <p:nvSpPr>
          <p:cNvPr id="314" name="Shape 314"/>
          <p:cNvSpPr txBox="1"/>
          <p:nvPr/>
        </p:nvSpPr>
        <p:spPr>
          <a:xfrm>
            <a:off x="1004575" y="4212709"/>
            <a:ext cx="5528400" cy="500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accent1"/>
              </a:buClr>
              <a:buSzPts val="500"/>
              <a:buFont typeface="Arial"/>
              <a:buNone/>
            </a:pPr>
            <a:endParaRPr sz="2000" b="0" i="0" u="none" strike="noStrike" cap="none">
              <a:solidFill>
                <a:schemeClr val="accent1"/>
              </a:solidFill>
              <a:latin typeface="Arial"/>
              <a:ea typeface="Arial"/>
              <a:cs typeface="Arial"/>
              <a:sym typeface="Arial"/>
            </a:endParaRPr>
          </a:p>
        </p:txBody>
      </p:sp>
      <p:sp>
        <p:nvSpPr>
          <p:cNvPr id="315" name="Shape 315"/>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dk1"/>
              </a:buClr>
              <a:buSzPts val="4400"/>
              <a:buFont typeface="Calibri"/>
              <a:buNone/>
            </a:pPr>
            <a:r>
              <a:rPr lang="en-US" sz="4400" b="1" i="0" u="none" strike="noStrike" cap="none" dirty="0">
                <a:solidFill>
                  <a:schemeClr val="accent2"/>
                </a:solidFill>
                <a:latin typeface="Calibri"/>
                <a:ea typeface="Calibri"/>
                <a:cs typeface="Calibri"/>
                <a:sym typeface="Calibri"/>
              </a:rPr>
              <a:t>Questions?</a:t>
            </a:r>
          </a:p>
        </p:txBody>
      </p:sp>
      <p:sp>
        <p:nvSpPr>
          <p:cNvPr id="316" name="Shape 316"/>
          <p:cNvSpPr txBox="1">
            <a:spLocks noGrp="1"/>
          </p:cNvSpPr>
          <p:nvPr>
            <p:ph type="body" orient="vert" idx="1"/>
          </p:nvPr>
        </p:nvSpPr>
        <p:spPr>
          <a:xfrm rot="16200000">
            <a:off x="2280769" y="-971319"/>
            <a:ext cx="2031557" cy="4888594"/>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2800"/>
              <a:buFont typeface="Arial"/>
              <a:buNone/>
            </a:pPr>
            <a:endParaRPr lang="en-GB" sz="2800" b="0" i="0" u="none" strike="noStrike" cap="none" dirty="0">
              <a:solidFill>
                <a:schemeClr val="dk1"/>
              </a:solidFill>
              <a:latin typeface="Calibri"/>
              <a:ea typeface="Calibri"/>
              <a:cs typeface="Calibri"/>
              <a:sym typeface="Calibri"/>
            </a:endParaRPr>
          </a:p>
          <a:p>
            <a:pPr marL="0" marR="0" lvl="0" indent="0" algn="l" rtl="0">
              <a:lnSpc>
                <a:spcPct val="90000"/>
              </a:lnSpc>
              <a:spcBef>
                <a:spcPts val="1000"/>
              </a:spcBef>
              <a:spcAft>
                <a:spcPts val="0"/>
              </a:spcAft>
              <a:buClr>
                <a:schemeClr val="dk1"/>
              </a:buClr>
              <a:buSzPts val="2800"/>
              <a:buFont typeface="Arial"/>
              <a:buNone/>
            </a:pPr>
            <a:endParaRPr lang="en-GB" sz="2800" b="0" i="0" u="none" strike="noStrike" cap="none" dirty="0">
              <a:solidFill>
                <a:schemeClr val="dk1"/>
              </a:solidFill>
              <a:latin typeface="Calibri"/>
              <a:ea typeface="Calibri"/>
              <a:cs typeface="Calibri"/>
              <a:sym typeface="Calibri"/>
            </a:endParaRPr>
          </a:p>
          <a:p>
            <a:pPr marL="0" marR="0" lvl="0" indent="0" algn="l" rtl="0">
              <a:lnSpc>
                <a:spcPct val="90000"/>
              </a:lnSpc>
              <a:spcBef>
                <a:spcPts val="1000"/>
              </a:spcBef>
              <a:spcAft>
                <a:spcPts val="0"/>
              </a:spcAft>
              <a:buClr>
                <a:schemeClr val="dk1"/>
              </a:buClr>
              <a:buSzPts val="2800"/>
              <a:buFont typeface="Arial"/>
              <a:buNone/>
            </a:pPr>
            <a:r>
              <a:rPr lang="en-GB" sz="2800" b="0" i="0" u="sng" strike="noStrike" cap="none" dirty="0" err="1">
                <a:solidFill>
                  <a:schemeClr val="hlink"/>
                </a:solidFill>
                <a:latin typeface="Calibri"/>
                <a:ea typeface="Calibri"/>
                <a:cs typeface="Calibri"/>
                <a:sym typeface="Calibri"/>
                <a:hlinkClick r:id="rId4"/>
              </a:rPr>
              <a:t>DPO@dataprotection.education</a:t>
            </a:r>
            <a:endParaRPr lang="en-GB" sz="2800" b="0" i="0" u="none" strike="noStrike" cap="none" dirty="0">
              <a:solidFill>
                <a:schemeClr val="dk1"/>
              </a:solidFill>
              <a:latin typeface="Calibri"/>
              <a:ea typeface="Calibri"/>
              <a:cs typeface="Calibri"/>
              <a:sym typeface="Calibri"/>
            </a:endParaRPr>
          </a:p>
          <a:p>
            <a:pPr marL="0" marR="0" lvl="0" indent="0" algn="l" rtl="0">
              <a:lnSpc>
                <a:spcPct val="90000"/>
              </a:lnSpc>
              <a:spcBef>
                <a:spcPts val="1000"/>
              </a:spcBef>
              <a:spcAft>
                <a:spcPts val="0"/>
              </a:spcAft>
              <a:buClr>
                <a:schemeClr val="dk1"/>
              </a:buClr>
              <a:buSzPts val="2800"/>
              <a:buFont typeface="Arial"/>
              <a:buNone/>
            </a:pPr>
            <a:r>
              <a:rPr lang="en-US" sz="2800" b="0" i="0" u="none" strike="noStrike" cap="none" dirty="0">
                <a:solidFill>
                  <a:schemeClr val="dk1"/>
                </a:solidFill>
                <a:latin typeface="Calibri"/>
                <a:ea typeface="Calibri"/>
                <a:cs typeface="Calibri"/>
                <a:sym typeface="Calibri"/>
              </a:rPr>
              <a:t>Tel: 0800 0862018</a:t>
            </a:r>
            <a:endParaRPr sz="2800" b="0" i="0" u="none" strike="noStrike" cap="none" dirty="0">
              <a:solidFill>
                <a:schemeClr val="dk1"/>
              </a:solidFill>
              <a:latin typeface="Calibri"/>
              <a:ea typeface="Calibri"/>
              <a:cs typeface="Calibri"/>
              <a:sym typeface="Calibri"/>
            </a:endParaRPr>
          </a:p>
          <a:p>
            <a:pPr marL="228600" marR="0" lvl="0" indent="-50800" algn="l" rtl="0">
              <a:lnSpc>
                <a:spcPct val="90000"/>
              </a:lnSpc>
              <a:spcBef>
                <a:spcPts val="1000"/>
              </a:spcBef>
              <a:spcAft>
                <a:spcPts val="0"/>
              </a:spcAft>
              <a:buClr>
                <a:schemeClr val="dk1"/>
              </a:buClr>
              <a:buSzPts val="2800"/>
              <a:buFont typeface="Arial"/>
              <a:buNone/>
            </a:pPr>
            <a:endParaRPr sz="2800" b="0" i="0" u="none" strike="noStrike" cap="none" dirty="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DFA22037F73794AB6500306DA8D6B3B" ma:contentTypeVersion="10" ma:contentTypeDescription="Create a new document." ma:contentTypeScope="" ma:versionID="8668992dded1fc18558f9b756639fc79">
  <xsd:schema xmlns:xsd="http://www.w3.org/2001/XMLSchema" xmlns:xs="http://www.w3.org/2001/XMLSchema" xmlns:p="http://schemas.microsoft.com/office/2006/metadata/properties" xmlns:ns3="b4925c23-3bd3-4966-a133-43795ac9129c" targetNamespace="http://schemas.microsoft.com/office/2006/metadata/properties" ma:root="true" ma:fieldsID="c7a216b5754af507604afad43f68ecd1" ns3:_="">
    <xsd:import namespace="b4925c23-3bd3-4966-a133-43795ac9129c"/>
    <xsd:element name="properties">
      <xsd:complexType>
        <xsd:sequence>
          <xsd:element name="documentManagement">
            <xsd:complexType>
              <xsd:all>
                <xsd:element ref="ns3:MediaServiceMetadata" minOccurs="0"/>
                <xsd:element ref="ns3:MediaServiceFastMetadata" minOccurs="0"/>
                <xsd:element ref="ns3:MediaServiceDateTaken" minOccurs="0"/>
                <xsd:element ref="ns3:MediaServiceAutoTags" minOccurs="0"/>
                <xsd:element ref="ns3:MediaServiceLocation" minOccurs="0"/>
                <xsd:element ref="ns3:MediaServiceOCR" minOccurs="0"/>
                <xsd:element ref="ns3:MediaServiceGenerationTime" minOccurs="0"/>
                <xsd:element ref="ns3:MediaServiceEventHashCode"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4925c23-3bd3-4966-a133-43795ac9129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Location" ma:index="12" nillable="true" ma:displayName="Location" ma:internalName="MediaServiceLocation"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A2E3CB7-D696-4473-8BD6-D499D4C9A9D2}">
  <ds:schemaRefs>
    <ds:schemaRef ds:uri="b4925c23-3bd3-4966-a133-43795ac9129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6D7776AA-3301-4098-9B36-24998ACCC1B4}">
  <ds:schemaRefs>
    <ds:schemaRef ds:uri="b4925c23-3bd3-4966-a133-43795ac9129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22490200-7311-407E-B341-D36FAC78FC8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1991</TotalTime>
  <Words>3000</Words>
  <Application>Microsoft Office PowerPoint</Application>
  <PresentationFormat>On-screen Show (16:9)</PresentationFormat>
  <Paragraphs>298</Paragraphs>
  <Slides>25</Slides>
  <Notes>24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25</vt:i4>
      </vt:variant>
    </vt:vector>
  </HeadingPairs>
  <TitlesOfParts>
    <vt:vector size="35" baseType="lpstr">
      <vt:lpstr>Wingdings 3</vt:lpstr>
      <vt:lpstr>Arial</vt:lpstr>
      <vt:lpstr>Verdana</vt:lpstr>
      <vt:lpstr>Calibri</vt:lpstr>
      <vt:lpstr>Trebuchet MS</vt:lpstr>
      <vt:lpstr>Wingdings</vt:lpstr>
      <vt:lpstr>ReithSans</vt:lpstr>
      <vt:lpstr>Roboto</vt:lpstr>
      <vt:lpstr>Arial</vt:lpstr>
      <vt:lpstr>Facet</vt:lpstr>
      <vt:lpstr>PowerPoint Presentation</vt:lpstr>
      <vt:lpstr>Agenda  Data Protection Education (DPE)  as your DPO  Part 1: Overview of GDPR including key terminology and best practice  Part 2: DPE and the champions/core team </vt:lpstr>
      <vt:lpstr>PowerPoint Presentation</vt:lpstr>
      <vt:lpstr>GDPR – How many of these terms are you already familiar with?</vt:lpstr>
      <vt:lpstr>So how secure is data in your school?</vt:lpstr>
      <vt:lpstr>Let’s spot some issues in this typical office…</vt:lpstr>
      <vt:lpstr>Why do we care?</vt:lpstr>
      <vt:lpstr>There is a lot of sensitive data in schools</vt:lpstr>
      <vt:lpstr>PowerPoint Presentation</vt:lpstr>
      <vt:lpstr>Preparing for Compliance</vt:lpstr>
      <vt:lpstr>Reasons to process data</vt:lpstr>
      <vt:lpstr>Preparing for Compliance</vt:lpstr>
      <vt:lpstr>PowerPoint Presentation</vt:lpstr>
      <vt:lpstr>Employees and data users are typically the most common cause of data breaches.   Personal data is any information relating to an identified or identifiable natural person (data subject), either directly or indirectly.  </vt:lpstr>
      <vt:lpstr>PowerPoint Presentation</vt:lpstr>
      <vt:lpstr>PowerPoint Presentation</vt:lpstr>
      <vt:lpstr>  Type of data breaches reported to DPE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Stuart Lee</dc:creator>
  <cp:lastModifiedBy>Lindsey Smith</cp:lastModifiedBy>
  <cp:revision>31</cp:revision>
  <dcterms:modified xsi:type="dcterms:W3CDTF">2021-12-13T15:08:56Z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0x0101004DFA22037F73794AB6500306DA8D6B3B</vt:lpwstr>
  </property>
</Properties>
</file>